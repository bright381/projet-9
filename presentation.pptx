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266" r:id="rId4"/>
    <p:sldId id="257" r:id="rId5"/>
    <p:sldId id="267" r:id="rId6"/>
    <p:sldId id="269" r:id="rId7"/>
    <p:sldId id="259" r:id="rId8"/>
    <p:sldId id="262" r:id="rId9"/>
    <p:sldId id="268" r:id="rId10"/>
    <p:sldId id="270" r:id="rId11"/>
    <p:sldId id="258" r:id="rId12"/>
    <p:sldId id="260" r:id="rId13"/>
    <p:sldId id="271" r:id="rId14"/>
    <p:sldId id="276" r:id="rId15"/>
    <p:sldId id="272" r:id="rId16"/>
    <p:sldId id="273" r:id="rId17"/>
    <p:sldId id="274" r:id="rId18"/>
    <p:sldId id="277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8C8553-5F51-DD92-5AA8-E35440A5B836}" name="BRIGHT Rémy" initials="RB" userId="S::remy.bright@biomerieux.com::c26b6209-39fd-4992-98a0-dcf095488c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17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Pandas UDF : </a:t>
            </a:r>
            <a:r>
              <a:rPr dirty="0" err="1"/>
              <a:t>évite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inférence</a:t>
            </a:r>
            <a:r>
              <a:rPr dirty="0"/>
              <a:t> image par image et </a:t>
            </a:r>
            <a:r>
              <a:rPr dirty="0" err="1"/>
              <a:t>exploite</a:t>
            </a:r>
            <a:r>
              <a:rPr dirty="0"/>
              <a:t> la </a:t>
            </a:r>
            <a:r>
              <a:rPr dirty="0" err="1"/>
              <a:t>vectorisation</a:t>
            </a:r>
            <a:r>
              <a:rPr dirty="0"/>
              <a:t> </a:t>
            </a:r>
            <a:r>
              <a:rPr dirty="0" err="1"/>
              <a:t>côté</a:t>
            </a:r>
            <a:r>
              <a:rPr dirty="0"/>
              <a:t>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2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accent">
            <a:extLst>
              <a:ext uri="{FF2B5EF4-FFF2-40B4-BE49-F238E27FC236}">
                <a16:creationId xmlns:a16="http://schemas.microsoft.com/office/drawing/2014/main" id="{D8B28C68-1C11-4630-9360-0BF56773DA4B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114300" cy="443865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D71B28CB-80C0-4964-8727-10DB6CCDC647}"/>
              </a:ext>
            </a:extLst>
          </p:cNvPr>
          <p:cNvSpPr>
            <a:spLocks noGrp="1"/>
          </p:cNvSpPr>
          <p:nvPr/>
        </p:nvSpPr>
        <p:spPr>
          <a:xfrm>
            <a:off x="1066800" y="9906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PROJET DATA SCIENTIST · OPENCLASSROOMS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BC499C29-3A53-4FC8-AD27-45F616F58B0A}"/>
              </a:ext>
            </a:extLst>
          </p:cNvPr>
          <p:cNvSpPr>
            <a:spLocks noGrp="1"/>
          </p:cNvSpPr>
          <p:nvPr/>
        </p:nvSpPr>
        <p:spPr>
          <a:xfrm>
            <a:off x="1066800" y="1676400"/>
            <a:ext cx="685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Big Data</a:t>
            </a:r>
          </a:p>
          <a:p>
            <a:pPr algn="l">
              <a:def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sur le Cloud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73FB0F5F-AC69-44DB-960E-B1C524DF3696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Du prototype local au traitement </a:t>
            </a:r>
            <a:r>
              <a:rPr sz="1875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distribué</a:t>
            </a:r>
            <a:r>
              <a:rPr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875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sur AWS</a:t>
            </a:r>
            <a:endParaRPr sz="1875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ver-tech">
            <a:extLst>
              <a:ext uri="{FF2B5EF4-FFF2-40B4-BE49-F238E27FC236}">
                <a16:creationId xmlns:a16="http://schemas.microsoft.com/office/drawing/2014/main" id="{07440646-0097-43C0-9F3A-C695DCF9D05D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Spark  ·  AWS EMR  ·  S3  ·  MobileNetV2  ·  PCA</a:t>
            </a:r>
          </a:p>
        </p:txBody>
      </p:sp>
      <p:sp>
        <p:nvSpPr>
          <p:cNvPr id="6" name="cover-orbit">
            <a:extLst>
              <a:ext uri="{FF2B5EF4-FFF2-40B4-BE49-F238E27FC236}">
                <a16:creationId xmlns:a16="http://schemas.microsoft.com/office/drawing/2014/main" id="{76C2CB0B-01AE-457A-9898-ED3CC6CBC1D3}"/>
              </a:ext>
            </a:extLst>
          </p:cNvPr>
          <p:cNvSpPr>
            <a:spLocks noGrp="1"/>
          </p:cNvSpPr>
          <p:nvPr/>
        </p:nvSpPr>
        <p:spPr>
          <a:xfrm>
            <a:off x="8858250" y="1352550"/>
            <a:ext cx="2190750" cy="2190750"/>
          </a:xfrm>
          <a:prstGeom prst="ellipse">
            <a:avLst/>
          </a:prstGeom>
          <a:noFill/>
          <a:ln w="17145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cover-core">
            <a:extLst>
              <a:ext uri="{FF2B5EF4-FFF2-40B4-BE49-F238E27FC236}">
                <a16:creationId xmlns:a16="http://schemas.microsoft.com/office/drawing/2014/main" id="{DA6326CE-7C6E-44EC-B30C-F88C06E28E5A}"/>
              </a:ext>
            </a:extLst>
          </p:cNvPr>
          <p:cNvSpPr>
            <a:spLocks noGrp="1"/>
          </p:cNvSpPr>
          <p:nvPr/>
        </p:nvSpPr>
        <p:spPr>
          <a:xfrm>
            <a:off x="9477375" y="1971675"/>
            <a:ext cx="952500" cy="952500"/>
          </a:xfrm>
          <a:prstGeom prst="ellipse">
            <a:avLst/>
          </a:prstGeom>
          <a:solidFill>
            <a:srgbClr val="0C4A5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over-orange-square">
            <a:extLst>
              <a:ext uri="{FF2B5EF4-FFF2-40B4-BE49-F238E27FC236}">
                <a16:creationId xmlns:a16="http://schemas.microsoft.com/office/drawing/2014/main" id="{D4CD4206-CCD8-4A78-BF74-AA724F48925C}"/>
              </a:ext>
            </a:extLst>
          </p:cNvPr>
          <p:cNvSpPr>
            <a:spLocks noGrp="1"/>
          </p:cNvSpPr>
          <p:nvPr/>
        </p:nvSpPr>
        <p:spPr>
          <a:xfrm>
            <a:off x="10744200" y="3590925"/>
            <a:ext cx="228600" cy="2286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cover-year">
            <a:extLst>
              <a:ext uri="{FF2B5EF4-FFF2-40B4-BE49-F238E27FC236}">
                <a16:creationId xmlns:a16="http://schemas.microsoft.com/office/drawing/2014/main" id="{DE0CB8C0-195B-4E41-9ECE-41C67ED404A1}"/>
              </a:ext>
            </a:extLst>
          </p:cNvPr>
          <p:cNvSpPr>
            <a:spLocks noGrp="1"/>
          </p:cNvSpPr>
          <p:nvPr/>
        </p:nvSpPr>
        <p:spPr>
          <a:xfrm>
            <a:off x="10820400" y="615315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74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9499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Plan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8" name="agenda-num-0"/>
          <p:cNvSpPr txBox="1"/>
          <p:nvPr/>
        </p:nvSpPr>
        <p:spPr>
          <a:xfrm>
            <a:off x="685800" y="224790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9" name="agenda-head-0"/>
          <p:cNvSpPr txBox="1"/>
          <p:nvPr/>
        </p:nvSpPr>
        <p:spPr>
          <a:xfrm>
            <a:off x="1866899" y="2266950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"/>
              </a:rPr>
              <a:t>Introduction et problématique</a:t>
            </a:r>
          </a:p>
        </p:txBody>
      </p:sp>
      <p:sp>
        <p:nvSpPr>
          <p:cNvPr id="10" name="agenda-body-0"/>
          <p:cNvSpPr txBox="1"/>
          <p:nvPr/>
        </p:nvSpPr>
        <p:spPr>
          <a:xfrm>
            <a:off x="1866899" y="265747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400" b="0" dirty="0">
                <a:solidFill>
                  <a:srgbClr val="17323A"/>
                </a:solidFill>
                <a:latin typeface="Aptos"/>
              </a:rPr>
              <a:t>Contexte et contraintes</a:t>
            </a:r>
            <a:endParaRPr sz="140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11" name="agenda-rule-0"/>
          <p:cNvSpPr/>
          <p:nvPr/>
        </p:nvSpPr>
        <p:spPr>
          <a:xfrm>
            <a:off x="1866899" y="3190875"/>
            <a:ext cx="885825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genda-num-1"/>
          <p:cNvSpPr txBox="1"/>
          <p:nvPr/>
        </p:nvSpPr>
        <p:spPr>
          <a:xfrm>
            <a:off x="685800" y="337185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13" name="agenda-head-1"/>
          <p:cNvSpPr txBox="1"/>
          <p:nvPr/>
        </p:nvSpPr>
        <p:spPr>
          <a:xfrm>
            <a:off x="1866899" y="3390900"/>
            <a:ext cx="4095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"/>
              </a:rPr>
              <a:t>Choix techniques et architecture</a:t>
            </a:r>
          </a:p>
        </p:txBody>
      </p:sp>
      <p:sp>
        <p:nvSpPr>
          <p:cNvPr id="14" name="agenda-body-1"/>
          <p:cNvSpPr txBox="1"/>
          <p:nvPr/>
        </p:nvSpPr>
        <p:spPr>
          <a:xfrm>
            <a:off x="1866899" y="378142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17323A"/>
                </a:solidFill>
                <a:latin typeface="Aptos"/>
              </a:rPr>
              <a:t>Spark, S3 et EMR.</a:t>
            </a:r>
          </a:p>
        </p:txBody>
      </p:sp>
      <p:sp>
        <p:nvSpPr>
          <p:cNvPr id="15" name="agenda-rule-1"/>
          <p:cNvSpPr/>
          <p:nvPr/>
        </p:nvSpPr>
        <p:spPr>
          <a:xfrm>
            <a:off x="1866899" y="4314825"/>
            <a:ext cx="885825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da-num-2"/>
          <p:cNvSpPr txBox="1"/>
          <p:nvPr/>
        </p:nvSpPr>
        <p:spPr>
          <a:xfrm>
            <a:off x="685800" y="4495800"/>
            <a:ext cx="895350" cy="55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17" name="agenda-head-2"/>
          <p:cNvSpPr txBox="1"/>
          <p:nvPr/>
        </p:nvSpPr>
        <p:spPr>
          <a:xfrm>
            <a:off x="1866898" y="4514850"/>
            <a:ext cx="589185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 dirty="0" err="1">
                <a:solidFill>
                  <a:srgbClr val="0C4A52"/>
                </a:solidFill>
                <a:latin typeface="Aptos"/>
              </a:rPr>
              <a:t>Réalisation</a:t>
            </a:r>
            <a:r>
              <a:rPr lang="fr-FR" sz="1900" b="1" dirty="0">
                <a:solidFill>
                  <a:srgbClr val="0C4A52"/>
                </a:solidFill>
                <a:latin typeface="Aptos"/>
              </a:rPr>
              <a:t> et déploiement</a:t>
            </a:r>
            <a:r>
              <a:rPr sz="1900" b="1" dirty="0">
                <a:solidFill>
                  <a:srgbClr val="0C4A52"/>
                </a:solidFill>
                <a:latin typeface="Aptos"/>
              </a:rPr>
              <a:t> de la pipeline</a:t>
            </a:r>
          </a:p>
        </p:txBody>
      </p:sp>
      <p:sp>
        <p:nvSpPr>
          <p:cNvPr id="18" name="agenda-body-2"/>
          <p:cNvSpPr txBox="1"/>
          <p:nvPr/>
        </p:nvSpPr>
        <p:spPr>
          <a:xfrm>
            <a:off x="1866899" y="4905375"/>
            <a:ext cx="8096249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400" b="0" dirty="0">
                <a:solidFill>
                  <a:srgbClr val="17323A"/>
                </a:solidFill>
                <a:latin typeface="Aptos"/>
              </a:rPr>
              <a:t>En 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local, </a:t>
            </a:r>
            <a:r>
              <a:rPr sz="1400" b="0" dirty="0" err="1">
                <a:solidFill>
                  <a:srgbClr val="17323A"/>
                </a:solidFill>
                <a:latin typeface="Aptos"/>
              </a:rPr>
              <a:t>puis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 sur 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1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01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Introduction et rappel
de la problématique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Aptos"/>
              </a:rPr>
              <a:t>Contexte et contraintes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E76B735A-428A-4FDB-8FB5-F1C76AB9197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1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PROBLÉMATIQUE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695D4FF1-3648-440E-B3BB-4A905859F33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Traitement de gros volumes de données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ADCD0469-10EC-400F-839E-536373E235C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context-intro">
            <a:extLst>
              <a:ext uri="{FF2B5EF4-FFF2-40B4-BE49-F238E27FC236}">
                <a16:creationId xmlns:a16="http://schemas.microsoft.com/office/drawing/2014/main" id="{BAFDDD01-BB99-4C49-87BE-2E2149D541EA}"/>
              </a:ext>
            </a:extLst>
          </p:cNvPr>
          <p:cNvSpPr>
            <a:spLocks noGrp="1"/>
          </p:cNvSpPr>
          <p:nvPr/>
        </p:nvSpPr>
        <p:spPr>
          <a:xfrm>
            <a:off x="685800" y="1840229"/>
            <a:ext cx="5857875" cy="1777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Le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scénario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Fruits! part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d’une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idée simple : identifier des fruits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depuis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une</a:t>
            </a:r>
            <a:r>
              <a:rPr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image</a:t>
            </a:r>
            <a:r>
              <a:rPr lang="fr-FR" sz="180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via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un modèle de machine </a:t>
            </a:r>
            <a:r>
              <a:rPr lang="fr-FR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learning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endParaRPr lang="fr-FR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Notre objectif ici est de mettre en place sur le cloud une pipeline de </a:t>
            </a:r>
            <a:r>
              <a:rPr lang="fr-FR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preprocessing</a:t>
            </a:r>
            <a:r>
              <a:rPr lang="fr-FR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de données, qui servira pour l’entraînement du modèle.</a:t>
            </a:r>
            <a:endParaRPr sz="1800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ntext-divider">
            <a:extLst>
              <a:ext uri="{FF2B5EF4-FFF2-40B4-BE49-F238E27FC236}">
                <a16:creationId xmlns:a16="http://schemas.microsoft.com/office/drawing/2014/main" id="{DAA05C7D-3EB8-47D9-88B8-E9F1F65630F7}"/>
              </a:ext>
            </a:extLst>
          </p:cNvPr>
          <p:cNvSpPr>
            <a:spLocks noGrp="1"/>
          </p:cNvSpPr>
          <p:nvPr/>
        </p:nvSpPr>
        <p:spPr>
          <a:xfrm>
            <a:off x="6858000" y="1924050"/>
            <a:ext cx="19050" cy="3695700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prototype-label">
            <a:extLst>
              <a:ext uri="{FF2B5EF4-FFF2-40B4-BE49-F238E27FC236}">
                <a16:creationId xmlns:a16="http://schemas.microsoft.com/office/drawing/2014/main" id="{24540E8E-1995-4397-9542-07040707764D}"/>
              </a:ext>
            </a:extLst>
          </p:cNvPr>
          <p:cNvSpPr>
            <a:spLocks noGrp="1"/>
          </p:cNvSpPr>
          <p:nvPr/>
        </p:nvSpPr>
        <p:spPr>
          <a:xfrm>
            <a:off x="7330440" y="4971957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Une Version LOCALE</a:t>
            </a:r>
            <a:endParaRPr sz="1200" b="1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volume-label">
            <a:extLst>
              <a:ext uri="{FF2B5EF4-FFF2-40B4-BE49-F238E27FC236}">
                <a16:creationId xmlns:a16="http://schemas.microsoft.com/office/drawing/2014/main" id="{B3F5CF4B-37BD-4A7B-B0B3-366A2403CAF8}"/>
              </a:ext>
            </a:extLst>
          </p:cNvPr>
          <p:cNvSpPr>
            <a:spLocks noGrp="1"/>
          </p:cNvSpPr>
          <p:nvPr/>
        </p:nvSpPr>
        <p:spPr>
          <a:xfrm>
            <a:off x="7330440" y="5791583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Une version</a:t>
            </a:r>
            <a:r>
              <a:rPr sz="120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 CLOUD</a:t>
            </a:r>
          </a:p>
        </p:txBody>
      </p:sp>
      <p:sp>
        <p:nvSpPr>
          <p:cNvPr id="10" name="volume-word">
            <a:extLst>
              <a:ext uri="{FF2B5EF4-FFF2-40B4-BE49-F238E27FC236}">
                <a16:creationId xmlns:a16="http://schemas.microsoft.com/office/drawing/2014/main" id="{66B390E0-02CF-4075-975B-6401A8B1841E}"/>
              </a:ext>
            </a:extLst>
          </p:cNvPr>
          <p:cNvSpPr>
            <a:spLocks noGrp="1"/>
          </p:cNvSpPr>
          <p:nvPr/>
        </p:nvSpPr>
        <p:spPr>
          <a:xfrm>
            <a:off x="7295197" y="1751948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25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Contraintes</a:t>
            </a:r>
            <a:endParaRPr sz="225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ctx1-mark">
            <a:extLst>
              <a:ext uri="{FF2B5EF4-FFF2-40B4-BE49-F238E27FC236}">
                <a16:creationId xmlns:a16="http://schemas.microsoft.com/office/drawing/2014/main" id="{F37B8BA6-3AC5-4E53-B1E4-24C10565E316}"/>
              </a:ext>
            </a:extLst>
          </p:cNvPr>
          <p:cNvSpPr>
            <a:spLocks noGrp="1"/>
          </p:cNvSpPr>
          <p:nvPr/>
        </p:nvSpPr>
        <p:spPr>
          <a:xfrm>
            <a:off x="838200" y="4136615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ctx1-lead">
            <a:extLst>
              <a:ext uri="{FF2B5EF4-FFF2-40B4-BE49-F238E27FC236}">
                <a16:creationId xmlns:a16="http://schemas.microsoft.com/office/drawing/2014/main" id="{80A79BFF-92B9-4A55-91F3-18C781E16656}"/>
              </a:ext>
            </a:extLst>
          </p:cNvPr>
          <p:cNvSpPr>
            <a:spLocks noGrp="1"/>
          </p:cNvSpPr>
          <p:nvPr/>
        </p:nvSpPr>
        <p:spPr>
          <a:xfrm>
            <a:off x="1066800" y="4001360"/>
            <a:ext cx="520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Choix d’une architecture Cloud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ctx1-body">
            <a:extLst>
              <a:ext uri="{FF2B5EF4-FFF2-40B4-BE49-F238E27FC236}">
                <a16:creationId xmlns:a16="http://schemas.microsoft.com/office/drawing/2014/main" id="{F251447E-03DB-49E2-B937-52189165DD26}"/>
              </a:ext>
            </a:extLst>
          </p:cNvPr>
          <p:cNvSpPr>
            <a:spLocks noGrp="1"/>
          </p:cNvSpPr>
          <p:nvPr/>
        </p:nvSpPr>
        <p:spPr>
          <a:xfrm>
            <a:off x="1066800" y="4325210"/>
            <a:ext cx="520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lang="fr-FR"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Contraintes techniques et règlementaires (RGPD)</a:t>
            </a:r>
            <a:endParaRPr sz="1350" b="0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ctx2-mark">
            <a:extLst>
              <a:ext uri="{FF2B5EF4-FFF2-40B4-BE49-F238E27FC236}">
                <a16:creationId xmlns:a16="http://schemas.microsoft.com/office/drawing/2014/main" id="{25F3E642-891D-429A-95C4-825124287089}"/>
              </a:ext>
            </a:extLst>
          </p:cNvPr>
          <p:cNvSpPr>
            <a:spLocks noGrp="1"/>
          </p:cNvSpPr>
          <p:nvPr/>
        </p:nvSpPr>
        <p:spPr>
          <a:xfrm>
            <a:off x="838200" y="4825272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ctx2-lead">
            <a:extLst>
              <a:ext uri="{FF2B5EF4-FFF2-40B4-BE49-F238E27FC236}">
                <a16:creationId xmlns:a16="http://schemas.microsoft.com/office/drawing/2014/main" id="{FB39777C-EB14-4C05-8BDF-633D610375FB}"/>
              </a:ext>
            </a:extLst>
          </p:cNvPr>
          <p:cNvSpPr>
            <a:spLocks noGrp="1"/>
          </p:cNvSpPr>
          <p:nvPr/>
        </p:nvSpPr>
        <p:spPr>
          <a:xfrm>
            <a:off x="1066800" y="4710972"/>
            <a:ext cx="520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Pipeline de traitement de données pensée pour le calcul distribué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tx2-body">
            <a:extLst>
              <a:ext uri="{FF2B5EF4-FFF2-40B4-BE49-F238E27FC236}">
                <a16:creationId xmlns:a16="http://schemas.microsoft.com/office/drawing/2014/main" id="{DC9EF26A-1BD1-47C5-A86A-026FFCA2C80E}"/>
              </a:ext>
            </a:extLst>
          </p:cNvPr>
          <p:cNvSpPr>
            <a:spLocks noGrp="1"/>
          </p:cNvSpPr>
          <p:nvPr/>
        </p:nvSpPr>
        <p:spPr>
          <a:xfrm>
            <a:off x="1104900" y="5287234"/>
            <a:ext cx="520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Produire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des features </a:t>
            </a: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prêtes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pour les étapes de </a:t>
            </a:r>
            <a:r>
              <a:rPr sz="1350" b="0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modélisation</a:t>
            </a:r>
            <a:r>
              <a:rPr sz="1350" b="0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ctx3-mark">
            <a:extLst>
              <a:ext uri="{FF2B5EF4-FFF2-40B4-BE49-F238E27FC236}">
                <a16:creationId xmlns:a16="http://schemas.microsoft.com/office/drawing/2014/main" id="{8C857361-D5D8-4479-8CCC-318B7A02554E}"/>
              </a:ext>
            </a:extLst>
          </p:cNvPr>
          <p:cNvSpPr>
            <a:spLocks noGrp="1"/>
          </p:cNvSpPr>
          <p:nvPr/>
        </p:nvSpPr>
        <p:spPr>
          <a:xfrm>
            <a:off x="7271881" y="2409204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ctx3-lead">
            <a:extLst>
              <a:ext uri="{FF2B5EF4-FFF2-40B4-BE49-F238E27FC236}">
                <a16:creationId xmlns:a16="http://schemas.microsoft.com/office/drawing/2014/main" id="{AF412A20-FFB6-4E63-BC36-5BB510868527}"/>
              </a:ext>
            </a:extLst>
          </p:cNvPr>
          <p:cNvSpPr>
            <a:spLocks noGrp="1"/>
          </p:cNvSpPr>
          <p:nvPr/>
        </p:nvSpPr>
        <p:spPr>
          <a:xfrm>
            <a:off x="7428547" y="2275523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Capacité de calcul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footer-rule">
            <a:extLst>
              <a:ext uri="{FF2B5EF4-FFF2-40B4-BE49-F238E27FC236}">
                <a16:creationId xmlns:a16="http://schemas.microsoft.com/office/drawing/2014/main" id="{AB2D64CF-952C-45F5-9C2E-A43DC9541BD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footer-source">
            <a:extLst>
              <a:ext uri="{FF2B5EF4-FFF2-40B4-BE49-F238E27FC236}">
                <a16:creationId xmlns:a16="http://schemas.microsoft.com/office/drawing/2014/main" id="{C34E3715-1F27-4D6B-B837-82A296977A0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7CD46552-22F1-4822-A310-F3271C58F365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04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78C0655-570D-9C6A-083F-61711A71A254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867400" y="5086257"/>
            <a:ext cx="1463040" cy="34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DF948D2-08BE-A891-519B-8E39615162D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867400" y="5438920"/>
            <a:ext cx="1463040" cy="46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tx3-mark">
            <a:extLst>
              <a:ext uri="{FF2B5EF4-FFF2-40B4-BE49-F238E27FC236}">
                <a16:creationId xmlns:a16="http://schemas.microsoft.com/office/drawing/2014/main" id="{9E7E4995-64DB-E883-07A3-C977C86CEBBE}"/>
              </a:ext>
            </a:extLst>
          </p:cNvPr>
          <p:cNvSpPr>
            <a:spLocks noGrp="1"/>
          </p:cNvSpPr>
          <p:nvPr/>
        </p:nvSpPr>
        <p:spPr>
          <a:xfrm>
            <a:off x="7271881" y="2780441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ctx3-lead">
            <a:extLst>
              <a:ext uri="{FF2B5EF4-FFF2-40B4-BE49-F238E27FC236}">
                <a16:creationId xmlns:a16="http://schemas.microsoft.com/office/drawing/2014/main" id="{FA30771F-223B-E42E-565D-0661C3AB6978}"/>
              </a:ext>
            </a:extLst>
          </p:cNvPr>
          <p:cNvSpPr>
            <a:spLocks noGrp="1"/>
          </p:cNvSpPr>
          <p:nvPr/>
        </p:nvSpPr>
        <p:spPr>
          <a:xfrm>
            <a:off x="7428547" y="264676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Capacité de stockage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ctx3-mark">
            <a:extLst>
              <a:ext uri="{FF2B5EF4-FFF2-40B4-BE49-F238E27FC236}">
                <a16:creationId xmlns:a16="http://schemas.microsoft.com/office/drawing/2014/main" id="{99463BD5-5949-E620-57BA-83A9FF6D0387}"/>
              </a:ext>
            </a:extLst>
          </p:cNvPr>
          <p:cNvSpPr>
            <a:spLocks noGrp="1"/>
          </p:cNvSpPr>
          <p:nvPr/>
        </p:nvSpPr>
        <p:spPr>
          <a:xfrm>
            <a:off x="7271881" y="3150248"/>
            <a:ext cx="76200" cy="762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ctx3-lead">
            <a:extLst>
              <a:ext uri="{FF2B5EF4-FFF2-40B4-BE49-F238E27FC236}">
                <a16:creationId xmlns:a16="http://schemas.microsoft.com/office/drawing/2014/main" id="{13478C0B-A548-EDA6-87AE-1170B68B384F}"/>
              </a:ext>
            </a:extLst>
          </p:cNvPr>
          <p:cNvSpPr>
            <a:spLocks noGrp="1"/>
          </p:cNvSpPr>
          <p:nvPr/>
        </p:nvSpPr>
        <p:spPr>
          <a:xfrm>
            <a:off x="7428547" y="3015257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5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Solution connectée</a:t>
            </a:r>
            <a:endParaRPr sz="15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0009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2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02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Choix techniques, Cloud
et architecture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Aptos"/>
              </a:rPr>
              <a:t>Spark, S3 et EMR.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191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87938"/>
                </a:solidFill>
                <a:latin typeface="Aptos"/>
              </a:rPr>
              <a:t>AXE 2 · CLOUD PROVIDERS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 dirty="0">
                <a:solidFill>
                  <a:srgbClr val="0C4A52"/>
                </a:solidFill>
                <a:latin typeface="Aptos Display"/>
              </a:rPr>
              <a:t>Trois </a:t>
            </a:r>
            <a:r>
              <a:rPr sz="2700" b="1" dirty="0" err="1">
                <a:solidFill>
                  <a:srgbClr val="0C4A52"/>
                </a:solidFill>
                <a:latin typeface="Aptos Display"/>
              </a:rPr>
              <a:t>offres</a:t>
            </a:r>
            <a:r>
              <a:rPr sz="2700" b="1" dirty="0">
                <a:solidFill>
                  <a:srgbClr val="0C4A52"/>
                </a:solidFill>
                <a:latin typeface="Aptos Display"/>
              </a:rPr>
              <a:t> comparables</a:t>
            </a:r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 — IaaS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06</a:t>
            </a:r>
          </a:p>
        </p:txBody>
      </p:sp>
      <p:sp>
        <p:nvSpPr>
          <p:cNvPr id="8" name="provider-status-0"/>
          <p:cNvSpPr txBox="1"/>
          <p:nvPr/>
        </p:nvSpPr>
        <p:spPr>
          <a:xfrm>
            <a:off x="685800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E87938"/>
                </a:solidFill>
                <a:latin typeface="Aptos"/>
              </a:rPr>
              <a:t>RETENU</a:t>
            </a:r>
          </a:p>
        </p:txBody>
      </p:sp>
      <p:sp>
        <p:nvSpPr>
          <p:cNvPr id="9" name="provider-name-0"/>
          <p:cNvSpPr txBox="1"/>
          <p:nvPr/>
        </p:nvSpPr>
        <p:spPr>
          <a:xfrm>
            <a:off x="685800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AWS</a:t>
            </a:r>
          </a:p>
        </p:txBody>
      </p:sp>
      <p:sp>
        <p:nvSpPr>
          <p:cNvPr id="10" name="provider-label-0-0"/>
          <p:cNvSpPr txBox="1"/>
          <p:nvPr/>
        </p:nvSpPr>
        <p:spPr>
          <a:xfrm>
            <a:off x="685800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11" name="provider-value-0-0"/>
          <p:cNvSpPr txBox="1"/>
          <p:nvPr/>
        </p:nvSpPr>
        <p:spPr>
          <a:xfrm>
            <a:off x="685800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S3</a:t>
            </a:r>
          </a:p>
        </p:txBody>
      </p:sp>
      <p:sp>
        <p:nvSpPr>
          <p:cNvPr id="12" name="provider-label-0-1"/>
          <p:cNvSpPr txBox="1"/>
          <p:nvPr/>
        </p:nvSpPr>
        <p:spPr>
          <a:xfrm>
            <a:off x="685800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13" name="provider-value-0-1"/>
          <p:cNvSpPr txBox="1"/>
          <p:nvPr/>
        </p:nvSpPr>
        <p:spPr>
          <a:xfrm>
            <a:off x="685800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EMR</a:t>
            </a:r>
          </a:p>
        </p:txBody>
      </p:sp>
      <p:sp>
        <p:nvSpPr>
          <p:cNvPr id="14" name="provider-label-0-2"/>
          <p:cNvSpPr txBox="1"/>
          <p:nvPr/>
        </p:nvSpPr>
        <p:spPr>
          <a:xfrm>
            <a:off x="685800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15" name="provider-value-0-2"/>
          <p:cNvSpPr txBox="1"/>
          <p:nvPr/>
        </p:nvSpPr>
        <p:spPr>
          <a:xfrm>
            <a:off x="685800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17323A"/>
                </a:solidFill>
                <a:latin typeface="Aptos"/>
              </a:rPr>
              <a:t>CloudWatch</a:t>
            </a:r>
          </a:p>
        </p:txBody>
      </p:sp>
      <p:sp>
        <p:nvSpPr>
          <p:cNvPr id="16" name="provider-divider-1"/>
          <p:cNvSpPr/>
          <p:nvPr/>
        </p:nvSpPr>
        <p:spPr>
          <a:xfrm>
            <a:off x="3952875" y="2152650"/>
            <a:ext cx="19050" cy="3143250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ovider-status-1"/>
          <p:cNvSpPr txBox="1"/>
          <p:nvPr/>
        </p:nvSpPr>
        <p:spPr>
          <a:xfrm>
            <a:off x="4257675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ALTERNATIVE</a:t>
            </a:r>
          </a:p>
        </p:txBody>
      </p:sp>
      <p:sp>
        <p:nvSpPr>
          <p:cNvPr id="18" name="provider-name-1"/>
          <p:cNvSpPr txBox="1"/>
          <p:nvPr/>
        </p:nvSpPr>
        <p:spPr>
          <a:xfrm>
            <a:off x="4257675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GOOGLE CLOUD</a:t>
            </a:r>
          </a:p>
        </p:txBody>
      </p:sp>
      <p:sp>
        <p:nvSpPr>
          <p:cNvPr id="19" name="provider-label-1-0"/>
          <p:cNvSpPr txBox="1"/>
          <p:nvPr/>
        </p:nvSpPr>
        <p:spPr>
          <a:xfrm>
            <a:off x="4257675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20" name="provider-value-1-0"/>
          <p:cNvSpPr txBox="1"/>
          <p:nvPr/>
        </p:nvSpPr>
        <p:spPr>
          <a:xfrm>
            <a:off x="4257675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Cloud Storage</a:t>
            </a:r>
          </a:p>
        </p:txBody>
      </p:sp>
      <p:sp>
        <p:nvSpPr>
          <p:cNvPr id="21" name="provider-label-1-1"/>
          <p:cNvSpPr txBox="1"/>
          <p:nvPr/>
        </p:nvSpPr>
        <p:spPr>
          <a:xfrm>
            <a:off x="4257675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22" name="provider-value-1-1"/>
          <p:cNvSpPr txBox="1"/>
          <p:nvPr/>
        </p:nvSpPr>
        <p:spPr>
          <a:xfrm>
            <a:off x="4257675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Dataproc</a:t>
            </a:r>
          </a:p>
        </p:txBody>
      </p:sp>
      <p:sp>
        <p:nvSpPr>
          <p:cNvPr id="23" name="provider-label-1-2"/>
          <p:cNvSpPr txBox="1"/>
          <p:nvPr/>
        </p:nvSpPr>
        <p:spPr>
          <a:xfrm>
            <a:off x="4257675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24" name="provider-value-1-2"/>
          <p:cNvSpPr txBox="1"/>
          <p:nvPr/>
        </p:nvSpPr>
        <p:spPr>
          <a:xfrm>
            <a:off x="4257675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Cloud Monitoring</a:t>
            </a:r>
          </a:p>
        </p:txBody>
      </p:sp>
      <p:sp>
        <p:nvSpPr>
          <p:cNvPr id="25" name="provider-divider-2"/>
          <p:cNvSpPr/>
          <p:nvPr/>
        </p:nvSpPr>
        <p:spPr>
          <a:xfrm>
            <a:off x="7524749" y="2152650"/>
            <a:ext cx="19050" cy="3143250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rovider-status-2"/>
          <p:cNvSpPr txBox="1"/>
          <p:nvPr/>
        </p:nvSpPr>
        <p:spPr>
          <a:xfrm>
            <a:off x="7829550" y="2047875"/>
            <a:ext cx="23812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ALTERNATIVE</a:t>
            </a:r>
          </a:p>
        </p:txBody>
      </p:sp>
      <p:sp>
        <p:nvSpPr>
          <p:cNvPr id="27" name="provider-name-2"/>
          <p:cNvSpPr txBox="1"/>
          <p:nvPr/>
        </p:nvSpPr>
        <p:spPr>
          <a:xfrm>
            <a:off x="7829550" y="23526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C4A52"/>
                </a:solidFill>
                <a:latin typeface="Aptos Display"/>
              </a:rPr>
              <a:t>MICROSOFT AZURE</a:t>
            </a:r>
          </a:p>
        </p:txBody>
      </p:sp>
      <p:sp>
        <p:nvSpPr>
          <p:cNvPr id="28" name="provider-label-2-0"/>
          <p:cNvSpPr txBox="1"/>
          <p:nvPr/>
        </p:nvSpPr>
        <p:spPr>
          <a:xfrm>
            <a:off x="7829550" y="30670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dirty="0">
                <a:solidFill>
                  <a:srgbClr val="607174"/>
                </a:solidFill>
                <a:latin typeface="Aptos"/>
              </a:rPr>
              <a:t>STOCKAGE</a:t>
            </a:r>
          </a:p>
        </p:txBody>
      </p:sp>
      <p:sp>
        <p:nvSpPr>
          <p:cNvPr id="29" name="provider-value-2-0"/>
          <p:cNvSpPr txBox="1"/>
          <p:nvPr/>
        </p:nvSpPr>
        <p:spPr>
          <a:xfrm>
            <a:off x="7829550" y="32956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ADLS Gen2</a:t>
            </a:r>
          </a:p>
        </p:txBody>
      </p:sp>
      <p:sp>
        <p:nvSpPr>
          <p:cNvPr id="30" name="provider-label-2-1"/>
          <p:cNvSpPr txBox="1"/>
          <p:nvPr/>
        </p:nvSpPr>
        <p:spPr>
          <a:xfrm>
            <a:off x="7829550" y="379094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SPARK MANAGÉ</a:t>
            </a:r>
          </a:p>
        </p:txBody>
      </p:sp>
      <p:sp>
        <p:nvSpPr>
          <p:cNvPr id="31" name="provider-value-2-1"/>
          <p:cNvSpPr txBox="1"/>
          <p:nvPr/>
        </p:nvSpPr>
        <p:spPr>
          <a:xfrm>
            <a:off x="7829550" y="4019549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17323A"/>
                </a:solidFill>
                <a:latin typeface="Aptos"/>
              </a:rPr>
              <a:t>HDInsight</a:t>
            </a:r>
          </a:p>
        </p:txBody>
      </p:sp>
      <p:sp>
        <p:nvSpPr>
          <p:cNvPr id="32" name="provider-label-2-2"/>
          <p:cNvSpPr txBox="1"/>
          <p:nvPr/>
        </p:nvSpPr>
        <p:spPr>
          <a:xfrm>
            <a:off x="7829550" y="4514850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607174"/>
                </a:solidFill>
                <a:latin typeface="Aptos"/>
              </a:rPr>
              <a:t>SUPERVISION</a:t>
            </a:r>
          </a:p>
        </p:txBody>
      </p:sp>
      <p:sp>
        <p:nvSpPr>
          <p:cNvPr id="33" name="provider-value-2-2"/>
          <p:cNvSpPr txBox="1"/>
          <p:nvPr/>
        </p:nvSpPr>
        <p:spPr>
          <a:xfrm>
            <a:off x="7829550" y="4743450"/>
            <a:ext cx="2857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17323A"/>
                </a:solidFill>
                <a:latin typeface="Aptos"/>
              </a:rPr>
              <a:t>Azure Monitor</a:t>
            </a:r>
          </a:p>
        </p:txBody>
      </p:sp>
      <p:sp>
        <p:nvSpPr>
          <p:cNvPr id="34" name="provider-bottom-rule"/>
          <p:cNvSpPr/>
          <p:nvPr/>
        </p:nvSpPr>
        <p:spPr>
          <a:xfrm>
            <a:off x="685800" y="5581650"/>
            <a:ext cx="10820400" cy="28575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rovider-decision"/>
          <p:cNvSpPr txBox="1"/>
          <p:nvPr/>
        </p:nvSpPr>
        <p:spPr>
          <a:xfrm>
            <a:off x="685800" y="5753100"/>
            <a:ext cx="108204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dirty="0">
                <a:solidFill>
                  <a:srgbClr val="0C4A52"/>
                </a:solidFill>
                <a:latin typeface="Aptos"/>
              </a:rPr>
              <a:t>AWS est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retenu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ici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pour la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continuité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avec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l’architecture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S3 + EMR déjà mise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en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C4A52"/>
                </a:solidFill>
                <a:latin typeface="Aptos"/>
              </a:rPr>
              <a:t>œuvre</a:t>
            </a:r>
            <a:r>
              <a:rPr sz="1500" b="1" dirty="0">
                <a:solidFill>
                  <a:srgbClr val="0C4A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">
            <a:extLst>
              <a:ext uri="{FF2B5EF4-FFF2-40B4-BE49-F238E27FC236}">
                <a16:creationId xmlns:a16="http://schemas.microsoft.com/office/drawing/2014/main" id="{0B410C73-1CE3-469F-8A10-75F782919BF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2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ARCHITECTURE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 AWS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DA8B6F86-004A-405F-9739-C3B0E91F781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Le stockage et le calcul restent découplés</a:t>
            </a: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6FE21F15-A21B-4E79-A68B-DE8748C4A46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aw-s3">
            <a:extLst>
              <a:ext uri="{FF2B5EF4-FFF2-40B4-BE49-F238E27FC236}">
                <a16:creationId xmlns:a16="http://schemas.microsoft.com/office/drawing/2014/main" id="{E6AD39DF-061C-4993-9568-BD70150840A5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095500" cy="1066800"/>
          </a:xfrm>
          <a:prstGeom prst="rect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aw-s3-label">
            <a:extLst>
              <a:ext uri="{FF2B5EF4-FFF2-40B4-BE49-F238E27FC236}">
                <a16:creationId xmlns:a16="http://schemas.microsoft.com/office/drawing/2014/main" id="{2111008F-C7D5-4CBB-8AB1-570A90924BC2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S3 · données brutes</a:t>
            </a: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images / labels</a:t>
            </a:r>
          </a:p>
        </p:txBody>
      </p:sp>
      <p:sp>
        <p:nvSpPr>
          <p:cNvPr id="6" name="emr-cluster">
            <a:extLst>
              <a:ext uri="{FF2B5EF4-FFF2-40B4-BE49-F238E27FC236}">
                <a16:creationId xmlns:a16="http://schemas.microsoft.com/office/drawing/2014/main" id="{970DE2F8-A072-4B63-BC26-1CBD44D0243B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1619250"/>
          </a:xfrm>
          <a:prstGeom prst="rect">
            <a:avLst/>
          </a:prstGeom>
          <a:solidFill>
            <a:srgbClr val="D8E7E5"/>
          </a:solidFill>
          <a:ln w="19050">
            <a:solidFill>
              <a:srgbClr val="0C4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emr-cluster-label">
            <a:extLst>
              <a:ext uri="{FF2B5EF4-FFF2-40B4-BE49-F238E27FC236}">
                <a16:creationId xmlns:a16="http://schemas.microsoft.com/office/drawing/2014/main" id="{543CBF18-47F2-4DAB-B3F8-FC539802E91A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304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EMR · cluster Spark</a:t>
            </a:r>
          </a:p>
        </p:txBody>
      </p:sp>
      <p:sp>
        <p:nvSpPr>
          <p:cNvPr id="8" name="out-s3">
            <a:extLst>
              <a:ext uri="{FF2B5EF4-FFF2-40B4-BE49-F238E27FC236}">
                <a16:creationId xmlns:a16="http://schemas.microsoft.com/office/drawing/2014/main" id="{C328090F-530A-4736-B5DC-E642CCD0206A}"/>
              </a:ext>
            </a:extLst>
          </p:cNvPr>
          <p:cNvSpPr>
            <a:spLocks noGrp="1"/>
          </p:cNvSpPr>
          <p:nvPr/>
        </p:nvSpPr>
        <p:spPr>
          <a:xfrm>
            <a:off x="9239250" y="2714625"/>
            <a:ext cx="2095500" cy="1066800"/>
          </a:xfrm>
          <a:prstGeom prst="rect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ut-s3-label">
            <a:extLst>
              <a:ext uri="{FF2B5EF4-FFF2-40B4-BE49-F238E27FC236}">
                <a16:creationId xmlns:a16="http://schemas.microsoft.com/office/drawing/2014/main" id="{4861E369-7F33-401F-987C-2AB187EEC052}"/>
              </a:ext>
            </a:extLst>
          </p:cNvPr>
          <p:cNvSpPr>
            <a:spLocks noGrp="1"/>
          </p:cNvSpPr>
          <p:nvPr/>
        </p:nvSpPr>
        <p:spPr>
          <a:xfrm>
            <a:off x="9334500" y="2809875"/>
            <a:ext cx="1905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S3 · résultats</a:t>
            </a: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features / PCA / Parquet</a:t>
            </a:r>
          </a:p>
        </p:txBody>
      </p:sp>
      <p:sp>
        <p:nvSpPr>
          <p:cNvPr id="10" name="notebook">
            <a:extLst>
              <a:ext uri="{FF2B5EF4-FFF2-40B4-BE49-F238E27FC236}">
                <a16:creationId xmlns:a16="http://schemas.microsoft.com/office/drawing/2014/main" id="{81A444A9-6289-428B-A396-EAAEEE3BBB58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2667000" cy="876300"/>
          </a:xfrm>
          <a:prstGeom prst="rect">
            <a:avLst/>
          </a:prstGeom>
          <a:solidFill>
            <a:srgbClr val="FFFDF8"/>
          </a:solidFill>
          <a:ln w="19050">
            <a:solidFill>
              <a:srgbClr val="E879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notebook-label">
            <a:extLst>
              <a:ext uri="{FF2B5EF4-FFF2-40B4-BE49-F238E27FC236}">
                <a16:creationId xmlns:a16="http://schemas.microsoft.com/office/drawing/2014/main" id="{72078E00-C00D-400C-97BA-2E4C0DD16764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Notebook</a:t>
            </a:r>
            <a:r>
              <a:rPr lang="fr-FR"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, EMR config et </a:t>
            </a:r>
            <a:r>
              <a:rPr lang="fr-FR" sz="1275" b="1" dirty="0" err="1">
                <a:solidFill>
                  <a:srgbClr val="17323A"/>
                </a:solidFill>
                <a:latin typeface="Aptos"/>
                <a:ea typeface="Aptos"/>
                <a:cs typeface="Aptos"/>
              </a:rPr>
              <a:t>bootstrap</a:t>
            </a:r>
            <a:r>
              <a:rPr lang="fr-FR"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 pour</a:t>
            </a:r>
            <a:endParaRPr sz="1275" b="1" dirty="0">
              <a:solidFill>
                <a:srgbClr val="17323A"/>
              </a:solidFill>
              <a:latin typeface="Aptos"/>
              <a:ea typeface="Aptos"/>
              <a:cs typeface="Aptos"/>
            </a:endParaRPr>
          </a:p>
          <a:p>
            <a:pPr algn="ctr">
              <a:defRPr sz="1275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7323A"/>
                </a:solidFill>
                <a:latin typeface="Aptos"/>
                <a:ea typeface="Aptos"/>
                <a:cs typeface="Aptos"/>
              </a:rPr>
              <a:t>configuration + orchestration</a:t>
            </a:r>
          </a:p>
        </p:txBody>
      </p:sp>
      <p:sp>
        <p:nvSpPr>
          <p:cNvPr id="14" name="emr-exec">
            <a:extLst>
              <a:ext uri="{FF2B5EF4-FFF2-40B4-BE49-F238E27FC236}">
                <a16:creationId xmlns:a16="http://schemas.microsoft.com/office/drawing/2014/main" id="{24A4DC16-0B10-4572-B479-EFB9B7056009}"/>
              </a:ext>
            </a:extLst>
          </p:cNvPr>
          <p:cNvSpPr>
            <a:spLocks noGrp="1"/>
          </p:cNvSpPr>
          <p:nvPr/>
        </p:nvSpPr>
        <p:spPr>
          <a:xfrm>
            <a:off x="5288223" y="2933700"/>
            <a:ext cx="146315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2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Nœuds de calcul</a:t>
            </a:r>
            <a:endParaRPr sz="120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emr-partitions">
            <a:extLst>
              <a:ext uri="{FF2B5EF4-FFF2-40B4-BE49-F238E27FC236}">
                <a16:creationId xmlns:a16="http://schemas.microsoft.com/office/drawing/2014/main" id="{E409B0B3-FCA9-4CD7-A743-7FFD829EC6C6}"/>
              </a:ext>
            </a:extLst>
          </p:cNvPr>
          <p:cNvSpPr>
            <a:spLocks noGrp="1"/>
          </p:cNvSpPr>
          <p:nvPr/>
        </p:nvSpPr>
        <p:spPr>
          <a:xfrm>
            <a:off x="5353974" y="3133725"/>
            <a:ext cx="148405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1125" b="0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Données et calculs distribués par Spark</a:t>
            </a:r>
            <a:endParaRPr sz="1125" b="0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6" name="Connecteur droit avec flèche 15"/>
          <p:cNvCxnSpPr>
            <a:stCxn id="4" idx="3"/>
            <a:endCxn id="6" idx="1"/>
          </p:cNvCxnSpPr>
          <p:nvPr/>
        </p:nvCxnSpPr>
        <p:spPr>
          <a:xfrm flipV="1">
            <a:off x="2952750" y="3190875"/>
            <a:ext cx="1524000" cy="5715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med" len="med"/>
          </a:ln>
        </p:spPr>
      </p:cxnSp>
      <p:cxnSp>
        <p:nvCxnSpPr>
          <p:cNvPr id="17" name="Connecteur droit avec flèche 16"/>
          <p:cNvCxnSpPr>
            <a:stCxn id="6" idx="3"/>
            <a:endCxn id="8" idx="1"/>
          </p:cNvCxnSpPr>
          <p:nvPr/>
        </p:nvCxnSpPr>
        <p:spPr>
          <a:xfrm>
            <a:off x="7715250" y="3190875"/>
            <a:ext cx="1524000" cy="5715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med" len="med"/>
          </a:ln>
        </p:spPr>
      </p:cxnSp>
      <p:cxnSp>
        <p:nvCxnSpPr>
          <p:cNvPr id="18" name="Connecteur droit avec flèche 17"/>
          <p:cNvCxnSpPr>
            <a:stCxn id="10" idx="0"/>
            <a:endCxn id="6" idx="2"/>
          </p:cNvCxnSpPr>
          <p:nvPr/>
        </p:nvCxnSpPr>
        <p:spPr>
          <a:xfrm flipV="1">
            <a:off x="6096000" y="4000500"/>
            <a:ext cx="0" cy="438150"/>
          </a:xfrm>
          <a:prstGeom prst="straightConnector1">
            <a:avLst/>
          </a:prstGeom>
          <a:ln w="19050">
            <a:solidFill>
              <a:srgbClr val="2B7A78"/>
            </a:solidFill>
            <a:prstDash val="dash"/>
            <a:tailEnd type="arrow" w="sm" len="sm"/>
          </a:ln>
        </p:spPr>
      </p:cxnSp>
      <p:sp>
        <p:nvSpPr>
          <p:cNvPr id="19" name="arch-read">
            <a:extLst>
              <a:ext uri="{FF2B5EF4-FFF2-40B4-BE49-F238E27FC236}">
                <a16:creationId xmlns:a16="http://schemas.microsoft.com/office/drawing/2014/main" id="{A75D35BB-B54B-40A2-8B10-1FFC9A80AA0F}"/>
              </a:ext>
            </a:extLst>
          </p:cNvPr>
          <p:cNvSpPr>
            <a:spLocks noGrp="1"/>
          </p:cNvSpPr>
          <p:nvPr/>
        </p:nvSpPr>
        <p:spPr>
          <a:xfrm>
            <a:off x="3028950" y="2524125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607174"/>
                </a:solidFill>
                <a:latin typeface="Aptos"/>
                <a:ea typeface="Aptos"/>
                <a:cs typeface="Aptos"/>
              </a:rPr>
              <a:t>lecture </a:t>
            </a:r>
            <a:r>
              <a:rPr sz="1050" b="1" dirty="0" err="1">
                <a:solidFill>
                  <a:srgbClr val="607174"/>
                </a:solidFill>
                <a:latin typeface="Aptos"/>
                <a:ea typeface="Aptos"/>
                <a:cs typeface="Aptos"/>
              </a:rPr>
              <a:t>distribuée</a:t>
            </a:r>
            <a:endParaRPr sz="1050" b="1" dirty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arch-write">
            <a:extLst>
              <a:ext uri="{FF2B5EF4-FFF2-40B4-BE49-F238E27FC236}">
                <a16:creationId xmlns:a16="http://schemas.microsoft.com/office/drawing/2014/main" id="{94037C95-B9EA-4E37-92F0-FB8509332E05}"/>
              </a:ext>
            </a:extLst>
          </p:cNvPr>
          <p:cNvSpPr>
            <a:spLocks noGrp="1"/>
          </p:cNvSpPr>
          <p:nvPr/>
        </p:nvSpPr>
        <p:spPr>
          <a:xfrm>
            <a:off x="7791450" y="2524125"/>
            <a:ext cx="1390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174"/>
                </a:solidFill>
                <a:latin typeface="Aptos"/>
                <a:ea typeface="Aptos"/>
                <a:cs typeface="Aptos"/>
              </a:rPr>
              <a:t>écriture persistante</a:t>
            </a:r>
          </a:p>
        </p:txBody>
      </p:sp>
      <p:sp>
        <p:nvSpPr>
          <p:cNvPr id="21" name="arch-message">
            <a:extLst>
              <a:ext uri="{FF2B5EF4-FFF2-40B4-BE49-F238E27FC236}">
                <a16:creationId xmlns:a16="http://schemas.microsoft.com/office/drawing/2014/main" id="{F2D98E52-6210-4C7A-BF89-A6035C192247}"/>
              </a:ext>
            </a:extLst>
          </p:cNvPr>
          <p:cNvSpPr>
            <a:spLocks noGrp="1"/>
          </p:cNvSpPr>
          <p:nvPr/>
        </p:nvSpPr>
        <p:spPr>
          <a:xfrm>
            <a:off x="1804987" y="5676900"/>
            <a:ext cx="842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S3 </a:t>
            </a:r>
            <a:r>
              <a:rPr lang="fr-FR"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stocke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les données</a:t>
            </a:r>
            <a:r>
              <a:rPr lang="fr-FR"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.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EMR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fournit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temporairement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la puissance de </a:t>
            </a:r>
            <a:r>
              <a:rPr sz="180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calcul</a:t>
            </a:r>
            <a:r>
              <a:rPr sz="180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4724707A-674F-4622-AE70-43F5DDD5F9B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footer-source">
            <a:extLst>
              <a:ext uri="{FF2B5EF4-FFF2-40B4-BE49-F238E27FC236}">
                <a16:creationId xmlns:a16="http://schemas.microsoft.com/office/drawing/2014/main" id="{E493FDCA-8058-4F05-9628-59771F2F8B5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page-number">
            <a:extLst>
              <a:ext uri="{FF2B5EF4-FFF2-40B4-BE49-F238E27FC236}">
                <a16:creationId xmlns:a16="http://schemas.microsoft.com/office/drawing/2014/main" id="{133B37CC-DB78-4745-BD61-07D2074E91BE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07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998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">
            <a:extLst>
              <a:ext uri="{FF2B5EF4-FFF2-40B4-BE49-F238E27FC236}">
                <a16:creationId xmlns:a16="http://schemas.microsoft.com/office/drawing/2014/main" id="{5C2EE960-5571-4C2C-97D8-5A70D857D63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2 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· </a:t>
            </a: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SPARK &amp; EXPLOITATION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3C8BABF8-6689-4A4E-A53C-5B70841C948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Architecture retenue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3DF26077-1DC4-4129-B67D-3FC4910B323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footer-rule">
            <a:extLst>
              <a:ext uri="{FF2B5EF4-FFF2-40B4-BE49-F238E27FC236}">
                <a16:creationId xmlns:a16="http://schemas.microsoft.com/office/drawing/2014/main" id="{162059D2-14D0-4644-8CA9-FD5F1E0CACD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footer-source">
            <a:extLst>
              <a:ext uri="{FF2B5EF4-FFF2-40B4-BE49-F238E27FC236}">
                <a16:creationId xmlns:a16="http://schemas.microsoft.com/office/drawing/2014/main" id="{C4D34996-9C01-4092-820D-F47F31931A9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page-number">
            <a:extLst>
              <a:ext uri="{FF2B5EF4-FFF2-40B4-BE49-F238E27FC236}">
                <a16:creationId xmlns:a16="http://schemas.microsoft.com/office/drawing/2014/main" id="{75EC87B9-10EF-4263-B1A0-525811967CB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08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F56BC763-EEF8-B1AD-7529-B37A91E76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71" b="7829"/>
          <a:stretch>
            <a:fillRect/>
          </a:stretch>
        </p:blipFill>
        <p:spPr>
          <a:xfrm>
            <a:off x="4537166" y="419099"/>
            <a:ext cx="7298327" cy="6009197"/>
          </a:xfrm>
          <a:prstGeom prst="rect">
            <a:avLst/>
          </a:prstGeom>
        </p:spPr>
      </p:pic>
      <p:sp>
        <p:nvSpPr>
          <p:cNvPr id="38" name="rgpd-heading"/>
          <p:cNvSpPr txBox="1"/>
          <p:nvPr/>
        </p:nvSpPr>
        <p:spPr>
          <a:xfrm>
            <a:off x="685800" y="2103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7938"/>
                </a:solidFill>
                <a:latin typeface="Aptos"/>
              </a:rPr>
              <a:t>CONSIDÉRATIONS RGPD</a:t>
            </a:r>
          </a:p>
        </p:txBody>
      </p:sp>
      <p:sp>
        <p:nvSpPr>
          <p:cNvPr id="39" name="rgpd-body"/>
          <p:cNvSpPr txBox="1"/>
          <p:nvPr/>
        </p:nvSpPr>
        <p:spPr>
          <a:xfrm>
            <a:off x="685800" y="2505456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fr-FR" sz="1400" b="1" dirty="0">
                <a:solidFill>
                  <a:srgbClr val="0C4A52"/>
                </a:solidFill>
                <a:latin typeface="Aptos"/>
              </a:rPr>
              <a:t>Sécurité</a:t>
            </a:r>
            <a:r>
              <a:rPr sz="1400" b="1" dirty="0">
                <a:solidFill>
                  <a:srgbClr val="0C4A52"/>
                </a:solidFill>
                <a:latin typeface="Aptos"/>
              </a:rPr>
              <a:t> — </a:t>
            </a:r>
            <a:r>
              <a:rPr lang="fr-FR" sz="1400" dirty="0">
                <a:solidFill>
                  <a:srgbClr val="0C4A52"/>
                </a:solidFill>
                <a:latin typeface="Aptos"/>
              </a:rPr>
              <a:t>Stockage en Europe, VPC, </a:t>
            </a:r>
            <a:r>
              <a:rPr lang="fr-FR" sz="1400" dirty="0">
                <a:solidFill>
                  <a:srgbClr val="17323A"/>
                </a:solidFill>
                <a:latin typeface="Aptos"/>
              </a:rPr>
              <a:t>Gestion des accès via IAM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fr-FR" sz="1400" b="1" dirty="0">
                <a:solidFill>
                  <a:srgbClr val="0C4A52"/>
                </a:solidFill>
                <a:latin typeface="Aptos"/>
              </a:rPr>
              <a:t>Accès, rectification et suppression des données</a:t>
            </a:r>
            <a:r>
              <a:rPr sz="1400" b="1" dirty="0">
                <a:solidFill>
                  <a:srgbClr val="0C4A52"/>
                </a:solidFill>
                <a:latin typeface="Aptos"/>
              </a:rPr>
              <a:t> — </a:t>
            </a:r>
            <a:r>
              <a:rPr lang="fr-FR" sz="1400" dirty="0">
                <a:solidFill>
                  <a:srgbClr val="0C4A52"/>
                </a:solidFill>
                <a:latin typeface="Aptos"/>
              </a:rPr>
              <a:t>Via S3</a:t>
            </a:r>
            <a:r>
              <a:rPr sz="1400" b="0" dirty="0">
                <a:solidFill>
                  <a:srgbClr val="17323A"/>
                </a:solidFill>
                <a:latin typeface="Aptos"/>
              </a:rPr>
              <a:t>.</a:t>
            </a:r>
          </a:p>
        </p:txBody>
      </p:sp>
      <p:sp>
        <p:nvSpPr>
          <p:cNvPr id="40" name="rgpd-source"/>
          <p:cNvSpPr txBox="1"/>
          <p:nvPr/>
        </p:nvSpPr>
        <p:spPr>
          <a:xfrm>
            <a:off x="685800" y="6181344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>
                <a:solidFill>
                  <a:srgbClr val="607174"/>
                </a:solidFill>
                <a:latin typeface="Aptos"/>
              </a:rPr>
              <a:t>Réf. : CNIL · RGPD, sécurité, sous-traitance et AIPD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1286C88-8FBB-022C-1C76-E64BCFCA0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115" y="859183"/>
            <a:ext cx="968370" cy="21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1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xis-kicker"/>
          <p:cNvSpPr txBox="1"/>
          <p:nvPr/>
        </p:nvSpPr>
        <p:spPr>
          <a:xfrm>
            <a:off x="685800" y="6096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87938"/>
                </a:solidFill>
                <a:latin typeface="Aptos"/>
              </a:rPr>
              <a:t>AXE 3</a:t>
            </a:r>
          </a:p>
        </p:txBody>
      </p:sp>
      <p:sp>
        <p:nvSpPr>
          <p:cNvPr id="3" name="axis-number"/>
          <p:cNvSpPr txBox="1"/>
          <p:nvPr/>
        </p:nvSpPr>
        <p:spPr>
          <a:xfrm>
            <a:off x="685800" y="1314450"/>
            <a:ext cx="21907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0" b="1">
                <a:solidFill>
                  <a:srgbClr val="D8E7E5"/>
                </a:solidFill>
                <a:latin typeface="Aptos Display"/>
              </a:rPr>
              <a:t>03</a:t>
            </a:r>
          </a:p>
        </p:txBody>
      </p:sp>
      <p:sp>
        <p:nvSpPr>
          <p:cNvPr id="4" name="axis-rule"/>
          <p:cNvSpPr/>
          <p:nvPr/>
        </p:nvSpPr>
        <p:spPr>
          <a:xfrm>
            <a:off x="3238500" y="1524000"/>
            <a:ext cx="38100" cy="352425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xis-title"/>
          <p:cNvSpPr txBox="1"/>
          <p:nvPr/>
        </p:nvSpPr>
        <p:spPr>
          <a:xfrm>
            <a:off x="3829050" y="1657350"/>
            <a:ext cx="7239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Réalisation de la pipeline
en local et sur AWS</a:t>
            </a:r>
          </a:p>
        </p:txBody>
      </p:sp>
      <p:sp>
        <p:nvSpPr>
          <p:cNvPr id="6" name="axis-subtitle"/>
          <p:cNvSpPr txBox="1"/>
          <p:nvPr/>
        </p:nvSpPr>
        <p:spPr>
          <a:xfrm>
            <a:off x="3829050" y="3352800"/>
            <a:ext cx="6572250" cy="9334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dirty="0" err="1">
                <a:solidFill>
                  <a:srgbClr val="D8E7E5"/>
                </a:solidFill>
                <a:latin typeface="Aptos"/>
              </a:rPr>
              <a:t>Valider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 la </a:t>
            </a:r>
            <a:r>
              <a:rPr sz="1700" b="0" dirty="0" err="1">
                <a:solidFill>
                  <a:srgbClr val="D8E7E5"/>
                </a:solidFill>
                <a:latin typeface="Aptos"/>
              </a:rPr>
              <a:t>logique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 </a:t>
            </a:r>
            <a:r>
              <a:rPr lang="fr-FR" sz="1700" b="0" dirty="0">
                <a:solidFill>
                  <a:srgbClr val="D8E7E5"/>
                </a:solidFill>
                <a:latin typeface="Aptos"/>
              </a:rPr>
              <a:t>localement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, </a:t>
            </a:r>
            <a:r>
              <a:rPr lang="fr-FR" sz="1700" b="0" dirty="0">
                <a:solidFill>
                  <a:srgbClr val="D8E7E5"/>
                </a:solidFill>
                <a:latin typeface="Aptos"/>
              </a:rPr>
              <a:t>déployer </a:t>
            </a:r>
            <a:r>
              <a:rPr sz="1700" b="0" dirty="0">
                <a:solidFill>
                  <a:srgbClr val="D8E7E5"/>
                </a:solidFill>
                <a:latin typeface="Aptos"/>
              </a:rPr>
              <a:t>dans le Cloud.</a:t>
            </a:r>
          </a:p>
        </p:txBody>
      </p:sp>
      <p:sp>
        <p:nvSpPr>
          <p:cNvPr id="7" name="axis-map"/>
          <p:cNvSpPr txBox="1"/>
          <p:nvPr/>
        </p:nvSpPr>
        <p:spPr>
          <a:xfrm>
            <a:off x="3829050" y="51054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E87938"/>
                </a:solidFill>
                <a:latin typeface="Aptos"/>
              </a:rPr>
              <a:t>01  —  02  —  03</a:t>
            </a:r>
          </a:p>
        </p:txBody>
      </p:sp>
      <p:sp>
        <p:nvSpPr>
          <p:cNvPr id="8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1910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E87938"/>
                </a:solidFill>
                <a:latin typeface="Aptos"/>
              </a:rPr>
              <a:t>AXE 3 · EXÉCUTION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700" b="1" dirty="0">
                <a:solidFill>
                  <a:srgbClr val="0C4A52"/>
                </a:solidFill>
                <a:latin typeface="Aptos Display"/>
              </a:rPr>
              <a:t>Local vs Cloud</a:t>
            </a:r>
            <a:endParaRPr sz="2700" b="1" dirty="0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-rule"/>
          <p:cNvSpPr/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ooter-source"/>
          <p:cNvSpPr txBox="1"/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607174"/>
                </a:solidFill>
                <a:latin typeface="Aptos"/>
              </a:rPr>
              <a:t>Architecture de référence du projet OpenClassrooms · sources p. 15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819" b="1">
                <a:solidFill>
                  <a:srgbClr val="E87938"/>
                </a:solidFill>
                <a:latin typeface="Aptos"/>
              </a:rPr>
              <a:t>10</a:t>
            </a:r>
          </a:p>
        </p:txBody>
      </p:sp>
      <p:sp>
        <p:nvSpPr>
          <p:cNvPr id="8" name="local-kicker"/>
          <p:cNvSpPr txBox="1"/>
          <p:nvPr/>
        </p:nvSpPr>
        <p:spPr>
          <a:xfrm>
            <a:off x="685800" y="2095499"/>
            <a:ext cx="2095499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E87938"/>
                </a:solidFill>
                <a:latin typeface="Aptos"/>
              </a:rPr>
              <a:t>VALIDER</a:t>
            </a:r>
            <a:r>
              <a:rPr lang="fr-FR" sz="1000" b="1" dirty="0">
                <a:solidFill>
                  <a:srgbClr val="E87938"/>
                </a:solidFill>
                <a:latin typeface="Aptos"/>
              </a:rPr>
              <a:t> LA PIPELINE</a:t>
            </a:r>
            <a:endParaRPr sz="1000" b="1" dirty="0">
              <a:solidFill>
                <a:srgbClr val="E87938"/>
              </a:solidFill>
              <a:latin typeface="Aptos"/>
            </a:endParaRPr>
          </a:p>
        </p:txBody>
      </p:sp>
      <p:sp>
        <p:nvSpPr>
          <p:cNvPr id="9" name="local-title"/>
          <p:cNvSpPr txBox="1"/>
          <p:nvPr/>
        </p:nvSpPr>
        <p:spPr>
          <a:xfrm>
            <a:off x="685800" y="240030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>
                <a:solidFill>
                  <a:srgbClr val="0C4A52"/>
                </a:solidFill>
                <a:latin typeface="Aptos Display"/>
              </a:rPr>
              <a:t>LOCAL</a:t>
            </a:r>
          </a:p>
        </p:txBody>
      </p:sp>
      <p:sp>
        <p:nvSpPr>
          <p:cNvPr id="10" name="local-body"/>
          <p:cNvSpPr txBox="1"/>
          <p:nvPr/>
        </p:nvSpPr>
        <p:spPr>
          <a:xfrm>
            <a:off x="685800" y="2847976"/>
            <a:ext cx="3429000" cy="1695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dirty="0">
                <a:solidFill>
                  <a:srgbClr val="17323A"/>
                </a:solidFill>
                <a:latin typeface="Aptos"/>
              </a:rPr>
              <a:t>• </a:t>
            </a:r>
            <a:r>
              <a:rPr lang="fr-FR" sz="1500" b="0" dirty="0">
                <a:solidFill>
                  <a:srgbClr val="17323A"/>
                </a:solidFill>
                <a:latin typeface="Aptos"/>
              </a:rPr>
              <a:t>Données locales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Spark local
• Notebook de mise au point</a:t>
            </a:r>
            <a:r>
              <a:rPr lang="fr-FR" sz="1500" b="0" dirty="0">
                <a:solidFill>
                  <a:srgbClr val="17323A"/>
                </a:solidFill>
                <a:latin typeface="Aptos"/>
              </a:rPr>
              <a:t> du </a:t>
            </a:r>
            <a:r>
              <a:rPr lang="fr-FR" sz="1500" b="0" dirty="0" err="1">
                <a:solidFill>
                  <a:srgbClr val="17323A"/>
                </a:solidFill>
                <a:latin typeface="Aptos"/>
              </a:rPr>
              <a:t>traîtement</a:t>
            </a:r>
            <a:endParaRPr lang="fr-FR" sz="1500" b="0" dirty="0">
              <a:solidFill>
                <a:srgbClr val="17323A"/>
              </a:solidFill>
              <a:latin typeface="Aptos"/>
            </a:endParaRPr>
          </a:p>
          <a:p>
            <a:pPr algn="l"/>
            <a:endParaRPr sz="150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11" name="aws-kicker"/>
          <p:cNvSpPr txBox="1"/>
          <p:nvPr/>
        </p:nvSpPr>
        <p:spPr>
          <a:xfrm>
            <a:off x="8077200" y="2095499"/>
            <a:ext cx="2095499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000" b="1" dirty="0">
                <a:solidFill>
                  <a:srgbClr val="E87938"/>
                </a:solidFill>
                <a:latin typeface="Aptos"/>
              </a:rPr>
              <a:t>TRAITER DU BIG DATA</a:t>
            </a:r>
            <a:endParaRPr sz="1000" b="1" dirty="0">
              <a:solidFill>
                <a:srgbClr val="E87938"/>
              </a:solidFill>
              <a:latin typeface="Aptos"/>
            </a:endParaRPr>
          </a:p>
        </p:txBody>
      </p:sp>
      <p:sp>
        <p:nvSpPr>
          <p:cNvPr id="12" name="aws-title"/>
          <p:cNvSpPr txBox="1"/>
          <p:nvPr/>
        </p:nvSpPr>
        <p:spPr>
          <a:xfrm>
            <a:off x="8077200" y="240030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>
                <a:solidFill>
                  <a:srgbClr val="0C4A52"/>
                </a:solidFill>
                <a:latin typeface="Aptos Display"/>
              </a:rPr>
              <a:t>AWS</a:t>
            </a:r>
          </a:p>
        </p:txBody>
      </p:sp>
      <p:sp>
        <p:nvSpPr>
          <p:cNvPr id="13" name="aws-body"/>
          <p:cNvSpPr txBox="1"/>
          <p:nvPr/>
        </p:nvSpPr>
        <p:spPr>
          <a:xfrm>
            <a:off x="8077200" y="2876550"/>
            <a:ext cx="3429000" cy="2447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500" dirty="0">
                <a:solidFill>
                  <a:srgbClr val="17323A"/>
                </a:solidFill>
                <a:latin typeface="Aptos"/>
              </a:rPr>
              <a:t>EMR: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Cluster 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de calcul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Stack logiciel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PySpark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,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Tensorflow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,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JupyterHub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…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• </a:t>
            </a:r>
            <a:r>
              <a:rPr lang="fr-FR" sz="1500" dirty="0">
                <a:solidFill>
                  <a:srgbClr val="17323A"/>
                </a:solidFill>
                <a:latin typeface="Aptos"/>
              </a:rPr>
              <a:t>Accessible en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ssh</a:t>
            </a:r>
            <a:r>
              <a:rPr sz="1500" b="0" dirty="0">
                <a:solidFill>
                  <a:srgbClr val="17323A"/>
                </a:solidFill>
                <a:latin typeface="Aptos"/>
              </a:rPr>
              <a:t>
</a:t>
            </a:r>
            <a:endParaRPr lang="fr-FR" sz="1500" b="0" dirty="0">
              <a:solidFill>
                <a:srgbClr val="17323A"/>
              </a:solidFill>
              <a:latin typeface="Aptos"/>
            </a:endParaRPr>
          </a:p>
          <a:p>
            <a:pPr algn="l"/>
            <a:r>
              <a:rPr lang="fr-FR" sz="1500" dirty="0">
                <a:solidFill>
                  <a:srgbClr val="17323A"/>
                </a:solidFill>
                <a:latin typeface="Aptos"/>
              </a:rPr>
              <a:t>S3: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Stockage des données brutes</a:t>
            </a:r>
          </a:p>
          <a:p>
            <a:r>
              <a:rPr lang="fr-FR" sz="1500" dirty="0">
                <a:solidFill>
                  <a:srgbClr val="17323A"/>
                </a:solidFill>
                <a:latin typeface="Aptos"/>
              </a:rPr>
              <a:t>• Stockage des données </a:t>
            </a:r>
            <a:r>
              <a:rPr lang="fr-FR" sz="1500" dirty="0" err="1">
                <a:solidFill>
                  <a:srgbClr val="17323A"/>
                </a:solidFill>
                <a:latin typeface="Aptos"/>
              </a:rPr>
              <a:t>traîtées</a:t>
            </a:r>
            <a:endParaRPr lang="fr-FR" sz="1500" dirty="0">
              <a:solidFill>
                <a:srgbClr val="17323A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17323A"/>
                </a:solidFill>
                <a:latin typeface="Aptos"/>
              </a:rPr>
              <a:t>• Logs</a:t>
            </a:r>
          </a:p>
        </p:txBody>
      </p:sp>
      <p:sp>
        <p:nvSpPr>
          <p:cNvPr id="14" name="transition-arrow"/>
          <p:cNvSpPr txBox="1"/>
          <p:nvPr/>
        </p:nvSpPr>
        <p:spPr>
          <a:xfrm>
            <a:off x="4586909" y="2743200"/>
            <a:ext cx="19050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4600" b="1" dirty="0">
                <a:solidFill>
                  <a:srgbClr val="E87938"/>
                </a:solidFill>
                <a:latin typeface="Aptos Display"/>
              </a:rPr>
              <a:t>→</a:t>
            </a:r>
          </a:p>
        </p:txBody>
      </p:sp>
      <p:sp>
        <p:nvSpPr>
          <p:cNvPr id="15" name="transition-body"/>
          <p:cNvSpPr txBox="1"/>
          <p:nvPr/>
        </p:nvSpPr>
        <p:spPr>
          <a:xfrm>
            <a:off x="4244009" y="3543300"/>
            <a:ext cx="3185491" cy="1009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400" b="1" dirty="0">
                <a:solidFill>
                  <a:srgbClr val="0C4A52"/>
                </a:solidFill>
                <a:latin typeface="Aptos"/>
              </a:rPr>
              <a:t>Adaptation à l’environnement cloud</a:t>
            </a:r>
            <a:endParaRPr sz="1400" b="1" dirty="0">
              <a:solidFill>
                <a:srgbClr val="0C4A52"/>
              </a:solidFill>
              <a:latin typeface="Aptos"/>
            </a:endParaRPr>
          </a:p>
        </p:txBody>
      </p:sp>
      <p:sp>
        <p:nvSpPr>
          <p:cNvPr id="16" name="common-rule"/>
          <p:cNvSpPr/>
          <p:nvPr/>
        </p:nvSpPr>
        <p:spPr>
          <a:xfrm>
            <a:off x="685800" y="5276850"/>
            <a:ext cx="10820400" cy="9525"/>
          </a:xfrm>
          <a:prstGeom prst="rect">
            <a:avLst/>
          </a:prstGeom>
          <a:solidFill>
            <a:srgbClr val="E9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mmon-label"/>
          <p:cNvSpPr txBox="1"/>
          <p:nvPr/>
        </p:nvSpPr>
        <p:spPr>
          <a:xfrm>
            <a:off x="685800" y="54864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E87938"/>
                </a:solidFill>
                <a:latin typeface="Aptos"/>
              </a:rPr>
              <a:t>LOGIQUE COMMUNE</a:t>
            </a:r>
          </a:p>
        </p:txBody>
      </p:sp>
      <p:sp>
        <p:nvSpPr>
          <p:cNvPr id="18" name="common-chain"/>
          <p:cNvSpPr txBox="1"/>
          <p:nvPr/>
        </p:nvSpPr>
        <p:spPr>
          <a:xfrm>
            <a:off x="1416327" y="5419725"/>
            <a:ext cx="91059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600" b="1" dirty="0">
                <a:solidFill>
                  <a:srgbClr val="0C4A52"/>
                </a:solidFill>
                <a:latin typeface="Aptos"/>
              </a:rPr>
              <a:t>Chargement</a:t>
            </a:r>
            <a:r>
              <a:rPr sz="1600" b="1" dirty="0">
                <a:solidFill>
                  <a:srgbClr val="0C4A52"/>
                </a:solidFill>
                <a:latin typeface="Aptos"/>
              </a:rPr>
              <a:t>  →   </a:t>
            </a:r>
            <a:r>
              <a:rPr lang="fr-FR" sz="1600" b="1" dirty="0" err="1">
                <a:solidFill>
                  <a:srgbClr val="0C4A52"/>
                </a:solidFill>
                <a:latin typeface="Aptos"/>
              </a:rPr>
              <a:t>Features</a:t>
            </a:r>
            <a:r>
              <a:rPr lang="fr-FR" sz="1600" b="1" dirty="0">
                <a:solidFill>
                  <a:srgbClr val="0C4A52"/>
                </a:solidFill>
                <a:latin typeface="Aptos"/>
              </a:rPr>
              <a:t> extraction </a:t>
            </a:r>
            <a:r>
              <a:rPr sz="1600" b="1" dirty="0">
                <a:solidFill>
                  <a:srgbClr val="0C4A52"/>
                </a:solidFill>
                <a:latin typeface="Aptos"/>
              </a:rPr>
              <a:t>→  PCA  →  </a:t>
            </a:r>
            <a:r>
              <a:rPr lang="fr-FR" sz="1600" b="1" dirty="0">
                <a:solidFill>
                  <a:srgbClr val="0C4A52"/>
                </a:solidFill>
                <a:latin typeface="Aptos"/>
              </a:rPr>
              <a:t>Sauvegarde des résultats</a:t>
            </a:r>
            <a:endParaRPr sz="1600" b="1" dirty="0">
              <a:solidFill>
                <a:srgbClr val="0C4A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">
            <a:extLst>
              <a:ext uri="{FF2B5EF4-FFF2-40B4-BE49-F238E27FC236}">
                <a16:creationId xmlns:a16="http://schemas.microsoft.com/office/drawing/2014/main" id="{EC16900B-2488-47B7-8EE9-6103D448EBA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3</a:t>
            </a:r>
            <a:r>
              <a:rPr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 · PIPELINE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870CAFA0-46A4-4A30-8EF7-5DF97266FAD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Une </a:t>
            </a:r>
            <a:r>
              <a:rPr lang="fr-FR" sz="2700" b="1" dirty="0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Pipeline en 5 étapes</a:t>
            </a:r>
            <a:endParaRPr sz="2700" b="1" dirty="0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BC71BA7F-C74E-4503-AAA0-4078DC2DE6B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tep-1">
            <a:extLst>
              <a:ext uri="{FF2B5EF4-FFF2-40B4-BE49-F238E27FC236}">
                <a16:creationId xmlns:a16="http://schemas.microsoft.com/office/drawing/2014/main" id="{A923A52B-1E92-4100-A40C-E1881CADDC9F}"/>
              </a:ext>
            </a:extLst>
          </p:cNvPr>
          <p:cNvSpPr>
            <a:spLocks noGrp="1"/>
          </p:cNvSpPr>
          <p:nvPr/>
        </p:nvSpPr>
        <p:spPr>
          <a:xfrm>
            <a:off x="790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tep-num-1">
            <a:extLst>
              <a:ext uri="{FF2B5EF4-FFF2-40B4-BE49-F238E27FC236}">
                <a16:creationId xmlns:a16="http://schemas.microsoft.com/office/drawing/2014/main" id="{F4876695-54A8-44B4-A5B4-A797CEDEBD79}"/>
              </a:ext>
            </a:extLst>
          </p:cNvPr>
          <p:cNvSpPr>
            <a:spLocks noGrp="1"/>
          </p:cNvSpPr>
          <p:nvPr/>
        </p:nvSpPr>
        <p:spPr>
          <a:xfrm>
            <a:off x="1019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step-title-1">
            <a:extLst>
              <a:ext uri="{FF2B5EF4-FFF2-40B4-BE49-F238E27FC236}">
                <a16:creationId xmlns:a16="http://schemas.microsoft.com/office/drawing/2014/main" id="{72505228-2BB8-4141-8605-4C0CCA7ECF41}"/>
              </a:ext>
            </a:extLst>
          </p:cNvPr>
          <p:cNvSpPr>
            <a:spLocks noGrp="1"/>
          </p:cNvSpPr>
          <p:nvPr/>
        </p:nvSpPr>
        <p:spPr>
          <a:xfrm>
            <a:off x="640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Chargement des données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-2">
            <a:extLst>
              <a:ext uri="{FF2B5EF4-FFF2-40B4-BE49-F238E27FC236}">
                <a16:creationId xmlns:a16="http://schemas.microsoft.com/office/drawing/2014/main" id="{29A82F96-F91F-4540-8109-B3EFA210B3C9}"/>
              </a:ext>
            </a:extLst>
          </p:cNvPr>
          <p:cNvSpPr>
            <a:spLocks noGrp="1"/>
          </p:cNvSpPr>
          <p:nvPr/>
        </p:nvSpPr>
        <p:spPr>
          <a:xfrm>
            <a:off x="3076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tep-num-2">
            <a:extLst>
              <a:ext uri="{FF2B5EF4-FFF2-40B4-BE49-F238E27FC236}">
                <a16:creationId xmlns:a16="http://schemas.microsoft.com/office/drawing/2014/main" id="{4B1915A5-78EE-4D9B-AD3E-26E7A8DAFB0B}"/>
              </a:ext>
            </a:extLst>
          </p:cNvPr>
          <p:cNvSpPr>
            <a:spLocks noGrp="1"/>
          </p:cNvSpPr>
          <p:nvPr/>
        </p:nvSpPr>
        <p:spPr>
          <a:xfrm>
            <a:off x="3305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step-title-2">
            <a:extLst>
              <a:ext uri="{FF2B5EF4-FFF2-40B4-BE49-F238E27FC236}">
                <a16:creationId xmlns:a16="http://schemas.microsoft.com/office/drawing/2014/main" id="{C0C14F81-513E-406B-8F8A-FAF2E6099650}"/>
              </a:ext>
            </a:extLst>
          </p:cNvPr>
          <p:cNvSpPr>
            <a:spLocks noGrp="1"/>
          </p:cNvSpPr>
          <p:nvPr/>
        </p:nvSpPr>
        <p:spPr>
          <a:xfrm>
            <a:off x="2468880" y="3602736"/>
            <a:ext cx="2064031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Chargement du modèle pour le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transfer</a:t>
            </a: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learning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ep-3">
            <a:extLst>
              <a:ext uri="{FF2B5EF4-FFF2-40B4-BE49-F238E27FC236}">
                <a16:creationId xmlns:a16="http://schemas.microsoft.com/office/drawing/2014/main" id="{1C3DE929-28F2-4C0E-810E-4B49F3A0220C}"/>
              </a:ext>
            </a:extLst>
          </p:cNvPr>
          <p:cNvSpPr>
            <a:spLocks noGrp="1"/>
          </p:cNvSpPr>
          <p:nvPr/>
        </p:nvSpPr>
        <p:spPr>
          <a:xfrm>
            <a:off x="5362956" y="2322576"/>
            <a:ext cx="1069848" cy="1069848"/>
          </a:xfrm>
          <a:prstGeom prst="ellipse">
            <a:avLst/>
          </a:prstGeom>
          <a:solidFill>
            <a:srgbClr val="0C4A52"/>
          </a:solidFill>
          <a:ln w="19050">
            <a:solidFill>
              <a:srgbClr val="0C4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tep-num-3">
            <a:extLst>
              <a:ext uri="{FF2B5EF4-FFF2-40B4-BE49-F238E27FC236}">
                <a16:creationId xmlns:a16="http://schemas.microsoft.com/office/drawing/2014/main" id="{2E98C73A-545D-46D1-9E57-226B93C62765}"/>
              </a:ext>
            </a:extLst>
          </p:cNvPr>
          <p:cNvSpPr>
            <a:spLocks noGrp="1"/>
          </p:cNvSpPr>
          <p:nvPr/>
        </p:nvSpPr>
        <p:spPr>
          <a:xfrm>
            <a:off x="5591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C0816FB0-BB20-4B12-BA49-77190D2B6D8F}"/>
              </a:ext>
            </a:extLst>
          </p:cNvPr>
          <p:cNvSpPr>
            <a:spLocks noGrp="1"/>
          </p:cNvSpPr>
          <p:nvPr/>
        </p:nvSpPr>
        <p:spPr>
          <a:xfrm>
            <a:off x="5212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 dirty="0">
                <a:solidFill>
                  <a:srgbClr val="0C4A52"/>
                </a:solidFill>
                <a:latin typeface="Aptos"/>
                <a:ea typeface="Aptos"/>
                <a:cs typeface="Aptos"/>
              </a:rPr>
              <a:t>Extraction des </a:t>
            </a:r>
            <a:r>
              <a:rPr lang="fr-FR" sz="1350" b="1" dirty="0" err="1">
                <a:solidFill>
                  <a:srgbClr val="0C4A52"/>
                </a:solidFill>
                <a:latin typeface="Aptos"/>
                <a:ea typeface="Aptos"/>
                <a:cs typeface="Aptos"/>
              </a:rPr>
              <a:t>features</a:t>
            </a:r>
            <a:endParaRPr sz="1350" b="1" dirty="0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-4">
            <a:extLst>
              <a:ext uri="{FF2B5EF4-FFF2-40B4-BE49-F238E27FC236}">
                <a16:creationId xmlns:a16="http://schemas.microsoft.com/office/drawing/2014/main" id="{CE2AE0B4-C5B6-4198-923C-93E0DA278F79}"/>
              </a:ext>
            </a:extLst>
          </p:cNvPr>
          <p:cNvSpPr>
            <a:spLocks noGrp="1"/>
          </p:cNvSpPr>
          <p:nvPr/>
        </p:nvSpPr>
        <p:spPr>
          <a:xfrm>
            <a:off x="7648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tep-num-4">
            <a:extLst>
              <a:ext uri="{FF2B5EF4-FFF2-40B4-BE49-F238E27FC236}">
                <a16:creationId xmlns:a16="http://schemas.microsoft.com/office/drawing/2014/main" id="{17BAB8A6-508C-4D8C-A91F-1F2A16EF7636}"/>
              </a:ext>
            </a:extLst>
          </p:cNvPr>
          <p:cNvSpPr>
            <a:spLocks noGrp="1"/>
          </p:cNvSpPr>
          <p:nvPr/>
        </p:nvSpPr>
        <p:spPr>
          <a:xfrm>
            <a:off x="7877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step-title-4">
            <a:extLst>
              <a:ext uri="{FF2B5EF4-FFF2-40B4-BE49-F238E27FC236}">
                <a16:creationId xmlns:a16="http://schemas.microsoft.com/office/drawing/2014/main" id="{1AC0B4F0-2673-44C7-891D-717B0AA4881D}"/>
              </a:ext>
            </a:extLst>
          </p:cNvPr>
          <p:cNvSpPr>
            <a:spLocks noGrp="1"/>
          </p:cNvSpPr>
          <p:nvPr/>
        </p:nvSpPr>
        <p:spPr>
          <a:xfrm>
            <a:off x="7498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PCA</a:t>
            </a:r>
            <a:endParaRPr sz="1350" b="1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tep-5">
            <a:extLst>
              <a:ext uri="{FF2B5EF4-FFF2-40B4-BE49-F238E27FC236}">
                <a16:creationId xmlns:a16="http://schemas.microsoft.com/office/drawing/2014/main" id="{BE042ED4-BEBA-4D49-B07D-3D35A50CA5B3}"/>
              </a:ext>
            </a:extLst>
          </p:cNvPr>
          <p:cNvSpPr>
            <a:spLocks noGrp="1"/>
          </p:cNvSpPr>
          <p:nvPr/>
        </p:nvSpPr>
        <p:spPr>
          <a:xfrm>
            <a:off x="9934956" y="2322576"/>
            <a:ext cx="1069848" cy="1069848"/>
          </a:xfrm>
          <a:prstGeom prst="ellipse">
            <a:avLst/>
          </a:prstGeom>
          <a:solidFill>
            <a:srgbClr val="FFFDF8"/>
          </a:solidFill>
          <a:ln w="19050">
            <a:solidFill>
              <a:srgbClr val="2B7A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ep-num-5">
            <a:extLst>
              <a:ext uri="{FF2B5EF4-FFF2-40B4-BE49-F238E27FC236}">
                <a16:creationId xmlns:a16="http://schemas.microsoft.com/office/drawing/2014/main" id="{09DFC19D-7AFF-4582-8E1D-C2DAFAE58321}"/>
              </a:ext>
            </a:extLst>
          </p:cNvPr>
          <p:cNvSpPr>
            <a:spLocks noGrp="1"/>
          </p:cNvSpPr>
          <p:nvPr/>
        </p:nvSpPr>
        <p:spPr>
          <a:xfrm>
            <a:off x="10163556" y="2578608"/>
            <a:ext cx="612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step-title-5">
            <a:extLst>
              <a:ext uri="{FF2B5EF4-FFF2-40B4-BE49-F238E27FC236}">
                <a16:creationId xmlns:a16="http://schemas.microsoft.com/office/drawing/2014/main" id="{78AD88DC-EECC-4E26-A7A4-92FFA12432C0}"/>
              </a:ext>
            </a:extLst>
          </p:cNvPr>
          <p:cNvSpPr>
            <a:spLocks noGrp="1"/>
          </p:cNvSpPr>
          <p:nvPr/>
        </p:nvSpPr>
        <p:spPr>
          <a:xfrm>
            <a:off x="9784080" y="3602736"/>
            <a:ext cx="1371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ctr">
              <a:defRPr sz="135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lang="fr-FR" sz="135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Sauvegarde</a:t>
            </a:r>
            <a:endParaRPr sz="1350" b="1">
              <a:solidFill>
                <a:srgbClr val="0C4A5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8" name="Connecteur droit avec flèche 27"/>
          <p:cNvCxnSpPr>
            <a:stCxn id="4" idx="6"/>
            <a:endCxn id="8" idx="2"/>
          </p:cNvCxnSpPr>
          <p:nvPr/>
        </p:nvCxnSpPr>
        <p:spPr>
          <a:xfrm>
            <a:off x="1860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29" name="Connecteur droit avec flèche 28"/>
          <p:cNvCxnSpPr>
            <a:stCxn id="8" idx="6"/>
            <a:endCxn id="12" idx="2"/>
          </p:cNvCxnSpPr>
          <p:nvPr/>
        </p:nvCxnSpPr>
        <p:spPr>
          <a:xfrm>
            <a:off x="4146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30" name="Connecteur droit avec flèche 29"/>
          <p:cNvCxnSpPr>
            <a:stCxn id="12" idx="6"/>
            <a:endCxn id="16" idx="2"/>
          </p:cNvCxnSpPr>
          <p:nvPr/>
        </p:nvCxnSpPr>
        <p:spPr>
          <a:xfrm>
            <a:off x="6432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cxnSp>
        <p:nvCxnSpPr>
          <p:cNvPr id="31" name="Connecteur droit avec flèche 30"/>
          <p:cNvCxnSpPr>
            <a:stCxn id="16" idx="6"/>
            <a:endCxn id="20" idx="2"/>
          </p:cNvCxnSpPr>
          <p:nvPr/>
        </p:nvCxnSpPr>
        <p:spPr>
          <a:xfrm>
            <a:off x="8718804" y="2852928"/>
            <a:ext cx="1216152" cy="0"/>
          </a:xfrm>
          <a:prstGeom prst="straightConnector1">
            <a:avLst/>
          </a:prstGeom>
          <a:ln w="28575">
            <a:solidFill>
              <a:srgbClr val="E87938"/>
            </a:solidFill>
            <a:prstDash val="solid"/>
            <a:tailEnd type="arrow" w="sm" len="sm"/>
          </a:ln>
        </p:spPr>
      </p:cxnSp>
      <p:sp>
        <p:nvSpPr>
          <p:cNvPr id="33" name="pipeline-band">
            <a:extLst>
              <a:ext uri="{FF2B5EF4-FFF2-40B4-BE49-F238E27FC236}">
                <a16:creationId xmlns:a16="http://schemas.microsoft.com/office/drawing/2014/main" id="{73FEB8E2-4AF9-4A14-B607-824193E6A6CD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685800"/>
          </a:xfrm>
          <a:prstGeom prst="rect">
            <a:avLst/>
          </a:prstGeom>
          <a:solidFill>
            <a:srgbClr val="D8E7E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pipeline-band-text">
            <a:extLst>
              <a:ext uri="{FF2B5EF4-FFF2-40B4-BE49-F238E27FC236}">
                <a16:creationId xmlns:a16="http://schemas.microsoft.com/office/drawing/2014/main" id="{FE85696C-DA07-41F5-9062-223E905B0DB8}"/>
              </a:ext>
            </a:extLst>
          </p:cNvPr>
          <p:cNvSpPr>
            <a:spLocks noGrp="1"/>
          </p:cNvSpPr>
          <p:nvPr/>
        </p:nvSpPr>
        <p:spPr>
          <a:xfrm>
            <a:off x="933450" y="5067300"/>
            <a:ext cx="1032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C4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A52"/>
                </a:solidFill>
                <a:latin typeface="Aptos"/>
                <a:ea typeface="Aptos"/>
                <a:cs typeface="Aptos"/>
              </a:rPr>
              <a:t>Même logique, de local au Cloud : distribution, chemins et ressources changent.</a:t>
            </a:r>
          </a:p>
        </p:txBody>
      </p:sp>
      <p:sp>
        <p:nvSpPr>
          <p:cNvPr id="35" name="footer-rule">
            <a:extLst>
              <a:ext uri="{FF2B5EF4-FFF2-40B4-BE49-F238E27FC236}">
                <a16:creationId xmlns:a16="http://schemas.microsoft.com/office/drawing/2014/main" id="{2AB869A5-88E5-4B5C-881B-E2D388B54112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footer-source">
            <a:extLst>
              <a:ext uri="{FF2B5EF4-FFF2-40B4-BE49-F238E27FC236}">
                <a16:creationId xmlns:a16="http://schemas.microsoft.com/office/drawing/2014/main" id="{AA0BA8D6-7C5D-4AA6-8CE0-3E43E3FA957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Architecture de référence du projet OpenClassrooms · sources p. </a:t>
            </a: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page-number">
            <a:extLst>
              <a:ext uri="{FF2B5EF4-FFF2-40B4-BE49-F238E27FC236}">
                <a16:creationId xmlns:a16="http://schemas.microsoft.com/office/drawing/2014/main" id="{3623F894-DED0-4EBD-9092-3359BE531E2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11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27720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177E0DD0-AC6C-477B-9416-ED6AD258ABB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1050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AXE 3 · SPARK &amp; RÉDUCTION</a:t>
            </a:r>
            <a:endParaRPr sz="1050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87FDA56A-B8D2-4008-8105-6B94D2646E7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defRPr>
            </a:pPr>
            <a:r>
              <a:rPr lang="fr-FR"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Spark orchestre, pandas UDF vectorise</a:t>
            </a:r>
            <a:r>
              <a:rPr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fr-FR" sz="2700" b="1">
                <a:solidFill>
                  <a:srgbClr val="0C4A52"/>
                </a:solidFill>
                <a:latin typeface="Aptos Display"/>
                <a:ea typeface="Aptos Display"/>
                <a:cs typeface="Aptos Display"/>
              </a:rPr>
              <a:t>PCA réduit</a:t>
            </a:r>
            <a:endParaRPr sz="2700" b="1">
              <a:solidFill>
                <a:srgbClr val="0C4A5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headline-rule">
            <a:extLst>
              <a:ext uri="{FF2B5EF4-FFF2-40B4-BE49-F238E27FC236}">
                <a16:creationId xmlns:a16="http://schemas.microsoft.com/office/drawing/2014/main" id="{1F964D0E-CB38-4DD4-BA35-CE10B94EF2A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38200" cy="38100"/>
          </a:xfrm>
          <a:prstGeom prst="rect">
            <a:avLst/>
          </a:prstGeom>
          <a:solidFill>
            <a:srgbClr val="E8793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footer-rule">
            <a:extLst>
              <a:ext uri="{FF2B5EF4-FFF2-40B4-BE49-F238E27FC236}">
                <a16:creationId xmlns:a16="http://schemas.microsoft.com/office/drawing/2014/main" id="{E7C1FB37-F42A-4128-A74A-68E8450C4275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9525"/>
          </a:xfrm>
          <a:prstGeom prst="rect">
            <a:avLst/>
          </a:prstGeom>
          <a:solidFill>
            <a:srgbClr val="E9DED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footer-source">
            <a:extLst>
              <a:ext uri="{FF2B5EF4-FFF2-40B4-BE49-F238E27FC236}">
                <a16:creationId xmlns:a16="http://schemas.microsoft.com/office/drawing/2014/main" id="{A2BB86A7-EF01-4E9E-AA17-4318BEFA591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07174"/>
                </a:solidFill>
                <a:latin typeface="Aptos"/>
                <a:ea typeface="Aptos"/>
                <a:cs typeface="Aptos"/>
              </a:defRPr>
            </a:pPr>
            <a:r>
              <a:rPr lang="fr-FR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Sources : documentation Apache Spark </a:t>
            </a:r>
            <a:r>
              <a:rPr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· </a:t>
            </a:r>
            <a:r>
              <a:rPr lang="da-DK" sz="750" b="0">
                <a:solidFill>
                  <a:srgbClr val="607174"/>
                </a:solidFill>
                <a:latin typeface="Aptos"/>
                <a:ea typeface="Aptos"/>
                <a:cs typeface="Aptos"/>
              </a:rPr>
              <a:t>pandas UDF, Arrow et PCA</a:t>
            </a:r>
            <a:endParaRPr sz="750" b="0">
              <a:solidFill>
                <a:srgbClr val="60717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page-number">
            <a:extLst>
              <a:ext uri="{FF2B5EF4-FFF2-40B4-BE49-F238E27FC236}">
                <a16:creationId xmlns:a16="http://schemas.microsoft.com/office/drawing/2014/main" id="{9604E5B9-105F-439B-ABDA-D31A8584B2C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87938"/>
                </a:solidFill>
                <a:latin typeface="Aptos"/>
                <a:ea typeface="Aptos"/>
                <a:cs typeface="Aptos"/>
              </a:defRPr>
            </a:pPr>
            <a:r>
              <a:rPr lang="fr-FR" sz="825" b="1">
                <a:solidFill>
                  <a:srgbClr val="E87938"/>
                </a:solidFill>
                <a:latin typeface="Aptos"/>
                <a:ea typeface="Aptos"/>
                <a:cs typeface="Aptos"/>
              </a:rPr>
              <a:t>12</a:t>
            </a:r>
            <a:endParaRPr sz="825" b="1">
              <a:solidFill>
                <a:srgbClr val="E879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age-num-1"/>
          <p:cNvSpPr txBox="1"/>
          <p:nvPr/>
        </p:nvSpPr>
        <p:spPr>
          <a:xfrm>
            <a:off x="68580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29" name="stage-label-1"/>
          <p:cNvSpPr txBox="1"/>
          <p:nvPr/>
        </p:nvSpPr>
        <p:spPr>
          <a:xfrm>
            <a:off x="1463040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SPARK</a:t>
            </a:r>
          </a:p>
        </p:txBody>
      </p:sp>
      <p:sp>
        <p:nvSpPr>
          <p:cNvPr id="30" name="stage-sub-1"/>
          <p:cNvSpPr txBox="1"/>
          <p:nvPr/>
        </p:nvSpPr>
        <p:spPr>
          <a:xfrm>
            <a:off x="68580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Distribuer le calcul</a:t>
            </a:r>
          </a:p>
        </p:txBody>
      </p:sp>
      <p:sp>
        <p:nvSpPr>
          <p:cNvPr id="31" name="stage-rule-1"/>
          <p:cNvSpPr/>
          <p:nvPr/>
        </p:nvSpPr>
        <p:spPr>
          <a:xfrm>
            <a:off x="68580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tage-1-bullet-1"/>
          <p:cNvSpPr txBox="1"/>
          <p:nvPr/>
        </p:nvSpPr>
        <p:spPr>
          <a:xfrm>
            <a:off x="68580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DataFrame d’images partitionné</a:t>
            </a:r>
          </a:p>
        </p:txBody>
      </p:sp>
      <p:sp>
        <p:nvSpPr>
          <p:cNvPr id="33" name="stage-1-bullet-2"/>
          <p:cNvSpPr txBox="1"/>
          <p:nvPr/>
        </p:nvSpPr>
        <p:spPr>
          <a:xfrm>
            <a:off x="68580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— 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Tâches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exécutées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sur les </a:t>
            </a:r>
            <a:r>
              <a:rPr lang="fr-FR" sz="1350" b="0" dirty="0">
                <a:solidFill>
                  <a:srgbClr val="17323A"/>
                </a:solidFill>
                <a:latin typeface="Aptos"/>
              </a:rPr>
              <a:t>nœuds </a:t>
            </a:r>
            <a:r>
              <a:rPr lang="fr-FR" sz="1350" b="0" dirty="0" err="1">
                <a:solidFill>
                  <a:srgbClr val="17323A"/>
                </a:solidFill>
                <a:latin typeface="Aptos"/>
              </a:rPr>
              <a:t>workers</a:t>
            </a:r>
            <a:endParaRPr sz="1350" b="0" dirty="0">
              <a:solidFill>
                <a:srgbClr val="17323A"/>
              </a:solidFill>
              <a:latin typeface="Aptos"/>
            </a:endParaRPr>
          </a:p>
        </p:txBody>
      </p:sp>
      <p:sp>
        <p:nvSpPr>
          <p:cNvPr id="34" name="stage-1-bullet-3"/>
          <p:cNvSpPr txBox="1"/>
          <p:nvPr/>
        </p:nvSpPr>
        <p:spPr>
          <a:xfrm>
            <a:off x="68580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Une ligne de sortie par image</a:t>
            </a:r>
          </a:p>
        </p:txBody>
      </p:sp>
      <p:sp>
        <p:nvSpPr>
          <p:cNvPr id="35" name="stage-num-2"/>
          <p:cNvSpPr txBox="1"/>
          <p:nvPr/>
        </p:nvSpPr>
        <p:spPr>
          <a:xfrm>
            <a:off x="416052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36" name="stage-label-2"/>
          <p:cNvSpPr txBox="1"/>
          <p:nvPr/>
        </p:nvSpPr>
        <p:spPr>
          <a:xfrm>
            <a:off x="4937759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PANDAS UDF</a:t>
            </a:r>
          </a:p>
        </p:txBody>
      </p:sp>
      <p:sp>
        <p:nvSpPr>
          <p:cNvPr id="37" name="stage-sub-2"/>
          <p:cNvSpPr txBox="1"/>
          <p:nvPr/>
        </p:nvSpPr>
        <p:spPr>
          <a:xfrm>
            <a:off x="416052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Vectoriser l’inférence</a:t>
            </a:r>
          </a:p>
        </p:txBody>
      </p:sp>
      <p:sp>
        <p:nvSpPr>
          <p:cNvPr id="38" name="stage-rule-2"/>
          <p:cNvSpPr/>
          <p:nvPr/>
        </p:nvSpPr>
        <p:spPr>
          <a:xfrm>
            <a:off x="416052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tage-2-bullet-1"/>
          <p:cNvSpPr txBox="1"/>
          <p:nvPr/>
        </p:nvSpPr>
        <p:spPr>
          <a:xfrm>
            <a:off x="416052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Lots Arrow entre JVM et Python</a:t>
            </a:r>
          </a:p>
        </p:txBody>
      </p:sp>
      <p:sp>
        <p:nvSpPr>
          <p:cNvPr id="40" name="stage-2-bullet-2"/>
          <p:cNvSpPr txBox="1"/>
          <p:nvPr/>
        </p:nvSpPr>
        <p:spPr>
          <a:xfrm>
            <a:off x="416052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MobileNetV2 appliqué bloc par bloc</a:t>
            </a:r>
          </a:p>
        </p:txBody>
      </p:sp>
      <p:sp>
        <p:nvSpPr>
          <p:cNvPr id="41" name="stage-2-bullet-3"/>
          <p:cNvSpPr txBox="1"/>
          <p:nvPr/>
        </p:nvSpPr>
        <p:spPr>
          <a:xfrm>
            <a:off x="416052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Retour d’un vecteur « features »</a:t>
            </a:r>
          </a:p>
        </p:txBody>
      </p:sp>
      <p:sp>
        <p:nvSpPr>
          <p:cNvPr id="42" name="stage-num-3"/>
          <p:cNvSpPr txBox="1"/>
          <p:nvPr/>
        </p:nvSpPr>
        <p:spPr>
          <a:xfrm>
            <a:off x="7635240" y="201168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43" name="stage-label-3"/>
          <p:cNvSpPr txBox="1"/>
          <p:nvPr/>
        </p:nvSpPr>
        <p:spPr>
          <a:xfrm>
            <a:off x="8412480" y="202996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C4A52"/>
                </a:solidFill>
                <a:latin typeface="Aptos"/>
              </a:rPr>
              <a:t>PCA SPARK ML</a:t>
            </a:r>
          </a:p>
        </p:txBody>
      </p:sp>
      <p:sp>
        <p:nvSpPr>
          <p:cNvPr id="44" name="stage-sub-3"/>
          <p:cNvSpPr txBox="1"/>
          <p:nvPr/>
        </p:nvSpPr>
        <p:spPr>
          <a:xfrm>
            <a:off x="7635240" y="263347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C4A52"/>
                </a:solidFill>
                <a:latin typeface="Aptos Display"/>
              </a:rPr>
              <a:t>Réduire les vecteurs</a:t>
            </a:r>
          </a:p>
        </p:txBody>
      </p:sp>
      <p:sp>
        <p:nvSpPr>
          <p:cNvPr id="45" name="stage-rule-3"/>
          <p:cNvSpPr/>
          <p:nvPr/>
        </p:nvSpPr>
        <p:spPr>
          <a:xfrm>
            <a:off x="7635240" y="3154680"/>
            <a:ext cx="713232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tage-3-bullet-1"/>
          <p:cNvSpPr txBox="1"/>
          <p:nvPr/>
        </p:nvSpPr>
        <p:spPr>
          <a:xfrm>
            <a:off x="7635240" y="34381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PCA(k) ajustée sur « features »</a:t>
            </a:r>
          </a:p>
        </p:txBody>
      </p:sp>
      <p:sp>
        <p:nvSpPr>
          <p:cNvPr id="47" name="stage-3-bullet-2"/>
          <p:cNvSpPr txBox="1"/>
          <p:nvPr/>
        </p:nvSpPr>
        <p:spPr>
          <a:xfrm>
            <a:off x="7635240" y="4014215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—  transform()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produit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«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pca_features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»</a:t>
            </a:r>
          </a:p>
        </p:txBody>
      </p:sp>
      <p:sp>
        <p:nvSpPr>
          <p:cNvPr id="48" name="stage-3-bullet-3"/>
          <p:cNvSpPr txBox="1"/>
          <p:nvPr/>
        </p:nvSpPr>
        <p:spPr>
          <a:xfrm>
            <a:off x="7635240" y="459028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—  Variance expliquée pour choisir k</a:t>
            </a:r>
          </a:p>
        </p:txBody>
      </p:sp>
      <p:sp>
        <p:nvSpPr>
          <p:cNvPr id="49" name="divider-1"/>
          <p:cNvSpPr/>
          <p:nvPr/>
        </p:nvSpPr>
        <p:spPr>
          <a:xfrm>
            <a:off x="3822191" y="2011680"/>
            <a:ext cx="18288" cy="35661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divider-2"/>
          <p:cNvSpPr/>
          <p:nvPr/>
        </p:nvSpPr>
        <p:spPr>
          <a:xfrm>
            <a:off x="7296912" y="2011680"/>
            <a:ext cx="18288" cy="35661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park-flow-band"/>
          <p:cNvSpPr/>
          <p:nvPr/>
        </p:nvSpPr>
        <p:spPr>
          <a:xfrm>
            <a:off x="685800" y="5413248"/>
            <a:ext cx="10817352" cy="566928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park-flow-text"/>
          <p:cNvSpPr txBox="1"/>
          <p:nvPr/>
        </p:nvSpPr>
        <p:spPr>
          <a:xfrm>
            <a:off x="914400" y="5577840"/>
            <a:ext cx="1036015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C4A52"/>
                </a:solidFill>
                <a:latin typeface="Aptos"/>
              </a:rPr>
              <a:t>images  →  DataFrame Spark  →  pandas UDF + MobileNetV2  →  features  →  PCA Spark ML  →  pca_features  →  S3</a:t>
            </a:r>
          </a:p>
        </p:txBody>
      </p:sp>
    </p:spTree>
    <p:extLst>
      <p:ext uri="{BB962C8B-B14F-4D97-AF65-F5344CB8AC3E}">
        <p14:creationId xmlns:p14="http://schemas.microsoft.com/office/powerpoint/2010/main" val="188988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BF088DC5-2CA4-B989-948A-8655A25C4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1"/>
          <a:stretch>
            <a:fillRect/>
          </a:stretch>
        </p:blipFill>
        <p:spPr>
          <a:xfrm>
            <a:off x="7253837" y="2913964"/>
            <a:ext cx="4876026" cy="2986287"/>
          </a:xfrm>
          <a:prstGeom prst="rect">
            <a:avLst/>
          </a:prstGeom>
        </p:spPr>
      </p:pic>
      <p:sp>
        <p:nvSpPr>
          <p:cNvPr id="2" name="kicker"/>
          <p:cNvSpPr txBox="1"/>
          <p:nvPr/>
        </p:nvSpPr>
        <p:spPr>
          <a:xfrm>
            <a:off x="384556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LOCALE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384556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</a:t>
            </a:r>
            <a:r>
              <a:rPr sz="2700" b="1" dirty="0" err="1">
                <a:solidFill>
                  <a:srgbClr val="0C4A52"/>
                </a:solidFill>
                <a:latin typeface="Aptos Display"/>
              </a:rPr>
              <a:t>en</a:t>
            </a:r>
            <a:r>
              <a:rPr sz="2700" b="1" dirty="0">
                <a:solidFill>
                  <a:srgbClr val="0C4A52"/>
                </a:solidFill>
                <a:latin typeface="Aptos Display"/>
              </a:rPr>
              <a:t> local</a:t>
            </a:r>
          </a:p>
        </p:txBody>
      </p:sp>
      <p:sp>
        <p:nvSpPr>
          <p:cNvPr id="4" name="headline-rule"/>
          <p:cNvSpPr/>
          <p:nvPr/>
        </p:nvSpPr>
        <p:spPr>
          <a:xfrm>
            <a:off x="384556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of-label"/>
          <p:cNvSpPr txBox="1"/>
          <p:nvPr/>
        </p:nvSpPr>
        <p:spPr>
          <a:xfrm>
            <a:off x="384556" y="19933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CE QUI EST VALIDÉ</a:t>
            </a:r>
          </a:p>
        </p:txBody>
      </p:sp>
      <p:sp>
        <p:nvSpPr>
          <p:cNvPr id="6" name="proof-lead"/>
          <p:cNvSpPr txBox="1"/>
          <p:nvPr/>
        </p:nvSpPr>
        <p:spPr>
          <a:xfrm>
            <a:off x="384556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C4A52"/>
                </a:solidFill>
                <a:latin typeface="Aptos Display"/>
              </a:rPr>
              <a:t>L’exécution locale confirme que toute la chaîne s’enchaîne sans erreur, du chargement des images à la production des résultats.</a:t>
            </a:r>
          </a:p>
        </p:txBody>
      </p:sp>
      <p:sp>
        <p:nvSpPr>
          <p:cNvPr id="7" name="proof-num-0"/>
          <p:cNvSpPr txBox="1"/>
          <p:nvPr/>
        </p:nvSpPr>
        <p:spPr>
          <a:xfrm>
            <a:off x="384556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/>
          <p:cNvSpPr txBox="1"/>
          <p:nvPr/>
        </p:nvSpPr>
        <p:spPr>
          <a:xfrm>
            <a:off x="905764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Spark local initialise la session et traite l’échantillon.</a:t>
            </a:r>
          </a:p>
        </p:txBody>
      </p:sp>
      <p:sp>
        <p:nvSpPr>
          <p:cNvPr id="9" name="proof-num-1"/>
          <p:cNvSpPr txBox="1"/>
          <p:nvPr/>
        </p:nvSpPr>
        <p:spPr>
          <a:xfrm>
            <a:off x="384556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/>
          <p:cNvSpPr txBox="1"/>
          <p:nvPr/>
        </p:nvSpPr>
        <p:spPr>
          <a:xfrm>
            <a:off x="905764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MobileNetV2 et la pandas UDF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produisent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un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vecteur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de features par image.</a:t>
            </a:r>
          </a:p>
        </p:txBody>
      </p:sp>
      <p:sp>
        <p:nvSpPr>
          <p:cNvPr id="11" name="proof-num-2"/>
          <p:cNvSpPr txBox="1"/>
          <p:nvPr/>
        </p:nvSpPr>
        <p:spPr>
          <a:xfrm>
            <a:off x="384556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/>
          <p:cNvSpPr txBox="1"/>
          <p:nvPr/>
        </p:nvSpPr>
        <p:spPr>
          <a:xfrm>
            <a:off x="905764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dirty="0">
                <a:solidFill>
                  <a:srgbClr val="17323A"/>
                </a:solidFill>
                <a:latin typeface="Aptos"/>
              </a:rPr>
              <a:t>La PCA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génère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pca_features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 et la sortie est </a:t>
            </a:r>
            <a:r>
              <a:rPr sz="1350" b="0" dirty="0" err="1">
                <a:solidFill>
                  <a:srgbClr val="17323A"/>
                </a:solidFill>
                <a:latin typeface="Aptos"/>
              </a:rPr>
              <a:t>sauvegardée</a:t>
            </a:r>
            <a:r>
              <a:rPr sz="1350" b="0" dirty="0">
                <a:solidFill>
                  <a:srgbClr val="17323A"/>
                </a:solidFill>
                <a:latin typeface="Aptos"/>
              </a:rPr>
              <a:t>.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223E84F-9AD1-1FD9-1DAA-0595ED65E1A2}"/>
              </a:ext>
            </a:extLst>
          </p:cNvPr>
          <p:cNvGrpSpPr/>
          <p:nvPr/>
        </p:nvGrpSpPr>
        <p:grpSpPr>
          <a:xfrm>
            <a:off x="685800" y="5861304"/>
            <a:ext cx="10817352" cy="493776"/>
            <a:chOff x="685800" y="5596128"/>
            <a:chExt cx="10817352" cy="493776"/>
          </a:xfrm>
        </p:grpSpPr>
        <p:sp>
          <p:nvSpPr>
            <p:cNvPr id="17" name="success-band"/>
            <p:cNvSpPr/>
            <p:nvPr/>
          </p:nvSpPr>
          <p:spPr>
            <a:xfrm>
              <a:off x="685800" y="5596128"/>
              <a:ext cx="10817352" cy="493776"/>
            </a:xfrm>
            <a:prstGeom prst="rect">
              <a:avLst/>
            </a:prstGeom>
            <a:solidFill>
              <a:srgbClr val="D8E7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success-text"/>
            <p:cNvSpPr txBox="1"/>
            <p:nvPr/>
          </p:nvSpPr>
          <p:spPr>
            <a:xfrm>
              <a:off x="914400" y="5742432"/>
              <a:ext cx="10360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0C4A52"/>
                  </a:solidFill>
                  <a:latin typeface="Aptos"/>
                </a:rPr>
                <a:t>RÉSULTAT OBTENU — le schéma est conforme et les données produites sont exploitables.</a:t>
              </a:r>
            </a:p>
          </p:txBody>
        </p:sp>
      </p:grpSp>
      <p:sp>
        <p:nvSpPr>
          <p:cNvPr id="19" name="footer-rule"/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/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locale et résultats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13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D40A2FF8-7145-02F5-C32E-58641248C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497" y="91230"/>
            <a:ext cx="8222425" cy="283547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F25D9A5-D085-70DC-934B-C62D683EF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03" y="2926137"/>
            <a:ext cx="3405728" cy="23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04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B09D-096D-A088-AF3A-BD2FF21B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477D7E7C-AED6-528D-598E-E664EC68BE2F}"/>
              </a:ext>
            </a:extLst>
          </p:cNvPr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CLOUD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B234F694-B8C2-31E2-C23E-B6C517ED52DC}"/>
              </a:ext>
            </a:extLst>
          </p:cNvPr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sur le cloud</a:t>
            </a:r>
          </a:p>
        </p:txBody>
      </p:sp>
      <p:sp>
        <p:nvSpPr>
          <p:cNvPr id="4" name="headline-rule">
            <a:extLst>
              <a:ext uri="{FF2B5EF4-FFF2-40B4-BE49-F238E27FC236}">
                <a16:creationId xmlns:a16="http://schemas.microsoft.com/office/drawing/2014/main" id="{181BFBBA-1A1D-43C6-3B5F-2007339B2AC8}"/>
              </a:ext>
            </a:extLst>
          </p:cNvPr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oof-lead">
            <a:extLst>
              <a:ext uri="{FF2B5EF4-FFF2-40B4-BE49-F238E27FC236}">
                <a16:creationId xmlns:a16="http://schemas.microsoft.com/office/drawing/2014/main" id="{9EA8A816-EC9B-758D-51BB-8AF5B8D3A770}"/>
              </a:ext>
            </a:extLst>
          </p:cNvPr>
          <p:cNvSpPr txBox="1"/>
          <p:nvPr/>
        </p:nvSpPr>
        <p:spPr>
          <a:xfrm>
            <a:off x="685800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C4A52"/>
                </a:solidFill>
                <a:latin typeface="Aptos Display"/>
              </a:rPr>
              <a:t>Déployée sur AWS EMR, la même logique métier s’exécute de manière distribuée avec lecture et écriture dans S3.</a:t>
            </a:r>
          </a:p>
        </p:txBody>
      </p:sp>
      <p:sp>
        <p:nvSpPr>
          <p:cNvPr id="7" name="proof-num-0">
            <a:extLst>
              <a:ext uri="{FF2B5EF4-FFF2-40B4-BE49-F238E27FC236}">
                <a16:creationId xmlns:a16="http://schemas.microsoft.com/office/drawing/2014/main" id="{525AF294-2AB3-7E68-0694-A6C80D4C0A79}"/>
              </a:ext>
            </a:extLst>
          </p:cNvPr>
          <p:cNvSpPr txBox="1"/>
          <p:nvPr/>
        </p:nvSpPr>
        <p:spPr>
          <a:xfrm>
            <a:off x="685800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>
            <a:extLst>
              <a:ext uri="{FF2B5EF4-FFF2-40B4-BE49-F238E27FC236}">
                <a16:creationId xmlns:a16="http://schemas.microsoft.com/office/drawing/2014/main" id="{78470CA8-17D5-C288-ED85-E7F131BF10F9}"/>
              </a:ext>
            </a:extLst>
          </p:cNvPr>
          <p:cNvSpPr txBox="1"/>
          <p:nvPr/>
        </p:nvSpPr>
        <p:spPr>
          <a:xfrm>
            <a:off x="1207008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S3 alimente le DataFrame Spark réparti entre les executors.</a:t>
            </a:r>
          </a:p>
        </p:txBody>
      </p:sp>
      <p:sp>
        <p:nvSpPr>
          <p:cNvPr id="9" name="proof-num-1">
            <a:extLst>
              <a:ext uri="{FF2B5EF4-FFF2-40B4-BE49-F238E27FC236}">
                <a16:creationId xmlns:a16="http://schemas.microsoft.com/office/drawing/2014/main" id="{C0A81347-6E85-3CD9-3838-225B92B9DD94}"/>
              </a:ext>
            </a:extLst>
          </p:cNvPr>
          <p:cNvSpPr txBox="1"/>
          <p:nvPr/>
        </p:nvSpPr>
        <p:spPr>
          <a:xfrm>
            <a:off x="685800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>
            <a:extLst>
              <a:ext uri="{FF2B5EF4-FFF2-40B4-BE49-F238E27FC236}">
                <a16:creationId xmlns:a16="http://schemas.microsoft.com/office/drawing/2014/main" id="{4553EF78-C6C4-3735-5F63-D3E0B529F93F}"/>
              </a:ext>
            </a:extLst>
          </p:cNvPr>
          <p:cNvSpPr txBox="1"/>
          <p:nvPr/>
        </p:nvSpPr>
        <p:spPr>
          <a:xfrm>
            <a:off x="1207008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La pandas UDF applique MobileNetV2 par lots sur les workers.</a:t>
            </a:r>
          </a:p>
        </p:txBody>
      </p:sp>
      <p:sp>
        <p:nvSpPr>
          <p:cNvPr id="11" name="proof-num-2">
            <a:extLst>
              <a:ext uri="{FF2B5EF4-FFF2-40B4-BE49-F238E27FC236}">
                <a16:creationId xmlns:a16="http://schemas.microsoft.com/office/drawing/2014/main" id="{74EDCD2A-F196-2381-88DE-0A3C00E11F38}"/>
              </a:ext>
            </a:extLst>
          </p:cNvPr>
          <p:cNvSpPr txBox="1"/>
          <p:nvPr/>
        </p:nvSpPr>
        <p:spPr>
          <a:xfrm>
            <a:off x="685800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>
            <a:extLst>
              <a:ext uri="{FF2B5EF4-FFF2-40B4-BE49-F238E27FC236}">
                <a16:creationId xmlns:a16="http://schemas.microsoft.com/office/drawing/2014/main" id="{800D23EA-93C7-8B99-388E-E4D5B6B0907C}"/>
              </a:ext>
            </a:extLst>
          </p:cNvPr>
          <p:cNvSpPr txBox="1"/>
          <p:nvPr/>
        </p:nvSpPr>
        <p:spPr>
          <a:xfrm>
            <a:off x="1207008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PCA Spark ML réduit les features ; Parquet est sauvegardé dans S3.</a:t>
            </a:r>
          </a:p>
        </p:txBody>
      </p:sp>
      <p:sp>
        <p:nvSpPr>
          <p:cNvPr id="19" name="footer-rule">
            <a:extLst>
              <a:ext uri="{FF2B5EF4-FFF2-40B4-BE49-F238E27FC236}">
                <a16:creationId xmlns:a16="http://schemas.microsoft.com/office/drawing/2014/main" id="{F7B8718B-5C80-5597-8689-54D29FDF5F0B}"/>
              </a:ext>
            </a:extLst>
          </p:cNvPr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>
            <a:extLst>
              <a:ext uri="{FF2B5EF4-FFF2-40B4-BE49-F238E27FC236}">
                <a16:creationId xmlns:a16="http://schemas.microsoft.com/office/drawing/2014/main" id="{62E3345E-3692-B732-522B-98890E88C59E}"/>
              </a:ext>
            </a:extLst>
          </p:cNvPr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AWS EMR et résultats S3</a:t>
            </a:r>
          </a:p>
        </p:txBody>
      </p:sp>
      <p:sp>
        <p:nvSpPr>
          <p:cNvPr id="21" name="page-number">
            <a:extLst>
              <a:ext uri="{FF2B5EF4-FFF2-40B4-BE49-F238E27FC236}">
                <a16:creationId xmlns:a16="http://schemas.microsoft.com/office/drawing/2014/main" id="{877F75C1-4498-0423-9E50-3CCEDBB84749}"/>
              </a:ext>
            </a:extLst>
          </p:cNvPr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14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505DEB5-B9A8-FF1C-1CB3-9AE8068BE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4" y="3920772"/>
            <a:ext cx="4327428" cy="236829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B56B5EA-B126-8D0F-DC33-757C74E5A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647" y="4087368"/>
            <a:ext cx="3419657" cy="1758766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FADF8FF-0C9B-D526-632E-68C8513D5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65" y="69126"/>
            <a:ext cx="7603067" cy="377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EXÉCUTION CLOUD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C4A52"/>
                </a:solidFill>
                <a:latin typeface="Aptos Display"/>
              </a:rPr>
              <a:t>La pipeline sur le cloud</a:t>
            </a:r>
          </a:p>
        </p:txBody>
      </p:sp>
      <p:sp>
        <p:nvSpPr>
          <p:cNvPr id="4" name="headline-rule"/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oof-lead"/>
          <p:cNvSpPr txBox="1"/>
          <p:nvPr/>
        </p:nvSpPr>
        <p:spPr>
          <a:xfrm>
            <a:off x="685800" y="2350008"/>
            <a:ext cx="34290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C4A52"/>
                </a:solidFill>
                <a:latin typeface="Aptos Display"/>
              </a:rPr>
              <a:t>Déployée sur AWS EMR, la même logique métier s’exécute de manière distribuée avec lecture et écriture dans S3.</a:t>
            </a:r>
          </a:p>
        </p:txBody>
      </p:sp>
      <p:sp>
        <p:nvSpPr>
          <p:cNvPr id="7" name="proof-num-0"/>
          <p:cNvSpPr txBox="1"/>
          <p:nvPr/>
        </p:nvSpPr>
        <p:spPr>
          <a:xfrm>
            <a:off x="685800" y="357530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01</a:t>
            </a:r>
          </a:p>
        </p:txBody>
      </p:sp>
      <p:sp>
        <p:nvSpPr>
          <p:cNvPr id="8" name="proof-text-0"/>
          <p:cNvSpPr txBox="1"/>
          <p:nvPr/>
        </p:nvSpPr>
        <p:spPr>
          <a:xfrm>
            <a:off x="1207008" y="3557016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S3 alimente le DataFrame Spark réparti entre les executors.</a:t>
            </a:r>
          </a:p>
        </p:txBody>
      </p:sp>
      <p:sp>
        <p:nvSpPr>
          <p:cNvPr id="9" name="proof-num-1"/>
          <p:cNvSpPr txBox="1"/>
          <p:nvPr/>
        </p:nvSpPr>
        <p:spPr>
          <a:xfrm>
            <a:off x="685800" y="42336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02</a:t>
            </a:r>
          </a:p>
        </p:txBody>
      </p:sp>
      <p:sp>
        <p:nvSpPr>
          <p:cNvPr id="10" name="proof-text-1"/>
          <p:cNvSpPr txBox="1"/>
          <p:nvPr/>
        </p:nvSpPr>
        <p:spPr>
          <a:xfrm>
            <a:off x="1207008" y="4215384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La pandas UDF applique MobileNetV2 par lots sur les workers.</a:t>
            </a:r>
          </a:p>
        </p:txBody>
      </p:sp>
      <p:sp>
        <p:nvSpPr>
          <p:cNvPr id="11" name="proof-num-2"/>
          <p:cNvSpPr txBox="1"/>
          <p:nvPr/>
        </p:nvSpPr>
        <p:spPr>
          <a:xfrm>
            <a:off x="685800" y="48920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7938"/>
                </a:solidFill>
                <a:latin typeface="Aptos"/>
              </a:rPr>
              <a:t>03</a:t>
            </a:r>
          </a:p>
        </p:txBody>
      </p:sp>
      <p:sp>
        <p:nvSpPr>
          <p:cNvPr id="12" name="proof-text-2"/>
          <p:cNvSpPr txBox="1"/>
          <p:nvPr/>
        </p:nvSpPr>
        <p:spPr>
          <a:xfrm>
            <a:off x="1207008" y="4873752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7323A"/>
                </a:solidFill>
                <a:latin typeface="Aptos"/>
              </a:rPr>
              <a:t>PCA Spark ML réduit les features ; Parquet est sauvegardé dans S3.</a:t>
            </a:r>
          </a:p>
        </p:txBody>
      </p:sp>
      <p:sp>
        <p:nvSpPr>
          <p:cNvPr id="13" name="capture-label"/>
          <p:cNvSpPr txBox="1"/>
          <p:nvPr/>
        </p:nvSpPr>
        <p:spPr>
          <a:xfrm>
            <a:off x="4617720" y="19933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CAPTURES À AJOUTER</a:t>
            </a:r>
          </a:p>
        </p:txBody>
      </p:sp>
      <p:sp>
        <p:nvSpPr>
          <p:cNvPr id="14" name="capture-frame"/>
          <p:cNvSpPr/>
          <p:nvPr/>
        </p:nvSpPr>
        <p:spPr>
          <a:xfrm>
            <a:off x="4617720" y="2340864"/>
            <a:ext cx="6885432" cy="3017520"/>
          </a:xfrm>
          <a:prstGeom prst="rect">
            <a:avLst/>
          </a:prstGeom>
          <a:noFill/>
          <a:ln w="15875">
            <a:solidFill>
              <a:srgbClr val="D8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ture-placeholder"/>
          <p:cNvSpPr txBox="1"/>
          <p:nvPr/>
        </p:nvSpPr>
        <p:spPr>
          <a:xfrm>
            <a:off x="5120640" y="3401568"/>
            <a:ext cx="587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607174"/>
                </a:solidFill>
                <a:latin typeface="Aptos"/>
              </a:rPr>
              <a:t>Insérer ici les captures d’exécution</a:t>
            </a:r>
          </a:p>
        </p:txBody>
      </p:sp>
      <p:sp>
        <p:nvSpPr>
          <p:cNvPr id="16" name="capture-caption"/>
          <p:cNvSpPr txBox="1"/>
          <p:nvPr/>
        </p:nvSpPr>
        <p:spPr>
          <a:xfrm>
            <a:off x="4983480" y="4910328"/>
            <a:ext cx="6153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07174"/>
                </a:solidFill>
                <a:latin typeface="Aptos"/>
              </a:rPr>
              <a:t>Cluster EMR actif · job Spark terminé · objets Parquet disponibles dans S3</a:t>
            </a:r>
          </a:p>
        </p:txBody>
      </p:sp>
      <p:sp>
        <p:nvSpPr>
          <p:cNvPr id="17" name="success-band"/>
          <p:cNvSpPr/>
          <p:nvPr/>
        </p:nvSpPr>
        <p:spPr>
          <a:xfrm>
            <a:off x="685800" y="5943600"/>
            <a:ext cx="10817352" cy="493776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uccess-text"/>
          <p:cNvSpPr txBox="1"/>
          <p:nvPr/>
        </p:nvSpPr>
        <p:spPr>
          <a:xfrm>
            <a:off x="914400" y="6096749"/>
            <a:ext cx="1036015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fr-FR" sz="1350" b="1" dirty="0">
                <a:solidFill>
                  <a:srgbClr val="0C4A52"/>
                </a:solidFill>
                <a:latin typeface="Aptos"/>
              </a:rPr>
              <a:t>MAIS </a:t>
            </a:r>
            <a:r>
              <a:rPr sz="1350" b="1" dirty="0">
                <a:solidFill>
                  <a:srgbClr val="0C4A52"/>
                </a:solidFill>
                <a:latin typeface="Aptos"/>
              </a:rPr>
              <a:t>— </a:t>
            </a:r>
            <a:r>
              <a:rPr lang="fr-FR" sz="1350" b="1" dirty="0">
                <a:solidFill>
                  <a:srgbClr val="0C4A52"/>
                </a:solidFill>
                <a:latin typeface="Aptos"/>
              </a:rPr>
              <a:t>Problèmes d’environnement d’exécution…</a:t>
            </a:r>
            <a:endParaRPr sz="1350" b="1" dirty="0">
              <a:solidFill>
                <a:srgbClr val="0C4A52"/>
              </a:solidFill>
              <a:latin typeface="Aptos"/>
            </a:endParaRPr>
          </a:p>
        </p:txBody>
      </p:sp>
      <p:sp>
        <p:nvSpPr>
          <p:cNvPr id="19" name="footer-rule"/>
          <p:cNvSpPr/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-source"/>
          <p:cNvSpPr txBox="1"/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174"/>
                </a:solidFill>
                <a:latin typeface="Aptos"/>
              </a:rPr>
              <a:t>Pipeline du projet · exécution AWS EMR et résultats S3</a:t>
            </a:r>
          </a:p>
        </p:txBody>
      </p:sp>
      <p:sp>
        <p:nvSpPr>
          <p:cNvPr id="21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25" b="1">
                <a:solidFill>
                  <a:srgbClr val="E87938"/>
                </a:solidFill>
                <a:latin typeface="Aptos"/>
              </a:rPr>
              <a:t>14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727A3168-AFDF-BCE3-0E2B-A3301A3F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0" t="13747" r="1805" b="10351"/>
          <a:stretch>
            <a:fillRect/>
          </a:stretch>
        </p:blipFill>
        <p:spPr>
          <a:xfrm>
            <a:off x="4592489" y="434340"/>
            <a:ext cx="6935893" cy="1810512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545364D8-AA4A-148A-48DE-1A43B4351918}"/>
              </a:ext>
            </a:extLst>
          </p:cNvPr>
          <p:cNvGrpSpPr/>
          <p:nvPr/>
        </p:nvGrpSpPr>
        <p:grpSpPr>
          <a:xfrm>
            <a:off x="4592489" y="2311189"/>
            <a:ext cx="6349450" cy="3498341"/>
            <a:chOff x="66435" y="1403260"/>
            <a:chExt cx="6892777" cy="3851517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3B34D058-78C8-84E4-DD40-92F74CFB2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18" y="1403260"/>
              <a:ext cx="6843494" cy="2157319"/>
            </a:xfrm>
            <a:prstGeom prst="rect">
              <a:avLst/>
            </a:prstGeom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27011B45-0487-EC6F-CEC3-7CE06AF9F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35" y="3220345"/>
              <a:ext cx="6892777" cy="2034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5366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4174989B-431C-CA9A-F0DE-B2EB37D1CB8A}"/>
              </a:ext>
            </a:extLst>
          </p:cNvPr>
          <p:cNvGrpSpPr/>
          <p:nvPr/>
        </p:nvGrpSpPr>
        <p:grpSpPr>
          <a:xfrm>
            <a:off x="5828852" y="1817281"/>
            <a:ext cx="6349450" cy="3498341"/>
            <a:chOff x="66435" y="1403260"/>
            <a:chExt cx="6892777" cy="3851517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318F8C24-5DF9-6172-096F-8B99A3DBB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18" y="1403260"/>
              <a:ext cx="6843494" cy="2157319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8F759CC3-38AF-37D7-5348-95EE2C74A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35" y="3220345"/>
              <a:ext cx="6892777" cy="2034432"/>
            </a:xfrm>
            <a:prstGeom prst="rect">
              <a:avLst/>
            </a:prstGeom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375E2A0B-986F-6ADD-F187-52E624C48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9328" r="33836"/>
          <a:stretch>
            <a:fillRect/>
          </a:stretch>
        </p:blipFill>
        <p:spPr>
          <a:xfrm>
            <a:off x="0" y="0"/>
            <a:ext cx="3161027" cy="3419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361A525-C32B-87FD-DC6F-A75F90719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 t="9068" r="34237" b="-1301"/>
          <a:stretch>
            <a:fillRect/>
          </a:stretch>
        </p:blipFill>
        <p:spPr>
          <a:xfrm>
            <a:off x="0" y="3404717"/>
            <a:ext cx="3161027" cy="349834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BAF44FA-E681-C747-38E2-362C85DEB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" t="7530" r="51732" b="61053"/>
          <a:stretch>
            <a:fillRect/>
          </a:stretch>
        </p:blipFill>
        <p:spPr>
          <a:xfrm>
            <a:off x="3161027" y="4668247"/>
            <a:ext cx="2655147" cy="129085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D1C7191-57BD-D51D-493A-6F97662395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" r="5948"/>
          <a:stretch>
            <a:fillRect/>
          </a:stretch>
        </p:blipFill>
        <p:spPr>
          <a:xfrm>
            <a:off x="3161028" y="1544325"/>
            <a:ext cx="2568040" cy="115926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BFD1CCE-8E3B-498A-92E1-9F3124FAD6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" t="26460" b="27721"/>
          <a:stretch>
            <a:fillRect/>
          </a:stretch>
        </p:blipFill>
        <p:spPr>
          <a:xfrm>
            <a:off x="3075093" y="278437"/>
            <a:ext cx="4055533" cy="8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D7007D6-8484-ECCC-72B9-B2FF1E426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 t="9068" r="34237" b="-1301"/>
          <a:stretch>
            <a:fillRect/>
          </a:stretch>
        </p:blipFill>
        <p:spPr>
          <a:xfrm>
            <a:off x="0" y="2058559"/>
            <a:ext cx="3161027" cy="34983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5E69063-7B17-A934-7629-35E1654A6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0" t="15463"/>
          <a:stretch>
            <a:fillRect/>
          </a:stretch>
        </p:blipFill>
        <p:spPr>
          <a:xfrm>
            <a:off x="4076409" y="2148840"/>
            <a:ext cx="8115591" cy="23209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EF180A-9A74-E3D5-3434-B12C77BF2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93" y="1157676"/>
            <a:ext cx="9401175" cy="75282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64ECFD-6E72-2247-D355-B6BE4EF51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93" y="203723"/>
            <a:ext cx="9401175" cy="7528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51E608A-F093-62AF-A704-A0579CB2F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84"/>
          <a:stretch>
            <a:fillRect/>
          </a:stretch>
        </p:blipFill>
        <p:spPr>
          <a:xfrm>
            <a:off x="4716500" y="4332294"/>
            <a:ext cx="5967904" cy="244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99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20624"/>
            <a:ext cx="47640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87938"/>
                </a:solidFill>
                <a:latin typeface="Aptos"/>
              </a:rPr>
              <a:t>AXE 3 · </a:t>
            </a:r>
            <a:r>
              <a:rPr lang="fr-FR" sz="1050" b="1">
                <a:solidFill>
                  <a:srgbClr val="E87938"/>
                </a:solidFill>
                <a:latin typeface="Aptos"/>
              </a:rPr>
              <a:t>CHOIX D’INFRASTRUCTURE</a:t>
            </a:r>
            <a:endParaRPr sz="1050" b="1">
              <a:solidFill>
                <a:srgbClr val="E87938"/>
              </a:solidFill>
              <a:latin typeface="Aptos"/>
            </a:endParaRPr>
          </a:p>
        </p:txBody>
      </p:sp>
      <p:sp>
        <p:nvSpPr>
          <p:cNvPr id="3" name="headline"/>
          <p:cNvSpPr txBox="1"/>
          <p:nvPr/>
        </p:nvSpPr>
        <p:spPr>
          <a:xfrm>
            <a:off x="685800" y="777240"/>
            <a:ext cx="10817352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700" b="1">
                <a:solidFill>
                  <a:srgbClr val="0C4A52"/>
                </a:solidFill>
                <a:latin typeface="Aptos Display"/>
              </a:rPr>
              <a:t>Trois choix simples pour maîtriser les coûts</a:t>
            </a:r>
            <a:endParaRPr sz="2700" b="1">
              <a:solidFill>
                <a:srgbClr val="0C4A52"/>
              </a:solidFill>
              <a:latin typeface="Aptos Display"/>
            </a:endParaRPr>
          </a:p>
        </p:txBody>
      </p:sp>
      <p:sp>
        <p:nvSpPr>
          <p:cNvPr id="4" name="headline-rule"/>
          <p:cNvSpPr/>
          <p:nvPr/>
        </p:nvSpPr>
        <p:spPr>
          <a:xfrm>
            <a:off x="685800" y="1719072"/>
            <a:ext cx="841248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-1"/>
          <p:cNvSpPr txBox="1"/>
          <p:nvPr/>
        </p:nvSpPr>
        <p:spPr>
          <a:xfrm>
            <a:off x="68580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01</a:t>
            </a:r>
          </a:p>
        </p:txBody>
      </p:sp>
      <p:sp>
        <p:nvSpPr>
          <p:cNvPr id="6" name="label-1"/>
          <p:cNvSpPr txBox="1"/>
          <p:nvPr/>
        </p:nvSpPr>
        <p:spPr>
          <a:xfrm>
            <a:off x="149047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LOCALISATION</a:t>
            </a:r>
          </a:p>
        </p:txBody>
      </p:sp>
      <p:sp>
        <p:nvSpPr>
          <p:cNvPr id="7" name="title-1"/>
          <p:cNvSpPr txBox="1"/>
          <p:nvPr/>
        </p:nvSpPr>
        <p:spPr>
          <a:xfrm>
            <a:off x="68580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 dirty="0">
                <a:solidFill>
                  <a:srgbClr val="0C4A52"/>
                </a:solidFill>
                <a:latin typeface="Aptos Display"/>
              </a:rPr>
              <a:t>Région européenne</a:t>
            </a:r>
          </a:p>
        </p:txBody>
      </p:sp>
      <p:sp>
        <p:nvSpPr>
          <p:cNvPr id="8" name="rule-1"/>
          <p:cNvSpPr>
            <a:spLocks/>
          </p:cNvSpPr>
          <p:nvPr/>
        </p:nvSpPr>
        <p:spPr>
          <a:xfrm>
            <a:off x="68580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ody-1"/>
          <p:cNvSpPr txBox="1">
            <a:spLocks/>
          </p:cNvSpPr>
          <p:nvPr/>
        </p:nvSpPr>
        <p:spPr>
          <a:xfrm>
            <a:off x="68580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 dirty="0">
                <a:solidFill>
                  <a:srgbClr val="17323A"/>
                </a:solidFill>
                <a:latin typeface="Aptos"/>
              </a:rPr>
              <a:t>Prix varie selon l’emplacement des machines.</a:t>
            </a:r>
          </a:p>
        </p:txBody>
      </p:sp>
      <p:sp>
        <p:nvSpPr>
          <p:cNvPr id="11" name="num-2"/>
          <p:cNvSpPr txBox="1"/>
          <p:nvPr/>
        </p:nvSpPr>
        <p:spPr>
          <a:xfrm>
            <a:off x="416052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02</a:t>
            </a:r>
          </a:p>
        </p:txBody>
      </p:sp>
      <p:sp>
        <p:nvSpPr>
          <p:cNvPr id="12" name="label-2"/>
          <p:cNvSpPr txBox="1"/>
          <p:nvPr/>
        </p:nvSpPr>
        <p:spPr>
          <a:xfrm>
            <a:off x="496519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STOCKAGE</a:t>
            </a:r>
          </a:p>
        </p:txBody>
      </p:sp>
      <p:sp>
        <p:nvSpPr>
          <p:cNvPr id="13" name="title-2"/>
          <p:cNvSpPr txBox="1"/>
          <p:nvPr/>
        </p:nvSpPr>
        <p:spPr>
          <a:xfrm>
            <a:off x="416052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>
                <a:solidFill>
                  <a:srgbClr val="0C4A52"/>
                </a:solidFill>
                <a:latin typeface="Aptos Display"/>
              </a:rPr>
              <a:t>S3 ou S3 Glacier</a:t>
            </a:r>
          </a:p>
        </p:txBody>
      </p:sp>
      <p:sp>
        <p:nvSpPr>
          <p:cNvPr id="14" name="rule-2"/>
          <p:cNvSpPr>
            <a:spLocks/>
          </p:cNvSpPr>
          <p:nvPr/>
        </p:nvSpPr>
        <p:spPr>
          <a:xfrm>
            <a:off x="416052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body-2"/>
          <p:cNvSpPr txBox="1"/>
          <p:nvPr/>
        </p:nvSpPr>
        <p:spPr>
          <a:xfrm>
            <a:off x="416052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>
                <a:solidFill>
                  <a:srgbClr val="17323A"/>
                </a:solidFill>
                <a:latin typeface="Aptos"/>
              </a:rPr>
              <a:t>S3 pour les données actives et les résultats. Glacier pour l’archivage rarement consulté.</a:t>
            </a:r>
          </a:p>
        </p:txBody>
      </p:sp>
      <p:sp>
        <p:nvSpPr>
          <p:cNvPr id="17" name="num-3"/>
          <p:cNvSpPr txBox="1"/>
          <p:nvPr/>
        </p:nvSpPr>
        <p:spPr>
          <a:xfrm>
            <a:off x="7635240" y="21488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3000" b="1">
                <a:solidFill>
                  <a:srgbClr val="E87938"/>
                </a:solidFill>
                <a:latin typeface="Aptos Display"/>
              </a:rPr>
              <a:t>03</a:t>
            </a:r>
          </a:p>
        </p:txBody>
      </p:sp>
      <p:sp>
        <p:nvSpPr>
          <p:cNvPr id="18" name="label-3"/>
          <p:cNvSpPr txBox="1"/>
          <p:nvPr/>
        </p:nvSpPr>
        <p:spPr>
          <a:xfrm>
            <a:off x="8439912" y="21945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100" b="1">
                <a:solidFill>
                  <a:srgbClr val="0C4A52"/>
                </a:solidFill>
                <a:latin typeface="Aptos"/>
              </a:rPr>
              <a:t>MACHINES</a:t>
            </a:r>
          </a:p>
        </p:txBody>
      </p:sp>
      <p:sp>
        <p:nvSpPr>
          <p:cNvPr id="19" name="title-3"/>
          <p:cNvSpPr txBox="1"/>
          <p:nvPr/>
        </p:nvSpPr>
        <p:spPr>
          <a:xfrm>
            <a:off x="7635240" y="29077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2000" b="1">
                <a:solidFill>
                  <a:srgbClr val="0C4A52"/>
                </a:solidFill>
                <a:latin typeface="Aptos Display"/>
              </a:rPr>
              <a:t>Adapter les instances</a:t>
            </a:r>
          </a:p>
        </p:txBody>
      </p:sp>
      <p:sp>
        <p:nvSpPr>
          <p:cNvPr id="20" name="rule-3"/>
          <p:cNvSpPr>
            <a:spLocks/>
          </p:cNvSpPr>
          <p:nvPr/>
        </p:nvSpPr>
        <p:spPr>
          <a:xfrm>
            <a:off x="7635240" y="3529584"/>
            <a:ext cx="685800" cy="36576"/>
          </a:xfrm>
          <a:prstGeom prst="rect">
            <a:avLst/>
          </a:prstGeom>
          <a:solidFill>
            <a:srgbClr val="E87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body-3"/>
          <p:cNvSpPr txBox="1"/>
          <p:nvPr/>
        </p:nvSpPr>
        <p:spPr>
          <a:xfrm>
            <a:off x="7635239" y="3840480"/>
            <a:ext cx="3296617" cy="1003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450" b="0" dirty="0">
                <a:solidFill>
                  <a:srgbClr val="17323A"/>
                </a:solidFill>
                <a:latin typeface="Aptos"/>
              </a:rPr>
              <a:t>Commencer avec des machines polyvalentes, puis augmenter/diminuer les ressources mémoire et/ou calcul selon les métriques Spark.</a:t>
            </a:r>
          </a:p>
        </p:txBody>
      </p:sp>
      <p:sp>
        <p:nvSpPr>
          <p:cNvPr id="23" name="divider-1"/>
          <p:cNvSpPr>
            <a:spLocks/>
          </p:cNvSpPr>
          <p:nvPr/>
        </p:nvSpPr>
        <p:spPr>
          <a:xfrm>
            <a:off x="3822191" y="2121408"/>
            <a:ext cx="18288" cy="33375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divider-2"/>
          <p:cNvSpPr>
            <a:spLocks/>
          </p:cNvSpPr>
          <p:nvPr/>
        </p:nvSpPr>
        <p:spPr>
          <a:xfrm>
            <a:off x="7296912" y="2121408"/>
            <a:ext cx="18288" cy="3337560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footer-rule"/>
          <p:cNvSpPr>
            <a:spLocks/>
          </p:cNvSpPr>
          <p:nvPr/>
        </p:nvSpPr>
        <p:spPr>
          <a:xfrm>
            <a:off x="685800" y="6428232"/>
            <a:ext cx="10817352" cy="9144"/>
          </a:xfrm>
          <a:prstGeom prst="rect">
            <a:avLst/>
          </a:prstGeom>
          <a:solidFill>
            <a:srgbClr val="D8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oter-source"/>
          <p:cNvSpPr txBox="1">
            <a:spLocks/>
          </p:cNvSpPr>
          <p:nvPr/>
        </p:nvSpPr>
        <p:spPr>
          <a:xfrm>
            <a:off x="685800" y="6510528"/>
            <a:ext cx="9336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750" b="0">
                <a:solidFill>
                  <a:srgbClr val="607174"/>
                </a:solidFill>
                <a:latin typeface="Aptos"/>
              </a:rPr>
              <a:t>Sources : AWS · Régions, classes de stockage S3 et instances EMR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00816" y="6492240"/>
            <a:ext cx="4114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fr-FR" sz="825" b="1">
                <a:solidFill>
                  <a:srgbClr val="E87938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6931451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 Cloud">
  <a:themeElements>
    <a:clrScheme name="Editorial Cloud">
      <a:dk1>
        <a:srgbClr val="000000"/>
      </a:dk1>
      <a:lt1>
        <a:srgbClr val="FFFFFF"/>
      </a:lt1>
      <a:dk2>
        <a:srgbClr val="17323A"/>
      </a:dk2>
      <a:lt2>
        <a:srgbClr val="D8E7E5"/>
      </a:lt2>
      <a:accent1>
        <a:srgbClr val="0C4A52"/>
      </a:accent1>
      <a:accent2>
        <a:srgbClr val="E87938"/>
      </a:accent2>
      <a:accent3>
        <a:srgbClr val="2B7A78"/>
      </a:accent3>
      <a:accent4>
        <a:srgbClr val="A85D3A"/>
      </a:accent4>
      <a:accent5>
        <a:srgbClr val="567C82"/>
      </a:accent5>
      <a:accent6>
        <a:srgbClr val="B28A68"/>
      </a:accent6>
      <a:hlink>
        <a:srgbClr val="0C4A52"/>
      </a:hlink>
      <a:folHlink>
        <a:srgbClr val="2B7A7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itorial Clou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1129</Words>
  <Application>Microsoft Office PowerPoint</Application>
  <PresentationFormat>Grand écran</PresentationFormat>
  <Paragraphs>219</Paragraphs>
  <Slides>18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Aptos</vt:lpstr>
      <vt:lpstr>Aptos Display</vt:lpstr>
      <vt:lpstr>Editorial Cloud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BRIGHT Rémy</dc:creator>
  <cp:lastModifiedBy>BRIGHT Rémy</cp:lastModifiedBy>
  <cp:revision>4</cp:revision>
  <dcterms:created xsi:type="dcterms:W3CDTF">2026-09-07T12:21:01Z</dcterms:created>
  <dcterms:modified xsi:type="dcterms:W3CDTF">2026-09-09T09:12:28Z</dcterms:modified>
</cp:coreProperties>
</file>