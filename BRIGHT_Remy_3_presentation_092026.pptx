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65" r:id="rId3"/>
    <p:sldId id="266" r:id="rId4"/>
    <p:sldId id="257" r:id="rId5"/>
    <p:sldId id="267" r:id="rId6"/>
    <p:sldId id="269" r:id="rId7"/>
    <p:sldId id="259" r:id="rId8"/>
    <p:sldId id="262" r:id="rId9"/>
    <p:sldId id="268" r:id="rId10"/>
    <p:sldId id="270" r:id="rId11"/>
    <p:sldId id="258" r:id="rId12"/>
    <p:sldId id="260" r:id="rId13"/>
    <p:sldId id="271" r:id="rId14"/>
    <p:sldId id="276" r:id="rId15"/>
    <p:sldId id="272" r:id="rId16"/>
    <p:sldId id="273" r:id="rId17"/>
    <p:sldId id="274" r:id="rId18"/>
    <p:sldId id="277" r:id="rId1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D8C8553-5F51-DD92-5AA8-E35440A5B836}" name="BRIGHT Rémy" initials="RB" userId="S::remy.bright@biomerieux.com::c26b6209-39fd-4992-98a0-dcf095488c8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2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064B2A-79B4-4C36-A741-B933888ACC1A}" v="6" dt="2026-09-10T14:58:02.2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89" d="100"/>
          <a:sy n="89" d="100"/>
        </p:scale>
        <p:origin x="466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GHT Rémy" userId="c26b6209-39fd-4992-98a0-dcf095488c85" providerId="ADAL" clId="{6CE2B5A8-BC8E-4AAB-BAC2-A3EEE151F884}"/>
    <pc:docChg chg="undo custSel modSld">
      <pc:chgData name="BRIGHT Rémy" userId="c26b6209-39fd-4992-98a0-dcf095488c85" providerId="ADAL" clId="{6CE2B5A8-BC8E-4AAB-BAC2-A3EEE151F884}" dt="2026-09-10T14:58:02.272" v="207"/>
      <pc:docMkLst>
        <pc:docMk/>
      </pc:docMkLst>
      <pc:sldChg chg="setBg">
        <pc:chgData name="BRIGHT Rémy" userId="c26b6209-39fd-4992-98a0-dcf095488c85" providerId="ADAL" clId="{6CE2B5A8-BC8E-4AAB-BAC2-A3EEE151F884}" dt="2026-09-10T14:57:43.549" v="206"/>
        <pc:sldMkLst>
          <pc:docMk/>
          <pc:sldMk cId="811799805" sldId="274"/>
        </pc:sldMkLst>
      </pc:sldChg>
      <pc:sldChg chg="addSp modSp mod setBg">
        <pc:chgData name="BRIGHT Rémy" userId="c26b6209-39fd-4992-98a0-dcf095488c85" providerId="ADAL" clId="{6CE2B5A8-BC8E-4AAB-BAC2-A3EEE151F884}" dt="2026-09-10T14:58:02.272" v="207"/>
        <pc:sldMkLst>
          <pc:docMk/>
          <pc:sldMk cId="372426375" sldId="276"/>
        </pc:sldMkLst>
        <pc:spChg chg="mod">
          <ac:chgData name="BRIGHT Rémy" userId="c26b6209-39fd-4992-98a0-dcf095488c85" providerId="ADAL" clId="{6CE2B5A8-BC8E-4AAB-BAC2-A3EEE151F884}" dt="2026-09-10T14:47:53.120" v="24" actId="20577"/>
          <ac:spMkLst>
            <pc:docMk/>
            <pc:sldMk cId="372426375" sldId="276"/>
            <ac:spMk id="6" creationId="{9EA8A816-EC9B-758D-51BB-8AF5B8D3A770}"/>
          </ac:spMkLst>
        </pc:spChg>
        <pc:spChg chg="mod">
          <ac:chgData name="BRIGHT Rémy" userId="c26b6209-39fd-4992-98a0-dcf095488c85" providerId="ADAL" clId="{6CE2B5A8-BC8E-4AAB-BAC2-A3EEE151F884}" dt="2026-09-10T14:48:16.209" v="92" actId="20577"/>
          <ac:spMkLst>
            <pc:docMk/>
            <pc:sldMk cId="372426375" sldId="276"/>
            <ac:spMk id="10" creationId="{4553EF78-C6C4-3735-5F63-D3E0B529F93F}"/>
          </ac:spMkLst>
        </pc:spChg>
        <pc:spChg chg="mod">
          <ac:chgData name="BRIGHT Rémy" userId="c26b6209-39fd-4992-98a0-dcf095488c85" providerId="ADAL" clId="{6CE2B5A8-BC8E-4AAB-BAC2-A3EEE151F884}" dt="2026-09-10T14:54:49.032" v="200" actId="20577"/>
          <ac:spMkLst>
            <pc:docMk/>
            <pc:sldMk cId="372426375" sldId="276"/>
            <ac:spMk id="12" creationId="{800D23EA-93C7-8B99-388E-E4D5B6B0907C}"/>
          </ac:spMkLst>
        </pc:spChg>
        <pc:spChg chg="add mod">
          <ac:chgData name="BRIGHT Rémy" userId="c26b6209-39fd-4992-98a0-dcf095488c85" providerId="ADAL" clId="{6CE2B5A8-BC8E-4AAB-BAC2-A3EEE151F884}" dt="2026-09-10T14:55:28.511" v="205" actId="1076"/>
          <ac:spMkLst>
            <pc:docMk/>
            <pc:sldMk cId="372426375" sldId="276"/>
            <ac:spMk id="13" creationId="{864E2F81-DC9A-D27A-C89B-1B43F32F1391}"/>
          </ac:spMkLst>
        </pc:spChg>
        <pc:spChg chg="add mod">
          <ac:chgData name="BRIGHT Rémy" userId="c26b6209-39fd-4992-98a0-dcf095488c85" providerId="ADAL" clId="{6CE2B5A8-BC8E-4AAB-BAC2-A3EEE151F884}" dt="2026-09-10T14:55:28.511" v="205" actId="1076"/>
          <ac:spMkLst>
            <pc:docMk/>
            <pc:sldMk cId="372426375" sldId="276"/>
            <ac:spMk id="15" creationId="{FF1B8151-D7C9-3B1A-5634-084DDC54D7EC}"/>
          </ac:spMkLst>
        </pc:spChg>
        <pc:spChg chg="add mod">
          <ac:chgData name="BRIGHT Rémy" userId="c26b6209-39fd-4992-98a0-dcf095488c85" providerId="ADAL" clId="{6CE2B5A8-BC8E-4AAB-BAC2-A3EEE151F884}" dt="2026-09-10T14:55:04.339" v="204" actId="571"/>
          <ac:spMkLst>
            <pc:docMk/>
            <pc:sldMk cId="372426375" sldId="276"/>
            <ac:spMk id="16" creationId="{9C0917A4-F80C-7B54-CC09-3F5F128723AB}"/>
          </ac:spMkLst>
        </pc:spChg>
        <pc:spChg chg="add mod">
          <ac:chgData name="BRIGHT Rémy" userId="c26b6209-39fd-4992-98a0-dcf095488c85" providerId="ADAL" clId="{6CE2B5A8-BC8E-4AAB-BAC2-A3EEE151F884}" dt="2026-09-10T14:55:04.339" v="204" actId="571"/>
          <ac:spMkLst>
            <pc:docMk/>
            <pc:sldMk cId="372426375" sldId="276"/>
            <ac:spMk id="17" creationId="{00C02DFC-A66E-8517-FCEE-F4838DCD5C3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1176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Pandas UDF : </a:t>
            </a:r>
            <a:r>
              <a:rPr dirty="0" err="1"/>
              <a:t>évite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inférence</a:t>
            </a:r>
            <a:r>
              <a:rPr dirty="0"/>
              <a:t> image par image et </a:t>
            </a:r>
            <a:r>
              <a:rPr dirty="0" err="1"/>
              <a:t>exploite</a:t>
            </a:r>
            <a:r>
              <a:rPr dirty="0"/>
              <a:t> la </a:t>
            </a:r>
            <a:r>
              <a:rPr dirty="0" err="1"/>
              <a:t>vectorisation</a:t>
            </a:r>
            <a:r>
              <a:rPr dirty="0"/>
              <a:t> </a:t>
            </a:r>
            <a:r>
              <a:rPr dirty="0" err="1"/>
              <a:t>côté</a:t>
            </a:r>
            <a:r>
              <a:rPr dirty="0"/>
              <a:t> worker.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223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ver-accent">
            <a:extLst>
              <a:ext uri="{FF2B5EF4-FFF2-40B4-BE49-F238E27FC236}">
                <a16:creationId xmlns:a16="http://schemas.microsoft.com/office/drawing/2014/main" id="{D8B28C68-1C11-4630-9360-0BF56773DA4B}"/>
              </a:ext>
            </a:extLst>
          </p:cNvPr>
          <p:cNvSpPr>
            <a:spLocks noGrp="1"/>
          </p:cNvSpPr>
          <p:nvPr/>
        </p:nvSpPr>
        <p:spPr>
          <a:xfrm>
            <a:off x="685800" y="895350"/>
            <a:ext cx="114300" cy="4438650"/>
          </a:xfrm>
          <a:prstGeom prst="rect">
            <a:avLst/>
          </a:prstGeom>
          <a:solidFill>
            <a:srgbClr val="E87938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cover-kicker">
            <a:extLst>
              <a:ext uri="{FF2B5EF4-FFF2-40B4-BE49-F238E27FC236}">
                <a16:creationId xmlns:a16="http://schemas.microsoft.com/office/drawing/2014/main" id="{D71B28CB-80C0-4964-8727-10DB6CCDC647}"/>
              </a:ext>
            </a:extLst>
          </p:cNvPr>
          <p:cNvSpPr>
            <a:spLocks noGrp="1"/>
          </p:cNvSpPr>
          <p:nvPr/>
        </p:nvSpPr>
        <p:spPr>
          <a:xfrm>
            <a:off x="1066800" y="9906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E879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7938"/>
                </a:solidFill>
                <a:latin typeface="Aptos"/>
                <a:ea typeface="Aptos"/>
                <a:cs typeface="Aptos"/>
              </a:rPr>
              <a:t>PROJET DATA SCIENTIST · OPENCLASSROOMS</a:t>
            </a:r>
          </a:p>
        </p:txBody>
      </p:sp>
      <p:sp>
        <p:nvSpPr>
          <p:cNvPr id="3" name="cover-title">
            <a:extLst>
              <a:ext uri="{FF2B5EF4-FFF2-40B4-BE49-F238E27FC236}">
                <a16:creationId xmlns:a16="http://schemas.microsoft.com/office/drawing/2014/main" id="{BC499C29-3A53-4FC8-AD27-45F616F58B0A}"/>
              </a:ext>
            </a:extLst>
          </p:cNvPr>
          <p:cNvSpPr>
            <a:spLocks noGrp="1"/>
          </p:cNvSpPr>
          <p:nvPr/>
        </p:nvSpPr>
        <p:spPr>
          <a:xfrm>
            <a:off x="1066800" y="1676400"/>
            <a:ext cx="68580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5100" b="1">
                <a:solidFill>
                  <a:srgbClr val="0C4A52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>
                <a:solidFill>
                  <a:srgbClr val="0C4A52"/>
                </a:solidFill>
                <a:latin typeface="Aptos Display"/>
                <a:ea typeface="Aptos Display"/>
                <a:cs typeface="Aptos Display"/>
              </a:rPr>
              <a:t>Big Data</a:t>
            </a:r>
          </a:p>
          <a:p>
            <a:pPr algn="l">
              <a:defRPr sz="5100" b="1">
                <a:solidFill>
                  <a:srgbClr val="0C4A52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>
                <a:solidFill>
                  <a:srgbClr val="0C4A52"/>
                </a:solidFill>
                <a:latin typeface="Aptos Display"/>
                <a:ea typeface="Aptos Display"/>
                <a:cs typeface="Aptos Display"/>
              </a:rPr>
              <a:t>sur le Cloud</a:t>
            </a:r>
          </a:p>
        </p:txBody>
      </p:sp>
      <p:sp>
        <p:nvSpPr>
          <p:cNvPr id="4" name="cover-subtitle">
            <a:extLst>
              <a:ext uri="{FF2B5EF4-FFF2-40B4-BE49-F238E27FC236}">
                <a16:creationId xmlns:a16="http://schemas.microsoft.com/office/drawing/2014/main" id="{73FB0F5F-AC69-44DB-960E-B1C524DF3696}"/>
              </a:ext>
            </a:extLst>
          </p:cNvPr>
          <p:cNvSpPr>
            <a:spLocks noGrp="1"/>
          </p:cNvSpPr>
          <p:nvPr/>
        </p:nvSpPr>
        <p:spPr>
          <a:xfrm>
            <a:off x="1066800" y="3790950"/>
            <a:ext cx="6572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17323A"/>
                </a:solidFill>
                <a:latin typeface="Aptos"/>
                <a:ea typeface="Aptos"/>
                <a:cs typeface="Aptos"/>
              </a:defRPr>
            </a:pPr>
            <a:r>
              <a:rPr lang="fr-FR" sz="1875" b="0" dirty="0">
                <a:solidFill>
                  <a:srgbClr val="17323A"/>
                </a:solidFill>
                <a:latin typeface="Aptos"/>
                <a:ea typeface="Aptos"/>
                <a:cs typeface="Aptos"/>
              </a:rPr>
              <a:t>Du prototype local au traitement </a:t>
            </a:r>
            <a:r>
              <a:rPr sz="1875" b="0" dirty="0" err="1">
                <a:solidFill>
                  <a:srgbClr val="17323A"/>
                </a:solidFill>
                <a:latin typeface="Aptos"/>
                <a:ea typeface="Aptos"/>
                <a:cs typeface="Aptos"/>
              </a:rPr>
              <a:t>distribué</a:t>
            </a:r>
            <a:r>
              <a:rPr sz="1875" b="0" dirty="0">
                <a:solidFill>
                  <a:srgbClr val="17323A"/>
                </a:solidFill>
                <a:latin typeface="Aptos"/>
                <a:ea typeface="Aptos"/>
                <a:cs typeface="Aptos"/>
              </a:rPr>
              <a:t> </a:t>
            </a:r>
            <a:r>
              <a:rPr lang="fr-FR" sz="1875" b="0" dirty="0">
                <a:solidFill>
                  <a:srgbClr val="17323A"/>
                </a:solidFill>
                <a:latin typeface="Aptos"/>
                <a:ea typeface="Aptos"/>
                <a:cs typeface="Aptos"/>
              </a:rPr>
              <a:t>sur AWS</a:t>
            </a:r>
            <a:endParaRPr sz="1875" b="0" dirty="0">
              <a:solidFill>
                <a:srgbClr val="1732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cover-tech">
            <a:extLst>
              <a:ext uri="{FF2B5EF4-FFF2-40B4-BE49-F238E27FC236}">
                <a16:creationId xmlns:a16="http://schemas.microsoft.com/office/drawing/2014/main" id="{07440646-0097-43C0-9F3A-C695DCF9D05D}"/>
              </a:ext>
            </a:extLst>
          </p:cNvPr>
          <p:cNvSpPr>
            <a:spLocks noGrp="1"/>
          </p:cNvSpPr>
          <p:nvPr/>
        </p:nvSpPr>
        <p:spPr>
          <a:xfrm>
            <a:off x="1066800" y="4953000"/>
            <a:ext cx="666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071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174"/>
                </a:solidFill>
                <a:latin typeface="Aptos"/>
                <a:ea typeface="Aptos"/>
                <a:cs typeface="Aptos"/>
              </a:rPr>
              <a:t>Spark  ·  AWS EMR  ·  S3  ·  MobileNetV2  ·  PCA</a:t>
            </a:r>
          </a:p>
        </p:txBody>
      </p:sp>
      <p:sp>
        <p:nvSpPr>
          <p:cNvPr id="6" name="cover-orbit">
            <a:extLst>
              <a:ext uri="{FF2B5EF4-FFF2-40B4-BE49-F238E27FC236}">
                <a16:creationId xmlns:a16="http://schemas.microsoft.com/office/drawing/2014/main" id="{76C2CB0B-01AE-457A-9898-ED3CC6CBC1D3}"/>
              </a:ext>
            </a:extLst>
          </p:cNvPr>
          <p:cNvSpPr>
            <a:spLocks noGrp="1"/>
          </p:cNvSpPr>
          <p:nvPr/>
        </p:nvSpPr>
        <p:spPr>
          <a:xfrm>
            <a:off x="8858250" y="1352550"/>
            <a:ext cx="2190750" cy="2190750"/>
          </a:xfrm>
          <a:prstGeom prst="ellipse">
            <a:avLst/>
          </a:prstGeom>
          <a:noFill/>
          <a:ln w="171450">
            <a:solidFill>
              <a:srgbClr val="D8E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cover-core">
            <a:extLst>
              <a:ext uri="{FF2B5EF4-FFF2-40B4-BE49-F238E27FC236}">
                <a16:creationId xmlns:a16="http://schemas.microsoft.com/office/drawing/2014/main" id="{DA6326CE-7C6E-44EC-B30C-F88C06E28E5A}"/>
              </a:ext>
            </a:extLst>
          </p:cNvPr>
          <p:cNvSpPr>
            <a:spLocks noGrp="1"/>
          </p:cNvSpPr>
          <p:nvPr/>
        </p:nvSpPr>
        <p:spPr>
          <a:xfrm>
            <a:off x="9477375" y="1971675"/>
            <a:ext cx="952500" cy="952500"/>
          </a:xfrm>
          <a:prstGeom prst="ellipse">
            <a:avLst/>
          </a:prstGeom>
          <a:solidFill>
            <a:srgbClr val="0C4A52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cover-orange-square">
            <a:extLst>
              <a:ext uri="{FF2B5EF4-FFF2-40B4-BE49-F238E27FC236}">
                <a16:creationId xmlns:a16="http://schemas.microsoft.com/office/drawing/2014/main" id="{D4CD4206-CCD8-4A78-BF74-AA724F48925C}"/>
              </a:ext>
            </a:extLst>
          </p:cNvPr>
          <p:cNvSpPr>
            <a:spLocks noGrp="1"/>
          </p:cNvSpPr>
          <p:nvPr/>
        </p:nvSpPr>
        <p:spPr>
          <a:xfrm>
            <a:off x="10744200" y="3590925"/>
            <a:ext cx="228600" cy="228600"/>
          </a:xfrm>
          <a:prstGeom prst="rect">
            <a:avLst/>
          </a:prstGeom>
          <a:solidFill>
            <a:srgbClr val="E87938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cover-year">
            <a:extLst>
              <a:ext uri="{FF2B5EF4-FFF2-40B4-BE49-F238E27FC236}">
                <a16:creationId xmlns:a16="http://schemas.microsoft.com/office/drawing/2014/main" id="{DE0CB8C0-195B-4E41-9ECE-41C67ED404A1}"/>
              </a:ext>
            </a:extLst>
          </p:cNvPr>
          <p:cNvSpPr>
            <a:spLocks noGrp="1"/>
          </p:cNvSpPr>
          <p:nvPr/>
        </p:nvSpPr>
        <p:spPr>
          <a:xfrm>
            <a:off x="10820400" y="6153150"/>
            <a:ext cx="685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0717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174"/>
                </a:solidFill>
                <a:latin typeface="Aptos"/>
                <a:ea typeface="Aptos"/>
                <a:cs typeface="Aptos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09499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line"/>
          <p:cNvSpPr txBox="1"/>
          <p:nvPr/>
        </p:nvSpPr>
        <p:spPr>
          <a:xfrm>
            <a:off x="685800" y="781050"/>
            <a:ext cx="10820400" cy="876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2700" b="1" dirty="0">
                <a:solidFill>
                  <a:srgbClr val="0C4A52"/>
                </a:solidFill>
                <a:latin typeface="Aptos Display"/>
              </a:rPr>
              <a:t>Plan</a:t>
            </a:r>
            <a:endParaRPr sz="2700" b="1" dirty="0">
              <a:solidFill>
                <a:srgbClr val="0C4A52"/>
              </a:solidFill>
              <a:latin typeface="Aptos Display"/>
            </a:endParaRPr>
          </a:p>
        </p:txBody>
      </p:sp>
      <p:sp>
        <p:nvSpPr>
          <p:cNvPr id="4" name="headline-rule"/>
          <p:cNvSpPr/>
          <p:nvPr/>
        </p:nvSpPr>
        <p:spPr>
          <a:xfrm>
            <a:off x="685800" y="1714500"/>
            <a:ext cx="838200" cy="38100"/>
          </a:xfrm>
          <a:prstGeom prst="rect">
            <a:avLst/>
          </a:prstGeom>
          <a:solidFill>
            <a:srgbClr val="E879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ooter-rule"/>
          <p:cNvSpPr/>
          <p:nvPr/>
        </p:nvSpPr>
        <p:spPr>
          <a:xfrm>
            <a:off x="685800" y="6429375"/>
            <a:ext cx="10820400" cy="9525"/>
          </a:xfrm>
          <a:prstGeom prst="rect">
            <a:avLst/>
          </a:prstGeom>
          <a:solidFill>
            <a:srgbClr val="E9D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ooter-source"/>
          <p:cNvSpPr txBox="1"/>
          <p:nvPr/>
        </p:nvSpPr>
        <p:spPr>
          <a:xfrm>
            <a:off x="685800" y="6515100"/>
            <a:ext cx="9334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>
                <a:solidFill>
                  <a:srgbClr val="607174"/>
                </a:solidFill>
                <a:latin typeface="Aptos"/>
              </a:rPr>
              <a:t>Architecture de référence du projet OpenClassrooms · sources p. 15</a:t>
            </a:r>
          </a:p>
        </p:txBody>
      </p:sp>
      <p:sp>
        <p:nvSpPr>
          <p:cNvPr id="7" name="page-number"/>
          <p:cNvSpPr txBox="1"/>
          <p:nvPr/>
        </p:nvSpPr>
        <p:spPr>
          <a:xfrm>
            <a:off x="11096625" y="6496050"/>
            <a:ext cx="4095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819" b="1">
                <a:solidFill>
                  <a:srgbClr val="E87938"/>
                </a:solidFill>
                <a:latin typeface="Aptos"/>
              </a:rPr>
              <a:t>02</a:t>
            </a:r>
          </a:p>
        </p:txBody>
      </p:sp>
      <p:sp>
        <p:nvSpPr>
          <p:cNvPr id="8" name="agenda-num-0"/>
          <p:cNvSpPr txBox="1"/>
          <p:nvPr/>
        </p:nvSpPr>
        <p:spPr>
          <a:xfrm>
            <a:off x="685800" y="2247900"/>
            <a:ext cx="895350" cy="552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400" b="1">
                <a:solidFill>
                  <a:srgbClr val="E87938"/>
                </a:solidFill>
                <a:latin typeface="Aptos Display"/>
              </a:rPr>
              <a:t>01</a:t>
            </a:r>
          </a:p>
        </p:txBody>
      </p:sp>
      <p:sp>
        <p:nvSpPr>
          <p:cNvPr id="9" name="agenda-head-0"/>
          <p:cNvSpPr txBox="1"/>
          <p:nvPr/>
        </p:nvSpPr>
        <p:spPr>
          <a:xfrm>
            <a:off x="1866899" y="2266950"/>
            <a:ext cx="409575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1">
                <a:solidFill>
                  <a:srgbClr val="0C4A52"/>
                </a:solidFill>
                <a:latin typeface="Aptos"/>
              </a:rPr>
              <a:t>Introduction et problématique</a:t>
            </a:r>
          </a:p>
        </p:txBody>
      </p:sp>
      <p:sp>
        <p:nvSpPr>
          <p:cNvPr id="10" name="agenda-body-0"/>
          <p:cNvSpPr txBox="1"/>
          <p:nvPr/>
        </p:nvSpPr>
        <p:spPr>
          <a:xfrm>
            <a:off x="1866899" y="2657475"/>
            <a:ext cx="8096249" cy="400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1400" b="0" dirty="0">
                <a:solidFill>
                  <a:srgbClr val="17323A"/>
                </a:solidFill>
                <a:latin typeface="Aptos"/>
              </a:rPr>
              <a:t>Contexte et contraintes</a:t>
            </a:r>
            <a:endParaRPr sz="1400" b="0" dirty="0">
              <a:solidFill>
                <a:srgbClr val="17323A"/>
              </a:solidFill>
              <a:latin typeface="Aptos"/>
            </a:endParaRPr>
          </a:p>
        </p:txBody>
      </p:sp>
      <p:sp>
        <p:nvSpPr>
          <p:cNvPr id="11" name="agenda-rule-0"/>
          <p:cNvSpPr/>
          <p:nvPr/>
        </p:nvSpPr>
        <p:spPr>
          <a:xfrm>
            <a:off x="1866899" y="3190875"/>
            <a:ext cx="8858250" cy="9525"/>
          </a:xfrm>
          <a:prstGeom prst="rect">
            <a:avLst/>
          </a:prstGeom>
          <a:solidFill>
            <a:srgbClr val="E9D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agenda-num-1"/>
          <p:cNvSpPr txBox="1"/>
          <p:nvPr/>
        </p:nvSpPr>
        <p:spPr>
          <a:xfrm>
            <a:off x="685800" y="3371850"/>
            <a:ext cx="895350" cy="552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400" b="1">
                <a:solidFill>
                  <a:srgbClr val="E87938"/>
                </a:solidFill>
                <a:latin typeface="Aptos Display"/>
              </a:rPr>
              <a:t>02</a:t>
            </a:r>
          </a:p>
        </p:txBody>
      </p:sp>
      <p:sp>
        <p:nvSpPr>
          <p:cNvPr id="13" name="agenda-head-1"/>
          <p:cNvSpPr txBox="1"/>
          <p:nvPr/>
        </p:nvSpPr>
        <p:spPr>
          <a:xfrm>
            <a:off x="1866899" y="3390900"/>
            <a:ext cx="409575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1">
                <a:solidFill>
                  <a:srgbClr val="0C4A52"/>
                </a:solidFill>
                <a:latin typeface="Aptos"/>
              </a:rPr>
              <a:t>Choix techniques et architecture</a:t>
            </a:r>
          </a:p>
        </p:txBody>
      </p:sp>
      <p:sp>
        <p:nvSpPr>
          <p:cNvPr id="14" name="agenda-body-1"/>
          <p:cNvSpPr txBox="1"/>
          <p:nvPr/>
        </p:nvSpPr>
        <p:spPr>
          <a:xfrm>
            <a:off x="1866899" y="3781425"/>
            <a:ext cx="8096249" cy="400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dirty="0">
                <a:solidFill>
                  <a:srgbClr val="17323A"/>
                </a:solidFill>
                <a:latin typeface="Aptos"/>
              </a:rPr>
              <a:t>Spark, S3 et EMR.</a:t>
            </a:r>
          </a:p>
        </p:txBody>
      </p:sp>
      <p:sp>
        <p:nvSpPr>
          <p:cNvPr id="15" name="agenda-rule-1"/>
          <p:cNvSpPr/>
          <p:nvPr/>
        </p:nvSpPr>
        <p:spPr>
          <a:xfrm>
            <a:off x="1866899" y="4314825"/>
            <a:ext cx="8858250" cy="9525"/>
          </a:xfrm>
          <a:prstGeom prst="rect">
            <a:avLst/>
          </a:prstGeom>
          <a:solidFill>
            <a:srgbClr val="E9D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agenda-num-2"/>
          <p:cNvSpPr txBox="1"/>
          <p:nvPr/>
        </p:nvSpPr>
        <p:spPr>
          <a:xfrm>
            <a:off x="685800" y="4495800"/>
            <a:ext cx="895350" cy="552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400" b="1">
                <a:solidFill>
                  <a:srgbClr val="E87938"/>
                </a:solidFill>
                <a:latin typeface="Aptos Display"/>
              </a:rPr>
              <a:t>03</a:t>
            </a:r>
          </a:p>
        </p:txBody>
      </p:sp>
      <p:sp>
        <p:nvSpPr>
          <p:cNvPr id="17" name="agenda-head-2"/>
          <p:cNvSpPr txBox="1"/>
          <p:nvPr/>
        </p:nvSpPr>
        <p:spPr>
          <a:xfrm>
            <a:off x="1866898" y="4514850"/>
            <a:ext cx="5891853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1" dirty="0" err="1">
                <a:solidFill>
                  <a:srgbClr val="0C4A52"/>
                </a:solidFill>
                <a:latin typeface="Aptos"/>
              </a:rPr>
              <a:t>Réalisation</a:t>
            </a:r>
            <a:r>
              <a:rPr lang="fr-FR" sz="1900" b="1" dirty="0">
                <a:solidFill>
                  <a:srgbClr val="0C4A52"/>
                </a:solidFill>
                <a:latin typeface="Aptos"/>
              </a:rPr>
              <a:t> et déploiement</a:t>
            </a:r>
            <a:r>
              <a:rPr sz="1900" b="1" dirty="0">
                <a:solidFill>
                  <a:srgbClr val="0C4A52"/>
                </a:solidFill>
                <a:latin typeface="Aptos"/>
              </a:rPr>
              <a:t> de la pipeline</a:t>
            </a:r>
          </a:p>
        </p:txBody>
      </p:sp>
      <p:sp>
        <p:nvSpPr>
          <p:cNvPr id="18" name="agenda-body-2"/>
          <p:cNvSpPr txBox="1"/>
          <p:nvPr/>
        </p:nvSpPr>
        <p:spPr>
          <a:xfrm>
            <a:off x="1866899" y="4905375"/>
            <a:ext cx="8096249" cy="400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1400" b="0" dirty="0">
                <a:solidFill>
                  <a:srgbClr val="17323A"/>
                </a:solidFill>
                <a:latin typeface="Aptos"/>
              </a:rPr>
              <a:t>En </a:t>
            </a:r>
            <a:r>
              <a:rPr sz="1400" b="0" dirty="0">
                <a:solidFill>
                  <a:srgbClr val="17323A"/>
                </a:solidFill>
                <a:latin typeface="Aptos"/>
              </a:rPr>
              <a:t>local, </a:t>
            </a:r>
            <a:r>
              <a:rPr sz="1400" b="0" dirty="0" err="1">
                <a:solidFill>
                  <a:srgbClr val="17323A"/>
                </a:solidFill>
                <a:latin typeface="Aptos"/>
              </a:rPr>
              <a:t>puis</a:t>
            </a:r>
            <a:r>
              <a:rPr sz="1400" b="0" dirty="0">
                <a:solidFill>
                  <a:srgbClr val="17323A"/>
                </a:solidFill>
                <a:latin typeface="Aptos"/>
              </a:rPr>
              <a:t> sur AWS.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4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xis-kicker"/>
          <p:cNvSpPr txBox="1"/>
          <p:nvPr/>
        </p:nvSpPr>
        <p:spPr>
          <a:xfrm>
            <a:off x="685800" y="609600"/>
            <a:ext cx="285750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E87938"/>
                </a:solidFill>
                <a:latin typeface="Aptos"/>
              </a:rPr>
              <a:t>AXE 1</a:t>
            </a:r>
          </a:p>
        </p:txBody>
      </p:sp>
      <p:sp>
        <p:nvSpPr>
          <p:cNvPr id="3" name="axis-number"/>
          <p:cNvSpPr txBox="1"/>
          <p:nvPr/>
        </p:nvSpPr>
        <p:spPr>
          <a:xfrm>
            <a:off x="685800" y="1314450"/>
            <a:ext cx="2190750" cy="1104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600" b="1">
                <a:solidFill>
                  <a:srgbClr val="D8E7E5"/>
                </a:solidFill>
                <a:latin typeface="Aptos Display"/>
              </a:rPr>
              <a:t>01</a:t>
            </a:r>
          </a:p>
        </p:txBody>
      </p:sp>
      <p:sp>
        <p:nvSpPr>
          <p:cNvPr id="4" name="axis-rule"/>
          <p:cNvSpPr/>
          <p:nvPr/>
        </p:nvSpPr>
        <p:spPr>
          <a:xfrm>
            <a:off x="3238500" y="1524000"/>
            <a:ext cx="38100" cy="3524250"/>
          </a:xfrm>
          <a:prstGeom prst="rect">
            <a:avLst/>
          </a:prstGeom>
          <a:solidFill>
            <a:srgbClr val="E879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xis-title"/>
          <p:cNvSpPr txBox="1"/>
          <p:nvPr/>
        </p:nvSpPr>
        <p:spPr>
          <a:xfrm>
            <a:off x="3829050" y="1657350"/>
            <a:ext cx="723900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 Display"/>
              </a:rPr>
              <a:t>Introduction et rappel
de la problématique</a:t>
            </a:r>
          </a:p>
        </p:txBody>
      </p:sp>
      <p:sp>
        <p:nvSpPr>
          <p:cNvPr id="6" name="axis-subtitle"/>
          <p:cNvSpPr txBox="1"/>
          <p:nvPr/>
        </p:nvSpPr>
        <p:spPr>
          <a:xfrm>
            <a:off x="3829050" y="3352800"/>
            <a:ext cx="6572250" cy="93344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fr-FR" dirty="0">
                <a:solidFill>
                  <a:schemeClr val="bg1"/>
                </a:solidFill>
                <a:latin typeface="Aptos"/>
              </a:rPr>
              <a:t>Contexte et contraintes</a:t>
            </a:r>
          </a:p>
        </p:txBody>
      </p:sp>
      <p:sp>
        <p:nvSpPr>
          <p:cNvPr id="7" name="axis-map"/>
          <p:cNvSpPr txBox="1"/>
          <p:nvPr/>
        </p:nvSpPr>
        <p:spPr>
          <a:xfrm>
            <a:off x="3829050" y="5105400"/>
            <a:ext cx="2857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>
                <a:solidFill>
                  <a:srgbClr val="E87938"/>
                </a:solidFill>
                <a:latin typeface="Aptos"/>
              </a:rPr>
              <a:t>01  —  02  —  03</a:t>
            </a:r>
          </a:p>
        </p:txBody>
      </p:sp>
      <p:sp>
        <p:nvSpPr>
          <p:cNvPr id="8" name="page-number"/>
          <p:cNvSpPr txBox="1"/>
          <p:nvPr/>
        </p:nvSpPr>
        <p:spPr>
          <a:xfrm>
            <a:off x="11096625" y="6496050"/>
            <a:ext cx="4095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819" b="1">
                <a:solidFill>
                  <a:srgbClr val="E87938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kicker">
            <a:extLst>
              <a:ext uri="{FF2B5EF4-FFF2-40B4-BE49-F238E27FC236}">
                <a16:creationId xmlns:a16="http://schemas.microsoft.com/office/drawing/2014/main" id="{E76B735A-428A-4FDB-8FB5-F1C76AB9197F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E87938"/>
                </a:solidFill>
                <a:latin typeface="Aptos"/>
                <a:ea typeface="Aptos"/>
                <a:cs typeface="Aptos"/>
              </a:defRPr>
            </a:pPr>
            <a:r>
              <a:rPr lang="fr-FR" sz="1050" b="1">
                <a:solidFill>
                  <a:srgbClr val="E87938"/>
                </a:solidFill>
                <a:latin typeface="Aptos"/>
                <a:ea typeface="Aptos"/>
                <a:cs typeface="Aptos"/>
              </a:rPr>
              <a:t>AXE 1 </a:t>
            </a:r>
            <a:r>
              <a:rPr sz="1050" b="1">
                <a:solidFill>
                  <a:srgbClr val="E87938"/>
                </a:solidFill>
                <a:latin typeface="Aptos"/>
                <a:ea typeface="Aptos"/>
                <a:cs typeface="Aptos"/>
              </a:rPr>
              <a:t>· </a:t>
            </a:r>
            <a:r>
              <a:rPr lang="fr-FR" sz="1050" b="1">
                <a:solidFill>
                  <a:srgbClr val="E87938"/>
                </a:solidFill>
                <a:latin typeface="Aptos"/>
                <a:ea typeface="Aptos"/>
                <a:cs typeface="Aptos"/>
              </a:rPr>
              <a:t>PROBLÉMATIQUE</a:t>
            </a:r>
            <a:endParaRPr sz="1050" b="1">
              <a:solidFill>
                <a:srgbClr val="E8793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695D4FF1-3648-440E-B3BB-4A905859F335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C4A52"/>
                </a:solidFill>
                <a:latin typeface="Aptos Display"/>
                <a:ea typeface="Aptos Display"/>
                <a:cs typeface="Aptos Display"/>
              </a:defRPr>
            </a:pPr>
            <a:r>
              <a:rPr lang="fr-FR" sz="2700" b="1" dirty="0">
                <a:solidFill>
                  <a:srgbClr val="0C4A52"/>
                </a:solidFill>
                <a:latin typeface="Aptos Display"/>
                <a:ea typeface="Aptos Display"/>
                <a:cs typeface="Aptos Display"/>
              </a:rPr>
              <a:t>Traitement de gros volumes de données</a:t>
            </a:r>
            <a:endParaRPr sz="2700" b="1" dirty="0">
              <a:solidFill>
                <a:srgbClr val="0C4A52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" name="headline-rule">
            <a:extLst>
              <a:ext uri="{FF2B5EF4-FFF2-40B4-BE49-F238E27FC236}">
                <a16:creationId xmlns:a16="http://schemas.microsoft.com/office/drawing/2014/main" id="{ADCD0469-10EC-400F-839E-536373E235C6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838200" cy="38100"/>
          </a:xfrm>
          <a:prstGeom prst="rect">
            <a:avLst/>
          </a:prstGeom>
          <a:solidFill>
            <a:srgbClr val="E87938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context-intro">
            <a:extLst>
              <a:ext uri="{FF2B5EF4-FFF2-40B4-BE49-F238E27FC236}">
                <a16:creationId xmlns:a16="http://schemas.microsoft.com/office/drawing/2014/main" id="{BAFDDD01-BB99-4C49-87BE-2E2149D541EA}"/>
              </a:ext>
            </a:extLst>
          </p:cNvPr>
          <p:cNvSpPr>
            <a:spLocks noGrp="1"/>
          </p:cNvSpPr>
          <p:nvPr/>
        </p:nvSpPr>
        <p:spPr>
          <a:xfrm>
            <a:off x="685800" y="1840229"/>
            <a:ext cx="5857875" cy="17773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17323A"/>
                </a:solidFill>
                <a:latin typeface="Aptos"/>
                <a:ea typeface="Aptos"/>
                <a:cs typeface="Aptos"/>
              </a:defRPr>
            </a:pPr>
            <a:r>
              <a:rPr sz="1800" b="0" dirty="0">
                <a:solidFill>
                  <a:srgbClr val="17323A"/>
                </a:solidFill>
                <a:latin typeface="Aptos"/>
                <a:ea typeface="Aptos"/>
                <a:cs typeface="Aptos"/>
              </a:rPr>
              <a:t>Le </a:t>
            </a:r>
            <a:r>
              <a:rPr sz="1800" b="0" dirty="0" err="1">
                <a:solidFill>
                  <a:srgbClr val="17323A"/>
                </a:solidFill>
                <a:latin typeface="Aptos"/>
                <a:ea typeface="Aptos"/>
                <a:cs typeface="Aptos"/>
              </a:rPr>
              <a:t>scénario</a:t>
            </a:r>
            <a:r>
              <a:rPr sz="1800" b="0" dirty="0">
                <a:solidFill>
                  <a:srgbClr val="17323A"/>
                </a:solidFill>
                <a:latin typeface="Aptos"/>
                <a:ea typeface="Aptos"/>
                <a:cs typeface="Aptos"/>
              </a:rPr>
              <a:t> Fruits! part </a:t>
            </a:r>
            <a:r>
              <a:rPr sz="1800" b="0" dirty="0" err="1">
                <a:solidFill>
                  <a:srgbClr val="17323A"/>
                </a:solidFill>
                <a:latin typeface="Aptos"/>
                <a:ea typeface="Aptos"/>
                <a:cs typeface="Aptos"/>
              </a:rPr>
              <a:t>d’une</a:t>
            </a:r>
            <a:r>
              <a:rPr sz="1800" b="0" dirty="0">
                <a:solidFill>
                  <a:srgbClr val="17323A"/>
                </a:solidFill>
                <a:latin typeface="Aptos"/>
                <a:ea typeface="Aptos"/>
                <a:cs typeface="Aptos"/>
              </a:rPr>
              <a:t> idée simple : identifier des fruits </a:t>
            </a:r>
            <a:r>
              <a:rPr sz="1800" b="0" dirty="0" err="1">
                <a:solidFill>
                  <a:srgbClr val="17323A"/>
                </a:solidFill>
                <a:latin typeface="Aptos"/>
                <a:ea typeface="Aptos"/>
                <a:cs typeface="Aptos"/>
              </a:rPr>
              <a:t>depuis</a:t>
            </a:r>
            <a:r>
              <a:rPr sz="1800" b="0" dirty="0">
                <a:solidFill>
                  <a:srgbClr val="17323A"/>
                </a:solidFill>
                <a:latin typeface="Aptos"/>
                <a:ea typeface="Aptos"/>
                <a:cs typeface="Aptos"/>
              </a:rPr>
              <a:t> </a:t>
            </a:r>
            <a:r>
              <a:rPr sz="1800" b="0" dirty="0" err="1">
                <a:solidFill>
                  <a:srgbClr val="17323A"/>
                </a:solidFill>
                <a:latin typeface="Aptos"/>
                <a:ea typeface="Aptos"/>
                <a:cs typeface="Aptos"/>
              </a:rPr>
              <a:t>une</a:t>
            </a:r>
            <a:r>
              <a:rPr sz="1800" b="0" dirty="0">
                <a:solidFill>
                  <a:srgbClr val="17323A"/>
                </a:solidFill>
                <a:latin typeface="Aptos"/>
                <a:ea typeface="Aptos"/>
                <a:cs typeface="Aptos"/>
              </a:rPr>
              <a:t> image</a:t>
            </a:r>
            <a:r>
              <a:rPr lang="fr-FR" sz="1800" b="0" dirty="0">
                <a:solidFill>
                  <a:srgbClr val="17323A"/>
                </a:solidFill>
                <a:latin typeface="Aptos"/>
                <a:ea typeface="Aptos"/>
                <a:cs typeface="Aptos"/>
              </a:rPr>
              <a:t> via</a:t>
            </a:r>
            <a:r>
              <a:rPr lang="fr-FR" dirty="0">
                <a:solidFill>
                  <a:srgbClr val="17323A"/>
                </a:solidFill>
                <a:latin typeface="Aptos"/>
                <a:ea typeface="Aptos"/>
                <a:cs typeface="Aptos"/>
              </a:rPr>
              <a:t> un modèle de machine </a:t>
            </a:r>
            <a:r>
              <a:rPr lang="fr-FR" dirty="0" err="1">
                <a:solidFill>
                  <a:srgbClr val="17323A"/>
                </a:solidFill>
                <a:latin typeface="Aptos"/>
                <a:ea typeface="Aptos"/>
                <a:cs typeface="Aptos"/>
              </a:rPr>
              <a:t>learning</a:t>
            </a:r>
            <a:r>
              <a:rPr lang="fr-FR" dirty="0">
                <a:solidFill>
                  <a:srgbClr val="17323A"/>
                </a:solidFill>
                <a:latin typeface="Aptos"/>
                <a:ea typeface="Aptos"/>
                <a:cs typeface="Aptos"/>
              </a:rPr>
              <a:t>.</a:t>
            </a:r>
          </a:p>
          <a:p>
            <a:pPr algn="l">
              <a:defRPr sz="1800" b="0">
                <a:solidFill>
                  <a:srgbClr val="17323A"/>
                </a:solidFill>
                <a:latin typeface="Aptos"/>
                <a:ea typeface="Aptos"/>
                <a:cs typeface="Aptos"/>
              </a:defRPr>
            </a:pPr>
            <a:endParaRPr lang="fr-FR" dirty="0">
              <a:solidFill>
                <a:srgbClr val="17323A"/>
              </a:solidFill>
              <a:latin typeface="Aptos"/>
              <a:ea typeface="Aptos"/>
              <a:cs typeface="Aptos"/>
            </a:endParaRPr>
          </a:p>
          <a:p>
            <a:pPr algn="l">
              <a:defRPr sz="1800" b="0">
                <a:solidFill>
                  <a:srgbClr val="17323A"/>
                </a:solidFill>
                <a:latin typeface="Aptos"/>
                <a:ea typeface="Aptos"/>
                <a:cs typeface="Aptos"/>
              </a:defRPr>
            </a:pPr>
            <a:r>
              <a:rPr lang="fr-FR" dirty="0">
                <a:solidFill>
                  <a:srgbClr val="17323A"/>
                </a:solidFill>
                <a:latin typeface="Aptos"/>
                <a:ea typeface="Aptos"/>
                <a:cs typeface="Aptos"/>
              </a:rPr>
              <a:t>Notre objectif ici est de mettre en place sur le cloud une pipeline de </a:t>
            </a:r>
            <a:r>
              <a:rPr lang="fr-FR" dirty="0" err="1">
                <a:solidFill>
                  <a:srgbClr val="17323A"/>
                </a:solidFill>
                <a:latin typeface="Aptos"/>
                <a:ea typeface="Aptos"/>
                <a:cs typeface="Aptos"/>
              </a:rPr>
              <a:t>preprocessing</a:t>
            </a:r>
            <a:r>
              <a:rPr lang="fr-FR" dirty="0">
                <a:solidFill>
                  <a:srgbClr val="17323A"/>
                </a:solidFill>
                <a:latin typeface="Aptos"/>
                <a:ea typeface="Aptos"/>
                <a:cs typeface="Aptos"/>
              </a:rPr>
              <a:t> de données, qui servira pour l’entraînement du modèle.</a:t>
            </a:r>
            <a:endParaRPr sz="1800" b="0" dirty="0">
              <a:solidFill>
                <a:srgbClr val="1732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context-divider">
            <a:extLst>
              <a:ext uri="{FF2B5EF4-FFF2-40B4-BE49-F238E27FC236}">
                <a16:creationId xmlns:a16="http://schemas.microsoft.com/office/drawing/2014/main" id="{DAA05C7D-3EB8-47D9-88B8-E9F1F65630F7}"/>
              </a:ext>
            </a:extLst>
          </p:cNvPr>
          <p:cNvSpPr>
            <a:spLocks noGrp="1"/>
          </p:cNvSpPr>
          <p:nvPr/>
        </p:nvSpPr>
        <p:spPr>
          <a:xfrm>
            <a:off x="6858000" y="1924050"/>
            <a:ext cx="19050" cy="3695700"/>
          </a:xfrm>
          <a:prstGeom prst="rect">
            <a:avLst/>
          </a:prstGeom>
          <a:solidFill>
            <a:srgbClr val="E9DED0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prototype-label">
            <a:extLst>
              <a:ext uri="{FF2B5EF4-FFF2-40B4-BE49-F238E27FC236}">
                <a16:creationId xmlns:a16="http://schemas.microsoft.com/office/drawing/2014/main" id="{24540E8E-1995-4397-9542-07040707764D}"/>
              </a:ext>
            </a:extLst>
          </p:cNvPr>
          <p:cNvSpPr>
            <a:spLocks noGrp="1"/>
          </p:cNvSpPr>
          <p:nvPr/>
        </p:nvSpPr>
        <p:spPr>
          <a:xfrm>
            <a:off x="7330440" y="4971957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607174"/>
                </a:solidFill>
                <a:latin typeface="Aptos"/>
                <a:ea typeface="Aptos"/>
                <a:cs typeface="Aptos"/>
              </a:defRPr>
            </a:pPr>
            <a:r>
              <a:rPr lang="fr-FR" sz="1200" b="1" dirty="0">
                <a:solidFill>
                  <a:srgbClr val="607174"/>
                </a:solidFill>
                <a:latin typeface="Aptos"/>
                <a:ea typeface="Aptos"/>
                <a:cs typeface="Aptos"/>
              </a:rPr>
              <a:t>Une Version LOCALE</a:t>
            </a:r>
            <a:endParaRPr sz="1200" b="1" dirty="0">
              <a:solidFill>
                <a:srgbClr val="60717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volume-label">
            <a:extLst>
              <a:ext uri="{FF2B5EF4-FFF2-40B4-BE49-F238E27FC236}">
                <a16:creationId xmlns:a16="http://schemas.microsoft.com/office/drawing/2014/main" id="{B3F5CF4B-37BD-4A7B-B0B3-366A2403CAF8}"/>
              </a:ext>
            </a:extLst>
          </p:cNvPr>
          <p:cNvSpPr>
            <a:spLocks noGrp="1"/>
          </p:cNvSpPr>
          <p:nvPr/>
        </p:nvSpPr>
        <p:spPr>
          <a:xfrm>
            <a:off x="7330440" y="5791583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607174"/>
                </a:solidFill>
                <a:latin typeface="Aptos"/>
                <a:ea typeface="Aptos"/>
                <a:cs typeface="Aptos"/>
              </a:defRPr>
            </a:pPr>
            <a:r>
              <a:rPr lang="fr-FR" sz="1200" b="1" dirty="0">
                <a:solidFill>
                  <a:srgbClr val="607174"/>
                </a:solidFill>
                <a:latin typeface="Aptos"/>
                <a:ea typeface="Aptos"/>
                <a:cs typeface="Aptos"/>
              </a:rPr>
              <a:t>Une version</a:t>
            </a:r>
            <a:r>
              <a:rPr sz="1200" b="1" dirty="0">
                <a:solidFill>
                  <a:srgbClr val="607174"/>
                </a:solidFill>
                <a:latin typeface="Aptos"/>
                <a:ea typeface="Aptos"/>
                <a:cs typeface="Aptos"/>
              </a:rPr>
              <a:t> CLOUD</a:t>
            </a:r>
          </a:p>
        </p:txBody>
      </p:sp>
      <p:sp>
        <p:nvSpPr>
          <p:cNvPr id="10" name="volume-word">
            <a:extLst>
              <a:ext uri="{FF2B5EF4-FFF2-40B4-BE49-F238E27FC236}">
                <a16:creationId xmlns:a16="http://schemas.microsoft.com/office/drawing/2014/main" id="{66B390E0-02CF-4075-975B-6401A8B1841E}"/>
              </a:ext>
            </a:extLst>
          </p:cNvPr>
          <p:cNvSpPr>
            <a:spLocks noGrp="1"/>
          </p:cNvSpPr>
          <p:nvPr/>
        </p:nvSpPr>
        <p:spPr>
          <a:xfrm>
            <a:off x="7295197" y="1751948"/>
            <a:ext cx="3619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0C4A52"/>
                </a:solidFill>
                <a:latin typeface="Aptos Display"/>
                <a:ea typeface="Aptos Display"/>
                <a:cs typeface="Aptos Display"/>
              </a:defRPr>
            </a:pPr>
            <a:r>
              <a:rPr lang="fr-FR" sz="2250" b="1" dirty="0">
                <a:solidFill>
                  <a:srgbClr val="0C4A52"/>
                </a:solidFill>
                <a:latin typeface="Aptos Display"/>
                <a:ea typeface="Aptos Display"/>
                <a:cs typeface="Aptos Display"/>
              </a:rPr>
              <a:t>Contraintes</a:t>
            </a:r>
            <a:endParaRPr sz="2250" b="1" dirty="0">
              <a:solidFill>
                <a:srgbClr val="0C4A52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1" name="ctx1-mark">
            <a:extLst>
              <a:ext uri="{FF2B5EF4-FFF2-40B4-BE49-F238E27FC236}">
                <a16:creationId xmlns:a16="http://schemas.microsoft.com/office/drawing/2014/main" id="{F37B8BA6-3AC5-4E53-B1E4-24C10565E316}"/>
              </a:ext>
            </a:extLst>
          </p:cNvPr>
          <p:cNvSpPr>
            <a:spLocks noGrp="1"/>
          </p:cNvSpPr>
          <p:nvPr/>
        </p:nvSpPr>
        <p:spPr>
          <a:xfrm>
            <a:off x="838200" y="4136615"/>
            <a:ext cx="76200" cy="76200"/>
          </a:xfrm>
          <a:prstGeom prst="rect">
            <a:avLst/>
          </a:prstGeom>
          <a:solidFill>
            <a:srgbClr val="E87938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ctx1-lead">
            <a:extLst>
              <a:ext uri="{FF2B5EF4-FFF2-40B4-BE49-F238E27FC236}">
                <a16:creationId xmlns:a16="http://schemas.microsoft.com/office/drawing/2014/main" id="{80A79BFF-92B9-4A55-91F3-18C781E16656}"/>
              </a:ext>
            </a:extLst>
          </p:cNvPr>
          <p:cNvSpPr>
            <a:spLocks noGrp="1"/>
          </p:cNvSpPr>
          <p:nvPr/>
        </p:nvSpPr>
        <p:spPr>
          <a:xfrm>
            <a:off x="1066800" y="4001360"/>
            <a:ext cx="5200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C4A52"/>
                </a:solidFill>
                <a:latin typeface="Aptos"/>
                <a:ea typeface="Aptos"/>
                <a:cs typeface="Aptos"/>
              </a:defRPr>
            </a:pPr>
            <a:r>
              <a:rPr lang="fr-FR" sz="1500" b="1" dirty="0">
                <a:solidFill>
                  <a:srgbClr val="0C4A52"/>
                </a:solidFill>
                <a:latin typeface="Aptos"/>
                <a:ea typeface="Aptos"/>
                <a:cs typeface="Aptos"/>
              </a:rPr>
              <a:t>Choix d’une architecture Cloud</a:t>
            </a:r>
            <a:endParaRPr sz="1500" b="1" dirty="0">
              <a:solidFill>
                <a:srgbClr val="0C4A5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ctx1-body">
            <a:extLst>
              <a:ext uri="{FF2B5EF4-FFF2-40B4-BE49-F238E27FC236}">
                <a16:creationId xmlns:a16="http://schemas.microsoft.com/office/drawing/2014/main" id="{F251447E-03DB-49E2-B937-52189165DD26}"/>
              </a:ext>
            </a:extLst>
          </p:cNvPr>
          <p:cNvSpPr>
            <a:spLocks noGrp="1"/>
          </p:cNvSpPr>
          <p:nvPr/>
        </p:nvSpPr>
        <p:spPr>
          <a:xfrm>
            <a:off x="1066800" y="4325210"/>
            <a:ext cx="5200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323A"/>
                </a:solidFill>
                <a:latin typeface="Aptos"/>
                <a:ea typeface="Aptos"/>
                <a:cs typeface="Aptos"/>
              </a:defRPr>
            </a:pPr>
            <a:r>
              <a:rPr lang="fr-FR" sz="1350" b="0" dirty="0">
                <a:solidFill>
                  <a:srgbClr val="17323A"/>
                </a:solidFill>
                <a:latin typeface="Aptos"/>
                <a:ea typeface="Aptos"/>
                <a:cs typeface="Aptos"/>
              </a:rPr>
              <a:t>Contraintes techniques et règlementaires (RGPD)</a:t>
            </a:r>
            <a:endParaRPr sz="1350" b="0" dirty="0">
              <a:solidFill>
                <a:srgbClr val="1732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ctx2-mark">
            <a:extLst>
              <a:ext uri="{FF2B5EF4-FFF2-40B4-BE49-F238E27FC236}">
                <a16:creationId xmlns:a16="http://schemas.microsoft.com/office/drawing/2014/main" id="{25F3E642-891D-429A-95C4-825124287089}"/>
              </a:ext>
            </a:extLst>
          </p:cNvPr>
          <p:cNvSpPr>
            <a:spLocks noGrp="1"/>
          </p:cNvSpPr>
          <p:nvPr/>
        </p:nvSpPr>
        <p:spPr>
          <a:xfrm>
            <a:off x="838200" y="4825272"/>
            <a:ext cx="76200" cy="76200"/>
          </a:xfrm>
          <a:prstGeom prst="rect">
            <a:avLst/>
          </a:prstGeom>
          <a:solidFill>
            <a:srgbClr val="E87938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ctx2-lead">
            <a:extLst>
              <a:ext uri="{FF2B5EF4-FFF2-40B4-BE49-F238E27FC236}">
                <a16:creationId xmlns:a16="http://schemas.microsoft.com/office/drawing/2014/main" id="{FB39777C-EB14-4C05-8BDF-633D610375FB}"/>
              </a:ext>
            </a:extLst>
          </p:cNvPr>
          <p:cNvSpPr>
            <a:spLocks noGrp="1"/>
          </p:cNvSpPr>
          <p:nvPr/>
        </p:nvSpPr>
        <p:spPr>
          <a:xfrm>
            <a:off x="1066800" y="4710972"/>
            <a:ext cx="5200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C4A52"/>
                </a:solidFill>
                <a:latin typeface="Aptos"/>
                <a:ea typeface="Aptos"/>
                <a:cs typeface="Aptos"/>
              </a:defRPr>
            </a:pPr>
            <a:r>
              <a:rPr lang="fr-FR" sz="1500" b="1" dirty="0">
                <a:solidFill>
                  <a:srgbClr val="0C4A52"/>
                </a:solidFill>
                <a:latin typeface="Aptos"/>
                <a:ea typeface="Aptos"/>
                <a:cs typeface="Aptos"/>
              </a:rPr>
              <a:t>Pipeline de traitement de données pensée pour le calcul distribué</a:t>
            </a:r>
            <a:endParaRPr sz="1500" b="1" dirty="0">
              <a:solidFill>
                <a:srgbClr val="0C4A5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ctx2-body">
            <a:extLst>
              <a:ext uri="{FF2B5EF4-FFF2-40B4-BE49-F238E27FC236}">
                <a16:creationId xmlns:a16="http://schemas.microsoft.com/office/drawing/2014/main" id="{DC9EF26A-1BD1-47C5-A86A-026FFCA2C80E}"/>
              </a:ext>
            </a:extLst>
          </p:cNvPr>
          <p:cNvSpPr>
            <a:spLocks noGrp="1"/>
          </p:cNvSpPr>
          <p:nvPr/>
        </p:nvSpPr>
        <p:spPr>
          <a:xfrm>
            <a:off x="1104900" y="5287234"/>
            <a:ext cx="5200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323A"/>
                </a:solidFill>
                <a:latin typeface="Aptos"/>
                <a:ea typeface="Aptos"/>
                <a:cs typeface="Aptos"/>
              </a:defRPr>
            </a:pPr>
            <a:r>
              <a:rPr sz="1350" b="0" dirty="0" err="1">
                <a:solidFill>
                  <a:srgbClr val="17323A"/>
                </a:solidFill>
                <a:latin typeface="Aptos"/>
                <a:ea typeface="Aptos"/>
                <a:cs typeface="Aptos"/>
              </a:rPr>
              <a:t>Produire</a:t>
            </a:r>
            <a:r>
              <a:rPr sz="1350" b="0" dirty="0">
                <a:solidFill>
                  <a:srgbClr val="17323A"/>
                </a:solidFill>
                <a:latin typeface="Aptos"/>
                <a:ea typeface="Aptos"/>
                <a:cs typeface="Aptos"/>
              </a:rPr>
              <a:t> des features </a:t>
            </a:r>
            <a:r>
              <a:rPr sz="1350" b="0" dirty="0" err="1">
                <a:solidFill>
                  <a:srgbClr val="17323A"/>
                </a:solidFill>
                <a:latin typeface="Aptos"/>
                <a:ea typeface="Aptos"/>
                <a:cs typeface="Aptos"/>
              </a:rPr>
              <a:t>prêtes</a:t>
            </a:r>
            <a:r>
              <a:rPr sz="1350" b="0" dirty="0">
                <a:solidFill>
                  <a:srgbClr val="17323A"/>
                </a:solidFill>
                <a:latin typeface="Aptos"/>
                <a:ea typeface="Aptos"/>
                <a:cs typeface="Aptos"/>
              </a:rPr>
              <a:t> pour les étapes de </a:t>
            </a:r>
            <a:r>
              <a:rPr sz="1350" b="0" dirty="0" err="1">
                <a:solidFill>
                  <a:srgbClr val="17323A"/>
                </a:solidFill>
                <a:latin typeface="Aptos"/>
                <a:ea typeface="Aptos"/>
                <a:cs typeface="Aptos"/>
              </a:rPr>
              <a:t>modélisation</a:t>
            </a:r>
            <a:r>
              <a:rPr sz="1350" b="0" dirty="0">
                <a:solidFill>
                  <a:srgbClr val="17323A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17" name="ctx3-mark">
            <a:extLst>
              <a:ext uri="{FF2B5EF4-FFF2-40B4-BE49-F238E27FC236}">
                <a16:creationId xmlns:a16="http://schemas.microsoft.com/office/drawing/2014/main" id="{8C857361-D5D8-4479-8CCC-318B7A02554E}"/>
              </a:ext>
            </a:extLst>
          </p:cNvPr>
          <p:cNvSpPr>
            <a:spLocks noGrp="1"/>
          </p:cNvSpPr>
          <p:nvPr/>
        </p:nvSpPr>
        <p:spPr>
          <a:xfrm>
            <a:off x="7271881" y="2409204"/>
            <a:ext cx="76200" cy="76200"/>
          </a:xfrm>
          <a:prstGeom prst="rect">
            <a:avLst/>
          </a:prstGeom>
          <a:solidFill>
            <a:srgbClr val="E87938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ctx3-lead">
            <a:extLst>
              <a:ext uri="{FF2B5EF4-FFF2-40B4-BE49-F238E27FC236}">
                <a16:creationId xmlns:a16="http://schemas.microsoft.com/office/drawing/2014/main" id="{AF412A20-FFB6-4E63-BC36-5BB510868527}"/>
              </a:ext>
            </a:extLst>
          </p:cNvPr>
          <p:cNvSpPr>
            <a:spLocks noGrp="1"/>
          </p:cNvSpPr>
          <p:nvPr/>
        </p:nvSpPr>
        <p:spPr>
          <a:xfrm>
            <a:off x="7428547" y="2275523"/>
            <a:ext cx="3486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C4A52"/>
                </a:solidFill>
                <a:latin typeface="Aptos"/>
                <a:ea typeface="Aptos"/>
                <a:cs typeface="Aptos"/>
              </a:defRPr>
            </a:pPr>
            <a:r>
              <a:rPr lang="fr-FR" sz="1500" b="1" dirty="0">
                <a:solidFill>
                  <a:srgbClr val="0C4A52"/>
                </a:solidFill>
                <a:latin typeface="Aptos"/>
                <a:ea typeface="Aptos"/>
                <a:cs typeface="Aptos"/>
              </a:rPr>
              <a:t>Capacité de calcul</a:t>
            </a:r>
            <a:endParaRPr sz="1500" b="1" dirty="0">
              <a:solidFill>
                <a:srgbClr val="0C4A5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footer-rule">
            <a:extLst>
              <a:ext uri="{FF2B5EF4-FFF2-40B4-BE49-F238E27FC236}">
                <a16:creationId xmlns:a16="http://schemas.microsoft.com/office/drawing/2014/main" id="{AB2D64CF-952C-45F5-9C2E-A43DC9541BD6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10820400" cy="9525"/>
          </a:xfrm>
          <a:prstGeom prst="rect">
            <a:avLst/>
          </a:prstGeom>
          <a:solidFill>
            <a:srgbClr val="E9DED0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footer-source">
            <a:extLst>
              <a:ext uri="{FF2B5EF4-FFF2-40B4-BE49-F238E27FC236}">
                <a16:creationId xmlns:a16="http://schemas.microsoft.com/office/drawing/2014/main" id="{C34E3715-1F27-4D6B-B837-82A296977A03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933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071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174"/>
                </a:solidFill>
                <a:latin typeface="Aptos"/>
                <a:ea typeface="Aptos"/>
                <a:cs typeface="Aptos"/>
              </a:rPr>
              <a:t>Architecture de référence du projet OpenClassrooms · sources p. </a:t>
            </a:r>
            <a:r>
              <a:rPr lang="fr-FR" sz="750" b="0">
                <a:solidFill>
                  <a:srgbClr val="607174"/>
                </a:solidFill>
                <a:latin typeface="Aptos"/>
                <a:ea typeface="Aptos"/>
                <a:cs typeface="Aptos"/>
              </a:rPr>
              <a:t>15</a:t>
            </a:r>
            <a:endParaRPr sz="750" b="0">
              <a:solidFill>
                <a:srgbClr val="60717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page-number">
            <a:extLst>
              <a:ext uri="{FF2B5EF4-FFF2-40B4-BE49-F238E27FC236}">
                <a16:creationId xmlns:a16="http://schemas.microsoft.com/office/drawing/2014/main" id="{7CD46552-22F1-4822-A310-F3271C58F365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095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E87938"/>
                </a:solidFill>
                <a:latin typeface="Aptos"/>
                <a:ea typeface="Aptos"/>
                <a:cs typeface="Aptos"/>
              </a:defRPr>
            </a:pPr>
            <a:r>
              <a:rPr lang="fr-FR" sz="825" b="1">
                <a:solidFill>
                  <a:srgbClr val="E87938"/>
                </a:solidFill>
                <a:latin typeface="Aptos"/>
                <a:ea typeface="Aptos"/>
                <a:cs typeface="Aptos"/>
              </a:rPr>
              <a:t>04</a:t>
            </a:r>
            <a:endParaRPr sz="825" b="1">
              <a:solidFill>
                <a:srgbClr val="E87938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B78C0655-570D-9C6A-083F-61711A71A254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5867400" y="5086257"/>
            <a:ext cx="1463040" cy="3486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BDF948D2-08BE-A891-519B-8E39615162D6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5867400" y="5438920"/>
            <a:ext cx="1463040" cy="466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tx3-mark">
            <a:extLst>
              <a:ext uri="{FF2B5EF4-FFF2-40B4-BE49-F238E27FC236}">
                <a16:creationId xmlns:a16="http://schemas.microsoft.com/office/drawing/2014/main" id="{9E7E4995-64DB-E883-07A3-C977C86CEBBE}"/>
              </a:ext>
            </a:extLst>
          </p:cNvPr>
          <p:cNvSpPr>
            <a:spLocks noGrp="1"/>
          </p:cNvSpPr>
          <p:nvPr/>
        </p:nvSpPr>
        <p:spPr>
          <a:xfrm>
            <a:off x="7271881" y="2780441"/>
            <a:ext cx="76200" cy="76200"/>
          </a:xfrm>
          <a:prstGeom prst="rect">
            <a:avLst/>
          </a:prstGeom>
          <a:solidFill>
            <a:srgbClr val="E87938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ctx3-lead">
            <a:extLst>
              <a:ext uri="{FF2B5EF4-FFF2-40B4-BE49-F238E27FC236}">
                <a16:creationId xmlns:a16="http://schemas.microsoft.com/office/drawing/2014/main" id="{FA30771F-223B-E42E-565D-0661C3AB6978}"/>
              </a:ext>
            </a:extLst>
          </p:cNvPr>
          <p:cNvSpPr>
            <a:spLocks noGrp="1"/>
          </p:cNvSpPr>
          <p:nvPr/>
        </p:nvSpPr>
        <p:spPr>
          <a:xfrm>
            <a:off x="7428547" y="2646760"/>
            <a:ext cx="3486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C4A52"/>
                </a:solidFill>
                <a:latin typeface="Aptos"/>
                <a:ea typeface="Aptos"/>
                <a:cs typeface="Aptos"/>
              </a:defRPr>
            </a:pPr>
            <a:r>
              <a:rPr lang="fr-FR" sz="1500" b="1" dirty="0">
                <a:solidFill>
                  <a:srgbClr val="0C4A52"/>
                </a:solidFill>
                <a:latin typeface="Aptos"/>
                <a:ea typeface="Aptos"/>
                <a:cs typeface="Aptos"/>
              </a:rPr>
              <a:t>Capacité de stockage</a:t>
            </a:r>
            <a:endParaRPr sz="1500" b="1" dirty="0">
              <a:solidFill>
                <a:srgbClr val="0C4A5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9" name="ctx3-mark">
            <a:extLst>
              <a:ext uri="{FF2B5EF4-FFF2-40B4-BE49-F238E27FC236}">
                <a16:creationId xmlns:a16="http://schemas.microsoft.com/office/drawing/2014/main" id="{99463BD5-5949-E620-57BA-83A9FF6D0387}"/>
              </a:ext>
            </a:extLst>
          </p:cNvPr>
          <p:cNvSpPr>
            <a:spLocks noGrp="1"/>
          </p:cNvSpPr>
          <p:nvPr/>
        </p:nvSpPr>
        <p:spPr>
          <a:xfrm>
            <a:off x="7271881" y="3150248"/>
            <a:ext cx="76200" cy="76200"/>
          </a:xfrm>
          <a:prstGeom prst="rect">
            <a:avLst/>
          </a:prstGeom>
          <a:solidFill>
            <a:srgbClr val="E87938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ctx3-lead">
            <a:extLst>
              <a:ext uri="{FF2B5EF4-FFF2-40B4-BE49-F238E27FC236}">
                <a16:creationId xmlns:a16="http://schemas.microsoft.com/office/drawing/2014/main" id="{13478C0B-A548-EDA6-87AE-1170B68B384F}"/>
              </a:ext>
            </a:extLst>
          </p:cNvPr>
          <p:cNvSpPr>
            <a:spLocks noGrp="1"/>
          </p:cNvSpPr>
          <p:nvPr/>
        </p:nvSpPr>
        <p:spPr>
          <a:xfrm>
            <a:off x="7428547" y="3015257"/>
            <a:ext cx="3486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C4A52"/>
                </a:solidFill>
                <a:latin typeface="Aptos"/>
                <a:ea typeface="Aptos"/>
                <a:cs typeface="Aptos"/>
              </a:defRPr>
            </a:pPr>
            <a:r>
              <a:rPr lang="fr-FR" sz="1500" b="1" dirty="0">
                <a:solidFill>
                  <a:srgbClr val="0C4A52"/>
                </a:solidFill>
                <a:latin typeface="Aptos"/>
                <a:ea typeface="Aptos"/>
                <a:cs typeface="Aptos"/>
              </a:rPr>
              <a:t>Solution connectée</a:t>
            </a:r>
            <a:endParaRPr sz="1500" b="1" dirty="0">
              <a:solidFill>
                <a:srgbClr val="0C4A52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300097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4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xis-kicker"/>
          <p:cNvSpPr txBox="1"/>
          <p:nvPr/>
        </p:nvSpPr>
        <p:spPr>
          <a:xfrm>
            <a:off x="685800" y="609600"/>
            <a:ext cx="285750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E87938"/>
                </a:solidFill>
                <a:latin typeface="Aptos"/>
              </a:rPr>
              <a:t>AXE 2</a:t>
            </a:r>
          </a:p>
        </p:txBody>
      </p:sp>
      <p:sp>
        <p:nvSpPr>
          <p:cNvPr id="3" name="axis-number"/>
          <p:cNvSpPr txBox="1"/>
          <p:nvPr/>
        </p:nvSpPr>
        <p:spPr>
          <a:xfrm>
            <a:off x="685800" y="1314450"/>
            <a:ext cx="2190750" cy="1104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600" b="1">
                <a:solidFill>
                  <a:srgbClr val="D8E7E5"/>
                </a:solidFill>
                <a:latin typeface="Aptos Display"/>
              </a:rPr>
              <a:t>02</a:t>
            </a:r>
          </a:p>
        </p:txBody>
      </p:sp>
      <p:sp>
        <p:nvSpPr>
          <p:cNvPr id="4" name="axis-rule"/>
          <p:cNvSpPr/>
          <p:nvPr/>
        </p:nvSpPr>
        <p:spPr>
          <a:xfrm>
            <a:off x="3238500" y="1524000"/>
            <a:ext cx="38100" cy="3524250"/>
          </a:xfrm>
          <a:prstGeom prst="rect">
            <a:avLst/>
          </a:prstGeom>
          <a:solidFill>
            <a:srgbClr val="E879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xis-title"/>
          <p:cNvSpPr txBox="1"/>
          <p:nvPr/>
        </p:nvSpPr>
        <p:spPr>
          <a:xfrm>
            <a:off x="3829050" y="1657350"/>
            <a:ext cx="723900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 Display"/>
              </a:rPr>
              <a:t>Choix techniques, Cloud
et architecture</a:t>
            </a:r>
          </a:p>
        </p:txBody>
      </p:sp>
      <p:sp>
        <p:nvSpPr>
          <p:cNvPr id="6" name="axis-subtitle"/>
          <p:cNvSpPr txBox="1"/>
          <p:nvPr/>
        </p:nvSpPr>
        <p:spPr>
          <a:xfrm>
            <a:off x="3829050" y="3352800"/>
            <a:ext cx="6572250" cy="93344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fr-FR" dirty="0">
                <a:solidFill>
                  <a:schemeClr val="bg1"/>
                </a:solidFill>
                <a:latin typeface="Aptos"/>
              </a:rPr>
              <a:t>Spark, S3 et EMR.</a:t>
            </a:r>
          </a:p>
        </p:txBody>
      </p:sp>
      <p:sp>
        <p:nvSpPr>
          <p:cNvPr id="7" name="axis-map"/>
          <p:cNvSpPr txBox="1"/>
          <p:nvPr/>
        </p:nvSpPr>
        <p:spPr>
          <a:xfrm>
            <a:off x="3829050" y="5105400"/>
            <a:ext cx="2857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>
                <a:solidFill>
                  <a:srgbClr val="E87938"/>
                </a:solidFill>
                <a:latin typeface="Aptos"/>
              </a:rPr>
              <a:t>01  —  02  —  03</a:t>
            </a:r>
          </a:p>
        </p:txBody>
      </p:sp>
      <p:sp>
        <p:nvSpPr>
          <p:cNvPr id="8" name="page-number"/>
          <p:cNvSpPr txBox="1"/>
          <p:nvPr/>
        </p:nvSpPr>
        <p:spPr>
          <a:xfrm>
            <a:off x="11096625" y="6496050"/>
            <a:ext cx="4095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819" b="1">
                <a:solidFill>
                  <a:srgbClr val="E87938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85800" y="419100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E87938"/>
                </a:solidFill>
                <a:latin typeface="Aptos"/>
              </a:rPr>
              <a:t>AXE 2 · CLOUD PROVIDERS</a:t>
            </a:r>
          </a:p>
        </p:txBody>
      </p:sp>
      <p:sp>
        <p:nvSpPr>
          <p:cNvPr id="3" name="headline"/>
          <p:cNvSpPr txBox="1"/>
          <p:nvPr/>
        </p:nvSpPr>
        <p:spPr>
          <a:xfrm>
            <a:off x="685800" y="781050"/>
            <a:ext cx="10820400" cy="876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700" b="1" dirty="0">
                <a:solidFill>
                  <a:srgbClr val="0C4A52"/>
                </a:solidFill>
                <a:latin typeface="Aptos Display"/>
              </a:rPr>
              <a:t>Trois </a:t>
            </a:r>
            <a:r>
              <a:rPr sz="2700" b="1" dirty="0" err="1">
                <a:solidFill>
                  <a:srgbClr val="0C4A52"/>
                </a:solidFill>
                <a:latin typeface="Aptos Display"/>
              </a:rPr>
              <a:t>offres</a:t>
            </a:r>
            <a:r>
              <a:rPr sz="2700" b="1" dirty="0">
                <a:solidFill>
                  <a:srgbClr val="0C4A52"/>
                </a:solidFill>
                <a:latin typeface="Aptos Display"/>
              </a:rPr>
              <a:t> comparables</a:t>
            </a:r>
            <a:r>
              <a:rPr lang="fr-FR" sz="2700" b="1" dirty="0">
                <a:solidFill>
                  <a:srgbClr val="0C4A52"/>
                </a:solidFill>
                <a:latin typeface="Aptos Display"/>
              </a:rPr>
              <a:t> — IaaS</a:t>
            </a:r>
            <a:endParaRPr sz="2700" b="1" dirty="0">
              <a:solidFill>
                <a:srgbClr val="0C4A52"/>
              </a:solidFill>
              <a:latin typeface="Aptos Display"/>
            </a:endParaRPr>
          </a:p>
        </p:txBody>
      </p:sp>
      <p:sp>
        <p:nvSpPr>
          <p:cNvPr id="4" name="headline-rule"/>
          <p:cNvSpPr/>
          <p:nvPr/>
        </p:nvSpPr>
        <p:spPr>
          <a:xfrm>
            <a:off x="685800" y="1714500"/>
            <a:ext cx="838200" cy="38100"/>
          </a:xfrm>
          <a:prstGeom prst="rect">
            <a:avLst/>
          </a:prstGeom>
          <a:solidFill>
            <a:srgbClr val="E879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ooter-rule"/>
          <p:cNvSpPr/>
          <p:nvPr/>
        </p:nvSpPr>
        <p:spPr>
          <a:xfrm>
            <a:off x="685800" y="6429375"/>
            <a:ext cx="10820400" cy="9525"/>
          </a:xfrm>
          <a:prstGeom prst="rect">
            <a:avLst/>
          </a:prstGeom>
          <a:solidFill>
            <a:srgbClr val="E9D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ooter-source"/>
          <p:cNvSpPr txBox="1"/>
          <p:nvPr/>
        </p:nvSpPr>
        <p:spPr>
          <a:xfrm>
            <a:off x="685800" y="6515100"/>
            <a:ext cx="9334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>
                <a:solidFill>
                  <a:srgbClr val="607174"/>
                </a:solidFill>
                <a:latin typeface="Aptos"/>
              </a:rPr>
              <a:t>Architecture de référence du projet OpenClassrooms · sources p. 15</a:t>
            </a:r>
          </a:p>
        </p:txBody>
      </p:sp>
      <p:sp>
        <p:nvSpPr>
          <p:cNvPr id="7" name="page-number"/>
          <p:cNvSpPr txBox="1"/>
          <p:nvPr/>
        </p:nvSpPr>
        <p:spPr>
          <a:xfrm>
            <a:off x="11096625" y="6496050"/>
            <a:ext cx="4095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819" b="1">
                <a:solidFill>
                  <a:srgbClr val="E87938"/>
                </a:solidFill>
                <a:latin typeface="Aptos"/>
              </a:rPr>
              <a:t>06</a:t>
            </a:r>
          </a:p>
        </p:txBody>
      </p:sp>
      <p:sp>
        <p:nvSpPr>
          <p:cNvPr id="8" name="provider-status-0"/>
          <p:cNvSpPr txBox="1"/>
          <p:nvPr/>
        </p:nvSpPr>
        <p:spPr>
          <a:xfrm>
            <a:off x="685800" y="2047875"/>
            <a:ext cx="238125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1">
                <a:solidFill>
                  <a:srgbClr val="E87938"/>
                </a:solidFill>
                <a:latin typeface="Aptos"/>
              </a:rPr>
              <a:t>RETENU</a:t>
            </a:r>
          </a:p>
        </p:txBody>
      </p:sp>
      <p:sp>
        <p:nvSpPr>
          <p:cNvPr id="9" name="provider-name-0"/>
          <p:cNvSpPr txBox="1"/>
          <p:nvPr/>
        </p:nvSpPr>
        <p:spPr>
          <a:xfrm>
            <a:off x="685800" y="2352675"/>
            <a:ext cx="2952750" cy="323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1">
                <a:solidFill>
                  <a:srgbClr val="0C4A52"/>
                </a:solidFill>
                <a:latin typeface="Aptos Display"/>
              </a:rPr>
              <a:t>AWS</a:t>
            </a:r>
          </a:p>
        </p:txBody>
      </p:sp>
      <p:sp>
        <p:nvSpPr>
          <p:cNvPr id="10" name="provider-label-0-0"/>
          <p:cNvSpPr txBox="1"/>
          <p:nvPr/>
        </p:nvSpPr>
        <p:spPr>
          <a:xfrm>
            <a:off x="685800" y="3067050"/>
            <a:ext cx="276225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1" dirty="0">
                <a:solidFill>
                  <a:srgbClr val="607174"/>
                </a:solidFill>
                <a:latin typeface="Aptos"/>
              </a:rPr>
              <a:t>STOCKAGE</a:t>
            </a:r>
          </a:p>
        </p:txBody>
      </p:sp>
      <p:sp>
        <p:nvSpPr>
          <p:cNvPr id="11" name="provider-value-0-0"/>
          <p:cNvSpPr txBox="1"/>
          <p:nvPr/>
        </p:nvSpPr>
        <p:spPr>
          <a:xfrm>
            <a:off x="685800" y="3295650"/>
            <a:ext cx="2857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>
                <a:solidFill>
                  <a:srgbClr val="17323A"/>
                </a:solidFill>
                <a:latin typeface="Aptos"/>
              </a:rPr>
              <a:t>S3</a:t>
            </a:r>
          </a:p>
        </p:txBody>
      </p:sp>
      <p:sp>
        <p:nvSpPr>
          <p:cNvPr id="12" name="provider-label-0-1"/>
          <p:cNvSpPr txBox="1"/>
          <p:nvPr/>
        </p:nvSpPr>
        <p:spPr>
          <a:xfrm>
            <a:off x="685800" y="3790949"/>
            <a:ext cx="276225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1">
                <a:solidFill>
                  <a:srgbClr val="607174"/>
                </a:solidFill>
                <a:latin typeface="Aptos"/>
              </a:rPr>
              <a:t>SPARK MANAGÉ</a:t>
            </a:r>
          </a:p>
        </p:txBody>
      </p:sp>
      <p:sp>
        <p:nvSpPr>
          <p:cNvPr id="13" name="provider-value-0-1"/>
          <p:cNvSpPr txBox="1"/>
          <p:nvPr/>
        </p:nvSpPr>
        <p:spPr>
          <a:xfrm>
            <a:off x="685800" y="4019549"/>
            <a:ext cx="2857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>
                <a:solidFill>
                  <a:srgbClr val="17323A"/>
                </a:solidFill>
                <a:latin typeface="Aptos"/>
              </a:rPr>
              <a:t>EMR</a:t>
            </a:r>
          </a:p>
        </p:txBody>
      </p:sp>
      <p:sp>
        <p:nvSpPr>
          <p:cNvPr id="14" name="provider-label-0-2"/>
          <p:cNvSpPr txBox="1"/>
          <p:nvPr/>
        </p:nvSpPr>
        <p:spPr>
          <a:xfrm>
            <a:off x="685800" y="4514850"/>
            <a:ext cx="276225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1">
                <a:solidFill>
                  <a:srgbClr val="607174"/>
                </a:solidFill>
                <a:latin typeface="Aptos"/>
              </a:rPr>
              <a:t>SUPERVISION</a:t>
            </a:r>
          </a:p>
        </p:txBody>
      </p:sp>
      <p:sp>
        <p:nvSpPr>
          <p:cNvPr id="15" name="provider-value-0-2"/>
          <p:cNvSpPr txBox="1"/>
          <p:nvPr/>
        </p:nvSpPr>
        <p:spPr>
          <a:xfrm>
            <a:off x="685800" y="4743450"/>
            <a:ext cx="2857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dirty="0">
                <a:solidFill>
                  <a:srgbClr val="17323A"/>
                </a:solidFill>
                <a:latin typeface="Aptos"/>
              </a:rPr>
              <a:t>CloudWatch</a:t>
            </a:r>
          </a:p>
        </p:txBody>
      </p:sp>
      <p:sp>
        <p:nvSpPr>
          <p:cNvPr id="16" name="provider-divider-1"/>
          <p:cNvSpPr/>
          <p:nvPr/>
        </p:nvSpPr>
        <p:spPr>
          <a:xfrm>
            <a:off x="3952875" y="2152650"/>
            <a:ext cx="19050" cy="3143250"/>
          </a:xfrm>
          <a:prstGeom prst="rect">
            <a:avLst/>
          </a:prstGeom>
          <a:solidFill>
            <a:srgbClr val="E9D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provider-status-1"/>
          <p:cNvSpPr txBox="1"/>
          <p:nvPr/>
        </p:nvSpPr>
        <p:spPr>
          <a:xfrm>
            <a:off x="4257675" y="2047875"/>
            <a:ext cx="238125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1">
                <a:solidFill>
                  <a:srgbClr val="607174"/>
                </a:solidFill>
                <a:latin typeface="Aptos"/>
              </a:rPr>
              <a:t>ALTERNATIVE</a:t>
            </a:r>
          </a:p>
        </p:txBody>
      </p:sp>
      <p:sp>
        <p:nvSpPr>
          <p:cNvPr id="18" name="provider-name-1"/>
          <p:cNvSpPr txBox="1"/>
          <p:nvPr/>
        </p:nvSpPr>
        <p:spPr>
          <a:xfrm>
            <a:off x="4257675" y="2352675"/>
            <a:ext cx="2952750" cy="323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1">
                <a:solidFill>
                  <a:srgbClr val="0C4A52"/>
                </a:solidFill>
                <a:latin typeface="Aptos Display"/>
              </a:rPr>
              <a:t>GOOGLE CLOUD</a:t>
            </a:r>
          </a:p>
        </p:txBody>
      </p:sp>
      <p:sp>
        <p:nvSpPr>
          <p:cNvPr id="19" name="provider-label-1-0"/>
          <p:cNvSpPr txBox="1"/>
          <p:nvPr/>
        </p:nvSpPr>
        <p:spPr>
          <a:xfrm>
            <a:off x="4257675" y="3067050"/>
            <a:ext cx="276225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1" dirty="0">
                <a:solidFill>
                  <a:srgbClr val="607174"/>
                </a:solidFill>
                <a:latin typeface="Aptos"/>
              </a:rPr>
              <a:t>STOCKAGE</a:t>
            </a:r>
          </a:p>
        </p:txBody>
      </p:sp>
      <p:sp>
        <p:nvSpPr>
          <p:cNvPr id="20" name="provider-value-1-0"/>
          <p:cNvSpPr txBox="1"/>
          <p:nvPr/>
        </p:nvSpPr>
        <p:spPr>
          <a:xfrm>
            <a:off x="4257675" y="3295650"/>
            <a:ext cx="2857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>
                <a:solidFill>
                  <a:srgbClr val="17323A"/>
                </a:solidFill>
                <a:latin typeface="Aptos"/>
              </a:rPr>
              <a:t>Cloud Storage</a:t>
            </a:r>
          </a:p>
        </p:txBody>
      </p:sp>
      <p:sp>
        <p:nvSpPr>
          <p:cNvPr id="21" name="provider-label-1-1"/>
          <p:cNvSpPr txBox="1"/>
          <p:nvPr/>
        </p:nvSpPr>
        <p:spPr>
          <a:xfrm>
            <a:off x="4257675" y="3790949"/>
            <a:ext cx="276225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1">
                <a:solidFill>
                  <a:srgbClr val="607174"/>
                </a:solidFill>
                <a:latin typeface="Aptos"/>
              </a:rPr>
              <a:t>SPARK MANAGÉ</a:t>
            </a:r>
          </a:p>
        </p:txBody>
      </p:sp>
      <p:sp>
        <p:nvSpPr>
          <p:cNvPr id="22" name="provider-value-1-1"/>
          <p:cNvSpPr txBox="1"/>
          <p:nvPr/>
        </p:nvSpPr>
        <p:spPr>
          <a:xfrm>
            <a:off x="4257675" y="4019549"/>
            <a:ext cx="2857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>
                <a:solidFill>
                  <a:srgbClr val="17323A"/>
                </a:solidFill>
                <a:latin typeface="Aptos"/>
              </a:rPr>
              <a:t>Dataproc</a:t>
            </a:r>
          </a:p>
        </p:txBody>
      </p:sp>
      <p:sp>
        <p:nvSpPr>
          <p:cNvPr id="23" name="provider-label-1-2"/>
          <p:cNvSpPr txBox="1"/>
          <p:nvPr/>
        </p:nvSpPr>
        <p:spPr>
          <a:xfrm>
            <a:off x="4257675" y="4514850"/>
            <a:ext cx="276225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1">
                <a:solidFill>
                  <a:srgbClr val="607174"/>
                </a:solidFill>
                <a:latin typeface="Aptos"/>
              </a:rPr>
              <a:t>SUPERVISION</a:t>
            </a:r>
          </a:p>
        </p:txBody>
      </p:sp>
      <p:sp>
        <p:nvSpPr>
          <p:cNvPr id="24" name="provider-value-1-2"/>
          <p:cNvSpPr txBox="1"/>
          <p:nvPr/>
        </p:nvSpPr>
        <p:spPr>
          <a:xfrm>
            <a:off x="4257675" y="4743450"/>
            <a:ext cx="2857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>
                <a:solidFill>
                  <a:srgbClr val="17323A"/>
                </a:solidFill>
                <a:latin typeface="Aptos"/>
              </a:rPr>
              <a:t>Cloud Monitoring</a:t>
            </a:r>
          </a:p>
        </p:txBody>
      </p:sp>
      <p:sp>
        <p:nvSpPr>
          <p:cNvPr id="25" name="provider-divider-2"/>
          <p:cNvSpPr/>
          <p:nvPr/>
        </p:nvSpPr>
        <p:spPr>
          <a:xfrm>
            <a:off x="7524749" y="2152650"/>
            <a:ext cx="19050" cy="3143250"/>
          </a:xfrm>
          <a:prstGeom prst="rect">
            <a:avLst/>
          </a:prstGeom>
          <a:solidFill>
            <a:srgbClr val="E9D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provider-status-2"/>
          <p:cNvSpPr txBox="1"/>
          <p:nvPr/>
        </p:nvSpPr>
        <p:spPr>
          <a:xfrm>
            <a:off x="7829550" y="2047875"/>
            <a:ext cx="238125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1">
                <a:solidFill>
                  <a:srgbClr val="607174"/>
                </a:solidFill>
                <a:latin typeface="Aptos"/>
              </a:rPr>
              <a:t>ALTERNATIVE</a:t>
            </a:r>
          </a:p>
        </p:txBody>
      </p:sp>
      <p:sp>
        <p:nvSpPr>
          <p:cNvPr id="27" name="provider-name-2"/>
          <p:cNvSpPr txBox="1"/>
          <p:nvPr/>
        </p:nvSpPr>
        <p:spPr>
          <a:xfrm>
            <a:off x="7829550" y="2352675"/>
            <a:ext cx="2952750" cy="323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1">
                <a:solidFill>
                  <a:srgbClr val="0C4A52"/>
                </a:solidFill>
                <a:latin typeface="Aptos Display"/>
              </a:rPr>
              <a:t>MICROSOFT AZURE</a:t>
            </a:r>
          </a:p>
        </p:txBody>
      </p:sp>
      <p:sp>
        <p:nvSpPr>
          <p:cNvPr id="28" name="provider-label-2-0"/>
          <p:cNvSpPr txBox="1"/>
          <p:nvPr/>
        </p:nvSpPr>
        <p:spPr>
          <a:xfrm>
            <a:off x="7829550" y="3067050"/>
            <a:ext cx="276225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1" dirty="0">
                <a:solidFill>
                  <a:srgbClr val="607174"/>
                </a:solidFill>
                <a:latin typeface="Aptos"/>
              </a:rPr>
              <a:t>STOCKAGE</a:t>
            </a:r>
          </a:p>
        </p:txBody>
      </p:sp>
      <p:sp>
        <p:nvSpPr>
          <p:cNvPr id="29" name="provider-value-2-0"/>
          <p:cNvSpPr txBox="1"/>
          <p:nvPr/>
        </p:nvSpPr>
        <p:spPr>
          <a:xfrm>
            <a:off x="7829550" y="3295650"/>
            <a:ext cx="2857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>
                <a:solidFill>
                  <a:srgbClr val="17323A"/>
                </a:solidFill>
                <a:latin typeface="Aptos"/>
              </a:rPr>
              <a:t>ADLS Gen2</a:t>
            </a:r>
          </a:p>
        </p:txBody>
      </p:sp>
      <p:sp>
        <p:nvSpPr>
          <p:cNvPr id="30" name="provider-label-2-1"/>
          <p:cNvSpPr txBox="1"/>
          <p:nvPr/>
        </p:nvSpPr>
        <p:spPr>
          <a:xfrm>
            <a:off x="7829550" y="3790949"/>
            <a:ext cx="276225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1">
                <a:solidFill>
                  <a:srgbClr val="607174"/>
                </a:solidFill>
                <a:latin typeface="Aptos"/>
              </a:rPr>
              <a:t>SPARK MANAGÉ</a:t>
            </a:r>
          </a:p>
        </p:txBody>
      </p:sp>
      <p:sp>
        <p:nvSpPr>
          <p:cNvPr id="31" name="provider-value-2-1"/>
          <p:cNvSpPr txBox="1"/>
          <p:nvPr/>
        </p:nvSpPr>
        <p:spPr>
          <a:xfrm>
            <a:off x="7829550" y="4019549"/>
            <a:ext cx="2857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>
                <a:solidFill>
                  <a:srgbClr val="17323A"/>
                </a:solidFill>
                <a:latin typeface="Aptos"/>
              </a:rPr>
              <a:t>HDInsight</a:t>
            </a:r>
          </a:p>
        </p:txBody>
      </p:sp>
      <p:sp>
        <p:nvSpPr>
          <p:cNvPr id="32" name="provider-label-2-2"/>
          <p:cNvSpPr txBox="1"/>
          <p:nvPr/>
        </p:nvSpPr>
        <p:spPr>
          <a:xfrm>
            <a:off x="7829550" y="4514850"/>
            <a:ext cx="276225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1">
                <a:solidFill>
                  <a:srgbClr val="607174"/>
                </a:solidFill>
                <a:latin typeface="Aptos"/>
              </a:rPr>
              <a:t>SUPERVISION</a:t>
            </a:r>
          </a:p>
        </p:txBody>
      </p:sp>
      <p:sp>
        <p:nvSpPr>
          <p:cNvPr id="33" name="provider-value-2-2"/>
          <p:cNvSpPr txBox="1"/>
          <p:nvPr/>
        </p:nvSpPr>
        <p:spPr>
          <a:xfrm>
            <a:off x="7829550" y="4743450"/>
            <a:ext cx="2857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>
                <a:solidFill>
                  <a:srgbClr val="17323A"/>
                </a:solidFill>
                <a:latin typeface="Aptos"/>
              </a:rPr>
              <a:t>Azure Monitor</a:t>
            </a:r>
          </a:p>
        </p:txBody>
      </p:sp>
      <p:sp>
        <p:nvSpPr>
          <p:cNvPr id="34" name="provider-bottom-rule"/>
          <p:cNvSpPr/>
          <p:nvPr/>
        </p:nvSpPr>
        <p:spPr>
          <a:xfrm>
            <a:off x="685800" y="5581650"/>
            <a:ext cx="10820400" cy="28575"/>
          </a:xfrm>
          <a:prstGeom prst="rect">
            <a:avLst/>
          </a:prstGeom>
          <a:solidFill>
            <a:srgbClr val="E879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provider-decision"/>
          <p:cNvSpPr txBox="1"/>
          <p:nvPr/>
        </p:nvSpPr>
        <p:spPr>
          <a:xfrm>
            <a:off x="685800" y="5753100"/>
            <a:ext cx="10820400" cy="400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500" b="1" dirty="0">
                <a:solidFill>
                  <a:srgbClr val="0C4A52"/>
                </a:solidFill>
                <a:latin typeface="Aptos"/>
              </a:rPr>
              <a:t>AWS est </a:t>
            </a:r>
            <a:r>
              <a:rPr sz="1500" b="1" dirty="0" err="1">
                <a:solidFill>
                  <a:srgbClr val="0C4A52"/>
                </a:solidFill>
                <a:latin typeface="Aptos"/>
              </a:rPr>
              <a:t>retenu</a:t>
            </a:r>
            <a:r>
              <a:rPr sz="1500" b="1" dirty="0">
                <a:solidFill>
                  <a:srgbClr val="0C4A52"/>
                </a:solidFill>
                <a:latin typeface="Aptos"/>
              </a:rPr>
              <a:t> </a:t>
            </a:r>
            <a:r>
              <a:rPr sz="1500" b="1" dirty="0" err="1">
                <a:solidFill>
                  <a:srgbClr val="0C4A52"/>
                </a:solidFill>
                <a:latin typeface="Aptos"/>
              </a:rPr>
              <a:t>ici</a:t>
            </a:r>
            <a:r>
              <a:rPr sz="1500" b="1" dirty="0">
                <a:solidFill>
                  <a:srgbClr val="0C4A52"/>
                </a:solidFill>
                <a:latin typeface="Aptos"/>
              </a:rPr>
              <a:t> pour la </a:t>
            </a:r>
            <a:r>
              <a:rPr sz="1500" b="1" dirty="0" err="1">
                <a:solidFill>
                  <a:srgbClr val="0C4A52"/>
                </a:solidFill>
                <a:latin typeface="Aptos"/>
              </a:rPr>
              <a:t>continuité</a:t>
            </a:r>
            <a:r>
              <a:rPr sz="1500" b="1" dirty="0">
                <a:solidFill>
                  <a:srgbClr val="0C4A52"/>
                </a:solidFill>
                <a:latin typeface="Aptos"/>
              </a:rPr>
              <a:t> avec </a:t>
            </a:r>
            <a:r>
              <a:rPr sz="1500" b="1" dirty="0" err="1">
                <a:solidFill>
                  <a:srgbClr val="0C4A52"/>
                </a:solidFill>
                <a:latin typeface="Aptos"/>
              </a:rPr>
              <a:t>l’architecture</a:t>
            </a:r>
            <a:r>
              <a:rPr sz="1500" b="1" dirty="0">
                <a:solidFill>
                  <a:srgbClr val="0C4A52"/>
                </a:solidFill>
                <a:latin typeface="Aptos"/>
              </a:rPr>
              <a:t> S3 + EMR déjà mise </a:t>
            </a:r>
            <a:r>
              <a:rPr sz="1500" b="1" dirty="0" err="1">
                <a:solidFill>
                  <a:srgbClr val="0C4A52"/>
                </a:solidFill>
                <a:latin typeface="Aptos"/>
              </a:rPr>
              <a:t>en</a:t>
            </a:r>
            <a:r>
              <a:rPr sz="1500" b="1" dirty="0">
                <a:solidFill>
                  <a:srgbClr val="0C4A52"/>
                </a:solidFill>
                <a:latin typeface="Aptos"/>
              </a:rPr>
              <a:t> </a:t>
            </a:r>
            <a:r>
              <a:rPr sz="1500" b="1" dirty="0" err="1">
                <a:solidFill>
                  <a:srgbClr val="0C4A52"/>
                </a:solidFill>
                <a:latin typeface="Aptos"/>
              </a:rPr>
              <a:t>œuvre</a:t>
            </a:r>
            <a:r>
              <a:rPr sz="1500" b="1" dirty="0">
                <a:solidFill>
                  <a:srgbClr val="0C4A52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kicker">
            <a:extLst>
              <a:ext uri="{FF2B5EF4-FFF2-40B4-BE49-F238E27FC236}">
                <a16:creationId xmlns:a16="http://schemas.microsoft.com/office/drawing/2014/main" id="{0B410C73-1CE3-469F-8A10-75F782919BFB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E87938"/>
                </a:solidFill>
                <a:latin typeface="Aptos"/>
                <a:ea typeface="Aptos"/>
                <a:cs typeface="Aptos"/>
              </a:defRPr>
            </a:pPr>
            <a:r>
              <a:rPr lang="fr-FR" sz="1050" b="1">
                <a:solidFill>
                  <a:srgbClr val="E87938"/>
                </a:solidFill>
                <a:latin typeface="Aptos"/>
                <a:ea typeface="Aptos"/>
                <a:cs typeface="Aptos"/>
              </a:rPr>
              <a:t>AXE 2 </a:t>
            </a:r>
            <a:r>
              <a:rPr sz="1050" b="1">
                <a:solidFill>
                  <a:srgbClr val="E87938"/>
                </a:solidFill>
                <a:latin typeface="Aptos"/>
                <a:ea typeface="Aptos"/>
                <a:cs typeface="Aptos"/>
              </a:rPr>
              <a:t>· ARCHITECTURE</a:t>
            </a:r>
            <a:r>
              <a:rPr lang="fr-FR" sz="1050" b="1">
                <a:solidFill>
                  <a:srgbClr val="E87938"/>
                </a:solidFill>
                <a:latin typeface="Aptos"/>
                <a:ea typeface="Aptos"/>
                <a:cs typeface="Aptos"/>
              </a:rPr>
              <a:t> AWS</a:t>
            </a:r>
            <a:endParaRPr sz="1050" b="1">
              <a:solidFill>
                <a:srgbClr val="E8793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DA8B6F86-004A-405F-9739-C3B0E91F781B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C4A52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C4A52"/>
                </a:solidFill>
                <a:latin typeface="Aptos Display"/>
                <a:ea typeface="Aptos Display"/>
                <a:cs typeface="Aptos Display"/>
              </a:rPr>
              <a:t>Le stockage et le calcul restent découplés</a:t>
            </a:r>
          </a:p>
        </p:txBody>
      </p:sp>
      <p:sp>
        <p:nvSpPr>
          <p:cNvPr id="3" name="headline-rule">
            <a:extLst>
              <a:ext uri="{FF2B5EF4-FFF2-40B4-BE49-F238E27FC236}">
                <a16:creationId xmlns:a16="http://schemas.microsoft.com/office/drawing/2014/main" id="{6FE21F15-A21B-4E79-A68B-DE8748C4A467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838200" cy="38100"/>
          </a:xfrm>
          <a:prstGeom prst="rect">
            <a:avLst/>
          </a:prstGeom>
          <a:solidFill>
            <a:srgbClr val="E87938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aw-s3">
            <a:extLst>
              <a:ext uri="{FF2B5EF4-FFF2-40B4-BE49-F238E27FC236}">
                <a16:creationId xmlns:a16="http://schemas.microsoft.com/office/drawing/2014/main" id="{E6AD39DF-061C-4993-9568-BD70150840A5}"/>
              </a:ext>
            </a:extLst>
          </p:cNvPr>
          <p:cNvSpPr>
            <a:spLocks noGrp="1"/>
          </p:cNvSpPr>
          <p:nvPr/>
        </p:nvSpPr>
        <p:spPr>
          <a:xfrm>
            <a:off x="857250" y="2714625"/>
            <a:ext cx="2095500" cy="1066800"/>
          </a:xfrm>
          <a:prstGeom prst="rect">
            <a:avLst/>
          </a:prstGeom>
          <a:solidFill>
            <a:srgbClr val="FFFDF8"/>
          </a:solidFill>
          <a:ln w="19050">
            <a:solidFill>
              <a:srgbClr val="2B7A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aw-s3-label">
            <a:extLst>
              <a:ext uri="{FF2B5EF4-FFF2-40B4-BE49-F238E27FC236}">
                <a16:creationId xmlns:a16="http://schemas.microsoft.com/office/drawing/2014/main" id="{2111008F-C7D5-4CBB-8AB1-570A90924BC2}"/>
              </a:ext>
            </a:extLst>
          </p:cNvPr>
          <p:cNvSpPr>
            <a:spLocks noGrp="1"/>
          </p:cNvSpPr>
          <p:nvPr/>
        </p:nvSpPr>
        <p:spPr>
          <a:xfrm>
            <a:off x="952500" y="2809875"/>
            <a:ext cx="1905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732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323A"/>
                </a:solidFill>
                <a:latin typeface="Aptos"/>
                <a:ea typeface="Aptos"/>
                <a:cs typeface="Aptos"/>
              </a:rPr>
              <a:t>S3 · données brutes</a:t>
            </a:r>
          </a:p>
          <a:p>
            <a:pPr algn="ctr">
              <a:defRPr sz="1275" b="1">
                <a:solidFill>
                  <a:srgbClr val="1732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323A"/>
                </a:solidFill>
                <a:latin typeface="Aptos"/>
                <a:ea typeface="Aptos"/>
                <a:cs typeface="Aptos"/>
              </a:rPr>
              <a:t>images / labels</a:t>
            </a:r>
          </a:p>
        </p:txBody>
      </p:sp>
      <p:sp>
        <p:nvSpPr>
          <p:cNvPr id="6" name="emr-cluster">
            <a:extLst>
              <a:ext uri="{FF2B5EF4-FFF2-40B4-BE49-F238E27FC236}">
                <a16:creationId xmlns:a16="http://schemas.microsoft.com/office/drawing/2014/main" id="{970DE2F8-A072-4B63-BC26-1CBD44D0243B}"/>
              </a:ext>
            </a:extLst>
          </p:cNvPr>
          <p:cNvSpPr>
            <a:spLocks noGrp="1"/>
          </p:cNvSpPr>
          <p:nvPr/>
        </p:nvSpPr>
        <p:spPr>
          <a:xfrm>
            <a:off x="4476750" y="2381250"/>
            <a:ext cx="3238500" cy="1619250"/>
          </a:xfrm>
          <a:prstGeom prst="rect">
            <a:avLst/>
          </a:prstGeom>
          <a:solidFill>
            <a:srgbClr val="D8E7E5"/>
          </a:solidFill>
          <a:ln w="19050">
            <a:solidFill>
              <a:srgbClr val="0C4A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emr-cluster-label">
            <a:extLst>
              <a:ext uri="{FF2B5EF4-FFF2-40B4-BE49-F238E27FC236}">
                <a16:creationId xmlns:a16="http://schemas.microsoft.com/office/drawing/2014/main" id="{543CBF18-47F2-4DAB-B3F8-FC539802E91A}"/>
              </a:ext>
            </a:extLst>
          </p:cNvPr>
          <p:cNvSpPr>
            <a:spLocks noGrp="1"/>
          </p:cNvSpPr>
          <p:nvPr/>
        </p:nvSpPr>
        <p:spPr>
          <a:xfrm>
            <a:off x="4572000" y="2476500"/>
            <a:ext cx="3048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732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323A"/>
                </a:solidFill>
                <a:latin typeface="Aptos"/>
                <a:ea typeface="Aptos"/>
                <a:cs typeface="Aptos"/>
              </a:rPr>
              <a:t>EMR · cluster Spark</a:t>
            </a:r>
          </a:p>
        </p:txBody>
      </p:sp>
      <p:sp>
        <p:nvSpPr>
          <p:cNvPr id="8" name="out-s3">
            <a:extLst>
              <a:ext uri="{FF2B5EF4-FFF2-40B4-BE49-F238E27FC236}">
                <a16:creationId xmlns:a16="http://schemas.microsoft.com/office/drawing/2014/main" id="{C328090F-530A-4736-B5DC-E642CCD0206A}"/>
              </a:ext>
            </a:extLst>
          </p:cNvPr>
          <p:cNvSpPr>
            <a:spLocks noGrp="1"/>
          </p:cNvSpPr>
          <p:nvPr/>
        </p:nvSpPr>
        <p:spPr>
          <a:xfrm>
            <a:off x="9239250" y="2714625"/>
            <a:ext cx="2095500" cy="1066800"/>
          </a:xfrm>
          <a:prstGeom prst="rect">
            <a:avLst/>
          </a:prstGeom>
          <a:solidFill>
            <a:srgbClr val="FFFDF8"/>
          </a:solidFill>
          <a:ln w="19050">
            <a:solidFill>
              <a:srgbClr val="2B7A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out-s3-label">
            <a:extLst>
              <a:ext uri="{FF2B5EF4-FFF2-40B4-BE49-F238E27FC236}">
                <a16:creationId xmlns:a16="http://schemas.microsoft.com/office/drawing/2014/main" id="{4861E369-7F33-401F-987C-2AB187EEC052}"/>
              </a:ext>
            </a:extLst>
          </p:cNvPr>
          <p:cNvSpPr>
            <a:spLocks noGrp="1"/>
          </p:cNvSpPr>
          <p:nvPr/>
        </p:nvSpPr>
        <p:spPr>
          <a:xfrm>
            <a:off x="9334500" y="2809875"/>
            <a:ext cx="1905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732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323A"/>
                </a:solidFill>
                <a:latin typeface="Aptos"/>
                <a:ea typeface="Aptos"/>
                <a:cs typeface="Aptos"/>
              </a:rPr>
              <a:t>S3 · résultats</a:t>
            </a:r>
          </a:p>
          <a:p>
            <a:pPr algn="ctr">
              <a:defRPr sz="1275" b="1">
                <a:solidFill>
                  <a:srgbClr val="1732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323A"/>
                </a:solidFill>
                <a:latin typeface="Aptos"/>
                <a:ea typeface="Aptos"/>
                <a:cs typeface="Aptos"/>
              </a:rPr>
              <a:t>features / PCA / Parquet</a:t>
            </a:r>
          </a:p>
        </p:txBody>
      </p:sp>
      <p:sp>
        <p:nvSpPr>
          <p:cNvPr id="10" name="notebook">
            <a:extLst>
              <a:ext uri="{FF2B5EF4-FFF2-40B4-BE49-F238E27FC236}">
                <a16:creationId xmlns:a16="http://schemas.microsoft.com/office/drawing/2014/main" id="{81A444A9-6289-428B-A396-EAAEEE3BBB58}"/>
              </a:ext>
            </a:extLst>
          </p:cNvPr>
          <p:cNvSpPr>
            <a:spLocks noGrp="1"/>
          </p:cNvSpPr>
          <p:nvPr/>
        </p:nvSpPr>
        <p:spPr>
          <a:xfrm>
            <a:off x="4762500" y="4438650"/>
            <a:ext cx="2667000" cy="876300"/>
          </a:xfrm>
          <a:prstGeom prst="rect">
            <a:avLst/>
          </a:prstGeom>
          <a:solidFill>
            <a:srgbClr val="FFFDF8"/>
          </a:solidFill>
          <a:ln w="19050">
            <a:solidFill>
              <a:srgbClr val="E879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notebook-label">
            <a:extLst>
              <a:ext uri="{FF2B5EF4-FFF2-40B4-BE49-F238E27FC236}">
                <a16:creationId xmlns:a16="http://schemas.microsoft.com/office/drawing/2014/main" id="{72078E00-C00D-400C-97BA-2E4C0DD16764}"/>
              </a:ext>
            </a:extLst>
          </p:cNvPr>
          <p:cNvSpPr>
            <a:spLocks noGrp="1"/>
          </p:cNvSpPr>
          <p:nvPr/>
        </p:nvSpPr>
        <p:spPr>
          <a:xfrm>
            <a:off x="4857750" y="4533900"/>
            <a:ext cx="2476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7323A"/>
                </a:solidFill>
                <a:latin typeface="Aptos"/>
                <a:ea typeface="Aptos"/>
                <a:cs typeface="Aptos"/>
              </a:defRPr>
            </a:pPr>
            <a:r>
              <a:rPr sz="1275" b="1" dirty="0">
                <a:solidFill>
                  <a:srgbClr val="17323A"/>
                </a:solidFill>
                <a:latin typeface="Aptos"/>
                <a:ea typeface="Aptos"/>
                <a:cs typeface="Aptos"/>
              </a:rPr>
              <a:t>Notebook</a:t>
            </a:r>
            <a:r>
              <a:rPr lang="fr-FR" sz="1275" b="1" dirty="0">
                <a:solidFill>
                  <a:srgbClr val="17323A"/>
                </a:solidFill>
                <a:latin typeface="Aptos"/>
                <a:ea typeface="Aptos"/>
                <a:cs typeface="Aptos"/>
              </a:rPr>
              <a:t>, EMR config et </a:t>
            </a:r>
            <a:r>
              <a:rPr lang="fr-FR" sz="1275" b="1" dirty="0" err="1">
                <a:solidFill>
                  <a:srgbClr val="17323A"/>
                </a:solidFill>
                <a:latin typeface="Aptos"/>
                <a:ea typeface="Aptos"/>
                <a:cs typeface="Aptos"/>
              </a:rPr>
              <a:t>bootstrap</a:t>
            </a:r>
            <a:r>
              <a:rPr lang="fr-FR" sz="1275" b="1" dirty="0">
                <a:solidFill>
                  <a:srgbClr val="17323A"/>
                </a:solidFill>
                <a:latin typeface="Aptos"/>
                <a:ea typeface="Aptos"/>
                <a:cs typeface="Aptos"/>
              </a:rPr>
              <a:t> pour</a:t>
            </a:r>
            <a:endParaRPr sz="1275" b="1" dirty="0">
              <a:solidFill>
                <a:srgbClr val="17323A"/>
              </a:solidFill>
              <a:latin typeface="Aptos"/>
              <a:ea typeface="Aptos"/>
              <a:cs typeface="Aptos"/>
            </a:endParaRPr>
          </a:p>
          <a:p>
            <a:pPr algn="ctr">
              <a:defRPr sz="1275" b="1">
                <a:solidFill>
                  <a:srgbClr val="17323A"/>
                </a:solidFill>
                <a:latin typeface="Aptos"/>
                <a:ea typeface="Aptos"/>
                <a:cs typeface="Aptos"/>
              </a:defRPr>
            </a:pPr>
            <a:r>
              <a:rPr sz="1275" b="1" dirty="0">
                <a:solidFill>
                  <a:srgbClr val="17323A"/>
                </a:solidFill>
                <a:latin typeface="Aptos"/>
                <a:ea typeface="Aptos"/>
                <a:cs typeface="Aptos"/>
              </a:rPr>
              <a:t>configuration + orchestration</a:t>
            </a:r>
          </a:p>
        </p:txBody>
      </p:sp>
      <p:sp>
        <p:nvSpPr>
          <p:cNvPr id="14" name="emr-exec">
            <a:extLst>
              <a:ext uri="{FF2B5EF4-FFF2-40B4-BE49-F238E27FC236}">
                <a16:creationId xmlns:a16="http://schemas.microsoft.com/office/drawing/2014/main" id="{24A4DC16-0B10-4572-B479-EFB9B7056009}"/>
              </a:ext>
            </a:extLst>
          </p:cNvPr>
          <p:cNvSpPr>
            <a:spLocks noGrp="1"/>
          </p:cNvSpPr>
          <p:nvPr/>
        </p:nvSpPr>
        <p:spPr>
          <a:xfrm>
            <a:off x="5288223" y="2933700"/>
            <a:ext cx="1463154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C4A52"/>
                </a:solidFill>
                <a:latin typeface="Aptos"/>
                <a:ea typeface="Aptos"/>
                <a:cs typeface="Aptos"/>
              </a:defRPr>
            </a:pPr>
            <a:r>
              <a:rPr lang="fr-FR" sz="1200" b="1" dirty="0">
                <a:solidFill>
                  <a:srgbClr val="0C4A52"/>
                </a:solidFill>
                <a:latin typeface="Aptos"/>
                <a:ea typeface="Aptos"/>
                <a:cs typeface="Aptos"/>
              </a:rPr>
              <a:t>Nœuds de calcul</a:t>
            </a:r>
            <a:endParaRPr sz="1200" b="1" dirty="0">
              <a:solidFill>
                <a:srgbClr val="0C4A5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emr-partitions">
            <a:extLst>
              <a:ext uri="{FF2B5EF4-FFF2-40B4-BE49-F238E27FC236}">
                <a16:creationId xmlns:a16="http://schemas.microsoft.com/office/drawing/2014/main" id="{E409B0B3-FCA9-4CD7-A743-7FFD829EC6C6}"/>
              </a:ext>
            </a:extLst>
          </p:cNvPr>
          <p:cNvSpPr>
            <a:spLocks noGrp="1"/>
          </p:cNvSpPr>
          <p:nvPr/>
        </p:nvSpPr>
        <p:spPr>
          <a:xfrm>
            <a:off x="5353974" y="3133725"/>
            <a:ext cx="1484052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607174"/>
                </a:solidFill>
                <a:latin typeface="Aptos"/>
                <a:ea typeface="Aptos"/>
                <a:cs typeface="Aptos"/>
              </a:defRPr>
            </a:pPr>
            <a:r>
              <a:rPr lang="fr-FR" sz="1125" b="0" dirty="0">
                <a:solidFill>
                  <a:srgbClr val="607174"/>
                </a:solidFill>
                <a:latin typeface="Aptos"/>
                <a:ea typeface="Aptos"/>
                <a:cs typeface="Aptos"/>
              </a:rPr>
              <a:t>Données et calculs distribués par Spark</a:t>
            </a:r>
            <a:endParaRPr sz="1125" b="0" dirty="0">
              <a:solidFill>
                <a:srgbClr val="607174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16" name="Connecteur droit avec flèche 15"/>
          <p:cNvCxnSpPr>
            <a:stCxn id="4" idx="3"/>
            <a:endCxn id="6" idx="1"/>
          </p:cNvCxnSpPr>
          <p:nvPr/>
        </p:nvCxnSpPr>
        <p:spPr>
          <a:xfrm flipV="1">
            <a:off x="2952750" y="3190875"/>
            <a:ext cx="1524000" cy="57150"/>
          </a:xfrm>
          <a:prstGeom prst="straightConnector1">
            <a:avLst/>
          </a:prstGeom>
          <a:ln w="28575">
            <a:solidFill>
              <a:srgbClr val="E87938"/>
            </a:solidFill>
            <a:prstDash val="solid"/>
            <a:tailEnd type="arrow" w="med" len="med"/>
          </a:ln>
        </p:spPr>
      </p:cxnSp>
      <p:cxnSp>
        <p:nvCxnSpPr>
          <p:cNvPr id="17" name="Connecteur droit avec flèche 16"/>
          <p:cNvCxnSpPr>
            <a:stCxn id="6" idx="3"/>
            <a:endCxn id="8" idx="1"/>
          </p:cNvCxnSpPr>
          <p:nvPr/>
        </p:nvCxnSpPr>
        <p:spPr>
          <a:xfrm>
            <a:off x="7715250" y="3190875"/>
            <a:ext cx="1524000" cy="57150"/>
          </a:xfrm>
          <a:prstGeom prst="straightConnector1">
            <a:avLst/>
          </a:prstGeom>
          <a:ln w="28575">
            <a:solidFill>
              <a:srgbClr val="E87938"/>
            </a:solidFill>
            <a:prstDash val="solid"/>
            <a:tailEnd type="arrow" w="med" len="med"/>
          </a:ln>
        </p:spPr>
      </p:cxnSp>
      <p:cxnSp>
        <p:nvCxnSpPr>
          <p:cNvPr id="18" name="Connecteur droit avec flèche 17"/>
          <p:cNvCxnSpPr>
            <a:stCxn id="10" idx="0"/>
            <a:endCxn id="6" idx="2"/>
          </p:cNvCxnSpPr>
          <p:nvPr/>
        </p:nvCxnSpPr>
        <p:spPr>
          <a:xfrm flipV="1">
            <a:off x="6096000" y="4000500"/>
            <a:ext cx="0" cy="438150"/>
          </a:xfrm>
          <a:prstGeom prst="straightConnector1">
            <a:avLst/>
          </a:prstGeom>
          <a:ln w="19050">
            <a:solidFill>
              <a:srgbClr val="2B7A78"/>
            </a:solidFill>
            <a:prstDash val="dash"/>
            <a:tailEnd type="arrow" w="sm" len="sm"/>
          </a:ln>
        </p:spPr>
      </p:cxnSp>
      <p:sp>
        <p:nvSpPr>
          <p:cNvPr id="19" name="arch-read">
            <a:extLst>
              <a:ext uri="{FF2B5EF4-FFF2-40B4-BE49-F238E27FC236}">
                <a16:creationId xmlns:a16="http://schemas.microsoft.com/office/drawing/2014/main" id="{A75D35BB-B54B-40A2-8B10-1FFC9A80AA0F}"/>
              </a:ext>
            </a:extLst>
          </p:cNvPr>
          <p:cNvSpPr>
            <a:spLocks noGrp="1"/>
          </p:cNvSpPr>
          <p:nvPr/>
        </p:nvSpPr>
        <p:spPr>
          <a:xfrm>
            <a:off x="3028950" y="2524125"/>
            <a:ext cx="1352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607174"/>
                </a:solidFill>
                <a:latin typeface="Aptos"/>
                <a:ea typeface="Aptos"/>
                <a:cs typeface="Aptos"/>
              </a:defRPr>
            </a:pPr>
            <a:r>
              <a:rPr sz="1050" b="1" dirty="0">
                <a:solidFill>
                  <a:srgbClr val="607174"/>
                </a:solidFill>
                <a:latin typeface="Aptos"/>
                <a:ea typeface="Aptos"/>
                <a:cs typeface="Aptos"/>
              </a:rPr>
              <a:t>lecture </a:t>
            </a:r>
            <a:r>
              <a:rPr sz="1050" b="1" dirty="0" err="1">
                <a:solidFill>
                  <a:srgbClr val="607174"/>
                </a:solidFill>
                <a:latin typeface="Aptos"/>
                <a:ea typeface="Aptos"/>
                <a:cs typeface="Aptos"/>
              </a:rPr>
              <a:t>distribuée</a:t>
            </a:r>
            <a:endParaRPr sz="1050" b="1" dirty="0">
              <a:solidFill>
                <a:srgbClr val="60717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arch-write">
            <a:extLst>
              <a:ext uri="{FF2B5EF4-FFF2-40B4-BE49-F238E27FC236}">
                <a16:creationId xmlns:a16="http://schemas.microsoft.com/office/drawing/2014/main" id="{94037C95-B9EA-4E37-92F0-FB8509332E05}"/>
              </a:ext>
            </a:extLst>
          </p:cNvPr>
          <p:cNvSpPr>
            <a:spLocks noGrp="1"/>
          </p:cNvSpPr>
          <p:nvPr/>
        </p:nvSpPr>
        <p:spPr>
          <a:xfrm>
            <a:off x="7791450" y="2524125"/>
            <a:ext cx="1390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6071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07174"/>
                </a:solidFill>
                <a:latin typeface="Aptos"/>
                <a:ea typeface="Aptos"/>
                <a:cs typeface="Aptos"/>
              </a:rPr>
              <a:t>écriture persistante</a:t>
            </a:r>
          </a:p>
        </p:txBody>
      </p:sp>
      <p:sp>
        <p:nvSpPr>
          <p:cNvPr id="21" name="arch-message">
            <a:extLst>
              <a:ext uri="{FF2B5EF4-FFF2-40B4-BE49-F238E27FC236}">
                <a16:creationId xmlns:a16="http://schemas.microsoft.com/office/drawing/2014/main" id="{F2D98E52-6210-4C7A-BF89-A6035C192247}"/>
              </a:ext>
            </a:extLst>
          </p:cNvPr>
          <p:cNvSpPr>
            <a:spLocks noGrp="1"/>
          </p:cNvSpPr>
          <p:nvPr/>
        </p:nvSpPr>
        <p:spPr>
          <a:xfrm>
            <a:off x="1804987" y="5676900"/>
            <a:ext cx="8429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0C4A52"/>
                </a:solidFill>
                <a:latin typeface="Aptos"/>
                <a:ea typeface="Aptos"/>
                <a:cs typeface="Aptos"/>
              </a:defRPr>
            </a:pPr>
            <a:r>
              <a:rPr sz="1800" b="1" dirty="0">
                <a:solidFill>
                  <a:srgbClr val="0C4A52"/>
                </a:solidFill>
                <a:latin typeface="Aptos"/>
                <a:ea typeface="Aptos"/>
                <a:cs typeface="Aptos"/>
              </a:rPr>
              <a:t>S3 </a:t>
            </a:r>
            <a:r>
              <a:rPr lang="fr-FR" sz="1800" b="1" dirty="0">
                <a:solidFill>
                  <a:srgbClr val="0C4A52"/>
                </a:solidFill>
                <a:latin typeface="Aptos"/>
                <a:ea typeface="Aptos"/>
                <a:cs typeface="Aptos"/>
              </a:rPr>
              <a:t>stocke</a:t>
            </a:r>
            <a:r>
              <a:rPr sz="1800" b="1" dirty="0">
                <a:solidFill>
                  <a:srgbClr val="0C4A52"/>
                </a:solidFill>
                <a:latin typeface="Aptos"/>
                <a:ea typeface="Aptos"/>
                <a:cs typeface="Aptos"/>
              </a:rPr>
              <a:t> les données</a:t>
            </a:r>
            <a:r>
              <a:rPr lang="fr-FR" sz="1800" b="1" dirty="0">
                <a:solidFill>
                  <a:srgbClr val="0C4A52"/>
                </a:solidFill>
                <a:latin typeface="Aptos"/>
                <a:ea typeface="Aptos"/>
                <a:cs typeface="Aptos"/>
              </a:rPr>
              <a:t>.</a:t>
            </a:r>
            <a:r>
              <a:rPr sz="1800" b="1" dirty="0">
                <a:solidFill>
                  <a:srgbClr val="0C4A52"/>
                </a:solidFill>
                <a:latin typeface="Aptos"/>
                <a:ea typeface="Aptos"/>
                <a:cs typeface="Aptos"/>
              </a:rPr>
              <a:t> EMR </a:t>
            </a:r>
            <a:r>
              <a:rPr sz="1800" b="1" dirty="0" err="1">
                <a:solidFill>
                  <a:srgbClr val="0C4A52"/>
                </a:solidFill>
                <a:latin typeface="Aptos"/>
                <a:ea typeface="Aptos"/>
                <a:cs typeface="Aptos"/>
              </a:rPr>
              <a:t>fournit</a:t>
            </a:r>
            <a:r>
              <a:rPr sz="1800" b="1" dirty="0">
                <a:solidFill>
                  <a:srgbClr val="0C4A52"/>
                </a:solidFill>
                <a:latin typeface="Aptos"/>
                <a:ea typeface="Aptos"/>
                <a:cs typeface="Aptos"/>
              </a:rPr>
              <a:t> </a:t>
            </a:r>
            <a:r>
              <a:rPr sz="1800" b="1" dirty="0" err="1">
                <a:solidFill>
                  <a:srgbClr val="0C4A52"/>
                </a:solidFill>
                <a:latin typeface="Aptos"/>
                <a:ea typeface="Aptos"/>
                <a:cs typeface="Aptos"/>
              </a:rPr>
              <a:t>temporairement</a:t>
            </a:r>
            <a:r>
              <a:rPr sz="1800" b="1" dirty="0">
                <a:solidFill>
                  <a:srgbClr val="0C4A52"/>
                </a:solidFill>
                <a:latin typeface="Aptos"/>
                <a:ea typeface="Aptos"/>
                <a:cs typeface="Aptos"/>
              </a:rPr>
              <a:t> la puissance de </a:t>
            </a:r>
            <a:r>
              <a:rPr sz="1800" b="1" dirty="0" err="1">
                <a:solidFill>
                  <a:srgbClr val="0C4A52"/>
                </a:solidFill>
                <a:latin typeface="Aptos"/>
                <a:ea typeface="Aptos"/>
                <a:cs typeface="Aptos"/>
              </a:rPr>
              <a:t>calcul</a:t>
            </a:r>
            <a:r>
              <a:rPr sz="1800" b="1" dirty="0">
                <a:solidFill>
                  <a:srgbClr val="0C4A52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22" name="footer-rule">
            <a:extLst>
              <a:ext uri="{FF2B5EF4-FFF2-40B4-BE49-F238E27FC236}">
                <a16:creationId xmlns:a16="http://schemas.microsoft.com/office/drawing/2014/main" id="{4724707A-674F-4622-AE70-43F5DDD5F9B7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10820400" cy="9525"/>
          </a:xfrm>
          <a:prstGeom prst="rect">
            <a:avLst/>
          </a:prstGeom>
          <a:solidFill>
            <a:srgbClr val="E9DED0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footer-source">
            <a:extLst>
              <a:ext uri="{FF2B5EF4-FFF2-40B4-BE49-F238E27FC236}">
                <a16:creationId xmlns:a16="http://schemas.microsoft.com/office/drawing/2014/main" id="{E493FDCA-8058-4F05-9628-59771F2F8B51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933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071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174"/>
                </a:solidFill>
                <a:latin typeface="Aptos"/>
                <a:ea typeface="Aptos"/>
                <a:cs typeface="Aptos"/>
              </a:rPr>
              <a:t>Architecture de référence du projet OpenClassrooms · sources p. </a:t>
            </a:r>
            <a:r>
              <a:rPr lang="fr-FR" sz="750" b="0">
                <a:solidFill>
                  <a:srgbClr val="607174"/>
                </a:solidFill>
                <a:latin typeface="Aptos"/>
                <a:ea typeface="Aptos"/>
                <a:cs typeface="Aptos"/>
              </a:rPr>
              <a:t>15</a:t>
            </a:r>
            <a:endParaRPr sz="750" b="0">
              <a:solidFill>
                <a:srgbClr val="60717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page-number">
            <a:extLst>
              <a:ext uri="{FF2B5EF4-FFF2-40B4-BE49-F238E27FC236}">
                <a16:creationId xmlns:a16="http://schemas.microsoft.com/office/drawing/2014/main" id="{133B37CC-DB78-4745-BD61-07D2074E91BE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095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E87938"/>
                </a:solidFill>
                <a:latin typeface="Aptos"/>
                <a:ea typeface="Aptos"/>
                <a:cs typeface="Aptos"/>
              </a:defRPr>
            </a:pPr>
            <a:r>
              <a:rPr lang="fr-FR" sz="825" b="1">
                <a:solidFill>
                  <a:srgbClr val="E87938"/>
                </a:solidFill>
                <a:latin typeface="Aptos"/>
                <a:ea typeface="Aptos"/>
                <a:cs typeface="Aptos"/>
              </a:rPr>
              <a:t>07</a:t>
            </a:r>
            <a:endParaRPr sz="825" b="1">
              <a:solidFill>
                <a:srgbClr val="E87938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489983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kicker">
            <a:extLst>
              <a:ext uri="{FF2B5EF4-FFF2-40B4-BE49-F238E27FC236}">
                <a16:creationId xmlns:a16="http://schemas.microsoft.com/office/drawing/2014/main" id="{5C2EE960-5571-4C2C-97D8-5A70D857D635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E87938"/>
                </a:solidFill>
                <a:latin typeface="Aptos"/>
                <a:ea typeface="Aptos"/>
                <a:cs typeface="Aptos"/>
              </a:defRPr>
            </a:pPr>
            <a:r>
              <a:rPr lang="fr-FR" sz="1050" b="1">
                <a:solidFill>
                  <a:srgbClr val="E87938"/>
                </a:solidFill>
                <a:latin typeface="Aptos"/>
                <a:ea typeface="Aptos"/>
                <a:cs typeface="Aptos"/>
              </a:rPr>
              <a:t>AXE 2 </a:t>
            </a:r>
            <a:r>
              <a:rPr sz="1050" b="1">
                <a:solidFill>
                  <a:srgbClr val="E87938"/>
                </a:solidFill>
                <a:latin typeface="Aptos"/>
                <a:ea typeface="Aptos"/>
                <a:cs typeface="Aptos"/>
              </a:rPr>
              <a:t>· </a:t>
            </a:r>
            <a:r>
              <a:rPr lang="fr-FR" sz="1050" b="1">
                <a:solidFill>
                  <a:srgbClr val="E87938"/>
                </a:solidFill>
                <a:latin typeface="Aptos"/>
                <a:ea typeface="Aptos"/>
                <a:cs typeface="Aptos"/>
              </a:rPr>
              <a:t>SPARK &amp; EXPLOITATION</a:t>
            </a:r>
            <a:endParaRPr sz="1050" b="1">
              <a:solidFill>
                <a:srgbClr val="E8793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3C8BABF8-6689-4A4E-A53C-5B70841C9487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C4A52"/>
                </a:solidFill>
                <a:latin typeface="Aptos Display"/>
                <a:ea typeface="Aptos Display"/>
                <a:cs typeface="Aptos Display"/>
              </a:defRPr>
            </a:pPr>
            <a:r>
              <a:rPr lang="fr-FR" sz="2700" b="1" dirty="0">
                <a:solidFill>
                  <a:srgbClr val="0C4A52"/>
                </a:solidFill>
                <a:latin typeface="Aptos Display"/>
                <a:ea typeface="Aptos Display"/>
                <a:cs typeface="Aptos Display"/>
              </a:rPr>
              <a:t>Architecture retenue</a:t>
            </a:r>
            <a:endParaRPr sz="2700" b="1" dirty="0">
              <a:solidFill>
                <a:srgbClr val="0C4A52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" name="headline-rule">
            <a:extLst>
              <a:ext uri="{FF2B5EF4-FFF2-40B4-BE49-F238E27FC236}">
                <a16:creationId xmlns:a16="http://schemas.microsoft.com/office/drawing/2014/main" id="{3DF26077-1DC4-4129-B67D-3FC4910B323A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838200" cy="38100"/>
          </a:xfrm>
          <a:prstGeom prst="rect">
            <a:avLst/>
          </a:prstGeom>
          <a:solidFill>
            <a:srgbClr val="E87938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footer-rule">
            <a:extLst>
              <a:ext uri="{FF2B5EF4-FFF2-40B4-BE49-F238E27FC236}">
                <a16:creationId xmlns:a16="http://schemas.microsoft.com/office/drawing/2014/main" id="{162059D2-14D0-4644-8CA9-FD5F1E0CACD8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10820400" cy="9525"/>
          </a:xfrm>
          <a:prstGeom prst="rect">
            <a:avLst/>
          </a:prstGeom>
          <a:solidFill>
            <a:srgbClr val="E9DED0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footer-source">
            <a:extLst>
              <a:ext uri="{FF2B5EF4-FFF2-40B4-BE49-F238E27FC236}">
                <a16:creationId xmlns:a16="http://schemas.microsoft.com/office/drawing/2014/main" id="{C4D34996-9C01-4092-820D-F47F31931A91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933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071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174"/>
                </a:solidFill>
                <a:latin typeface="Aptos"/>
                <a:ea typeface="Aptos"/>
                <a:cs typeface="Aptos"/>
              </a:rPr>
              <a:t>Architecture de référence du projet OpenClassrooms · sources p. </a:t>
            </a:r>
            <a:r>
              <a:rPr lang="fr-FR" sz="750" b="0">
                <a:solidFill>
                  <a:srgbClr val="607174"/>
                </a:solidFill>
                <a:latin typeface="Aptos"/>
                <a:ea typeface="Aptos"/>
                <a:cs typeface="Aptos"/>
              </a:rPr>
              <a:t>15</a:t>
            </a:r>
            <a:endParaRPr sz="750" b="0">
              <a:solidFill>
                <a:srgbClr val="60717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4" name="page-number">
            <a:extLst>
              <a:ext uri="{FF2B5EF4-FFF2-40B4-BE49-F238E27FC236}">
                <a16:creationId xmlns:a16="http://schemas.microsoft.com/office/drawing/2014/main" id="{75EC87B9-10EF-4263-B1A0-525811967CB6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095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E87938"/>
                </a:solidFill>
                <a:latin typeface="Aptos"/>
                <a:ea typeface="Aptos"/>
                <a:cs typeface="Aptos"/>
              </a:defRPr>
            </a:pPr>
            <a:r>
              <a:rPr lang="fr-FR" sz="825" b="1">
                <a:solidFill>
                  <a:srgbClr val="E87938"/>
                </a:solidFill>
                <a:latin typeface="Aptos"/>
                <a:ea typeface="Aptos"/>
                <a:cs typeface="Aptos"/>
              </a:rPr>
              <a:t>08</a:t>
            </a:r>
            <a:endParaRPr sz="825" b="1">
              <a:solidFill>
                <a:srgbClr val="E87938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37" name="Image 36">
            <a:extLst>
              <a:ext uri="{FF2B5EF4-FFF2-40B4-BE49-F238E27FC236}">
                <a16:creationId xmlns:a16="http://schemas.microsoft.com/office/drawing/2014/main" id="{F56BC763-EEF8-B1AD-7529-B37A91E76C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371" b="7829"/>
          <a:stretch>
            <a:fillRect/>
          </a:stretch>
        </p:blipFill>
        <p:spPr>
          <a:xfrm>
            <a:off x="4537166" y="419099"/>
            <a:ext cx="7298327" cy="6009197"/>
          </a:xfrm>
          <a:prstGeom prst="rect">
            <a:avLst/>
          </a:prstGeom>
        </p:spPr>
      </p:pic>
      <p:sp>
        <p:nvSpPr>
          <p:cNvPr id="38" name="rgpd-heading"/>
          <p:cNvSpPr txBox="1"/>
          <p:nvPr/>
        </p:nvSpPr>
        <p:spPr>
          <a:xfrm>
            <a:off x="685800" y="21031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87938"/>
                </a:solidFill>
                <a:latin typeface="Aptos"/>
              </a:rPr>
              <a:t>CONSIDÉRATIONS RGPD</a:t>
            </a:r>
          </a:p>
        </p:txBody>
      </p:sp>
      <p:sp>
        <p:nvSpPr>
          <p:cNvPr id="39" name="rgpd-body"/>
          <p:cNvSpPr txBox="1"/>
          <p:nvPr/>
        </p:nvSpPr>
        <p:spPr>
          <a:xfrm>
            <a:off x="685800" y="2505456"/>
            <a:ext cx="2926080" cy="3566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lang="fr-FR" sz="1400" b="1" dirty="0">
                <a:solidFill>
                  <a:srgbClr val="0C4A52"/>
                </a:solidFill>
                <a:latin typeface="Aptos"/>
              </a:rPr>
              <a:t>Sécurité</a:t>
            </a:r>
            <a:r>
              <a:rPr sz="1400" b="1" dirty="0">
                <a:solidFill>
                  <a:srgbClr val="0C4A52"/>
                </a:solidFill>
                <a:latin typeface="Aptos"/>
              </a:rPr>
              <a:t> — </a:t>
            </a:r>
            <a:r>
              <a:rPr lang="fr-FR" sz="1400" dirty="0">
                <a:solidFill>
                  <a:srgbClr val="0C4A52"/>
                </a:solidFill>
                <a:latin typeface="Aptos"/>
              </a:rPr>
              <a:t>Stockage en Europe, VPC, </a:t>
            </a:r>
            <a:r>
              <a:rPr lang="fr-FR" sz="1400" dirty="0">
                <a:solidFill>
                  <a:srgbClr val="17323A"/>
                </a:solidFill>
                <a:latin typeface="Aptos"/>
              </a:rPr>
              <a:t>Gestion des accès via IAM</a:t>
            </a:r>
            <a:r>
              <a:rPr sz="1400" b="0" dirty="0">
                <a:solidFill>
                  <a:srgbClr val="17323A"/>
                </a:solidFill>
                <a:latin typeface="Aptos"/>
              </a:rPr>
              <a:t>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lang="fr-FR" sz="1400" b="1" dirty="0">
                <a:solidFill>
                  <a:srgbClr val="0C4A52"/>
                </a:solidFill>
                <a:latin typeface="Aptos"/>
              </a:rPr>
              <a:t>Accès, rectification et suppression des données</a:t>
            </a:r>
            <a:r>
              <a:rPr sz="1400" b="1" dirty="0">
                <a:solidFill>
                  <a:srgbClr val="0C4A52"/>
                </a:solidFill>
                <a:latin typeface="Aptos"/>
              </a:rPr>
              <a:t> — </a:t>
            </a:r>
            <a:r>
              <a:rPr lang="fr-FR" sz="1400" dirty="0">
                <a:solidFill>
                  <a:srgbClr val="0C4A52"/>
                </a:solidFill>
                <a:latin typeface="Aptos"/>
              </a:rPr>
              <a:t>Via S3</a:t>
            </a:r>
            <a:r>
              <a:rPr sz="1400" b="0" dirty="0">
                <a:solidFill>
                  <a:srgbClr val="17323A"/>
                </a:solidFill>
                <a:latin typeface="Aptos"/>
              </a:rPr>
              <a:t>.</a:t>
            </a:r>
          </a:p>
        </p:txBody>
      </p:sp>
      <p:sp>
        <p:nvSpPr>
          <p:cNvPr id="40" name="rgpd-source"/>
          <p:cNvSpPr txBox="1"/>
          <p:nvPr/>
        </p:nvSpPr>
        <p:spPr>
          <a:xfrm>
            <a:off x="685800" y="6181344"/>
            <a:ext cx="292608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>
                <a:solidFill>
                  <a:srgbClr val="607174"/>
                </a:solidFill>
                <a:latin typeface="Aptos"/>
              </a:rPr>
              <a:t>Réf. : CNIL · RGPD, sécurité, sous-traitance et AIPD</a:t>
            </a:r>
          </a:p>
        </p:txBody>
      </p:sp>
      <p:pic>
        <p:nvPicPr>
          <p:cNvPr id="42" name="Image 41">
            <a:extLst>
              <a:ext uri="{FF2B5EF4-FFF2-40B4-BE49-F238E27FC236}">
                <a16:creationId xmlns:a16="http://schemas.microsoft.com/office/drawing/2014/main" id="{A1286C88-8FBB-022C-1C76-E64BCFCA04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4115" y="859183"/>
            <a:ext cx="968370" cy="212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4157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4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xis-kicker"/>
          <p:cNvSpPr txBox="1"/>
          <p:nvPr/>
        </p:nvSpPr>
        <p:spPr>
          <a:xfrm>
            <a:off x="685800" y="609600"/>
            <a:ext cx="285750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E87938"/>
                </a:solidFill>
                <a:latin typeface="Aptos"/>
              </a:rPr>
              <a:t>AXE 3</a:t>
            </a:r>
          </a:p>
        </p:txBody>
      </p:sp>
      <p:sp>
        <p:nvSpPr>
          <p:cNvPr id="3" name="axis-number"/>
          <p:cNvSpPr txBox="1"/>
          <p:nvPr/>
        </p:nvSpPr>
        <p:spPr>
          <a:xfrm>
            <a:off x="685800" y="1314450"/>
            <a:ext cx="2190750" cy="1104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600" b="1">
                <a:solidFill>
                  <a:srgbClr val="D8E7E5"/>
                </a:solidFill>
                <a:latin typeface="Aptos Display"/>
              </a:rPr>
              <a:t>03</a:t>
            </a:r>
          </a:p>
        </p:txBody>
      </p:sp>
      <p:sp>
        <p:nvSpPr>
          <p:cNvPr id="4" name="axis-rule"/>
          <p:cNvSpPr/>
          <p:nvPr/>
        </p:nvSpPr>
        <p:spPr>
          <a:xfrm>
            <a:off x="3238500" y="1524000"/>
            <a:ext cx="38100" cy="3524250"/>
          </a:xfrm>
          <a:prstGeom prst="rect">
            <a:avLst/>
          </a:prstGeom>
          <a:solidFill>
            <a:srgbClr val="E879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xis-title"/>
          <p:cNvSpPr txBox="1"/>
          <p:nvPr/>
        </p:nvSpPr>
        <p:spPr>
          <a:xfrm>
            <a:off x="3829050" y="1657350"/>
            <a:ext cx="723900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 Display"/>
              </a:rPr>
              <a:t>Réalisation de la pipeline
en local et sur AWS</a:t>
            </a:r>
          </a:p>
        </p:txBody>
      </p:sp>
      <p:sp>
        <p:nvSpPr>
          <p:cNvPr id="6" name="axis-subtitle"/>
          <p:cNvSpPr txBox="1"/>
          <p:nvPr/>
        </p:nvSpPr>
        <p:spPr>
          <a:xfrm>
            <a:off x="3829050" y="3352800"/>
            <a:ext cx="6572250" cy="93344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0" dirty="0" err="1">
                <a:solidFill>
                  <a:srgbClr val="D8E7E5"/>
                </a:solidFill>
                <a:latin typeface="Aptos"/>
              </a:rPr>
              <a:t>Valider</a:t>
            </a:r>
            <a:r>
              <a:rPr sz="1700" b="0" dirty="0">
                <a:solidFill>
                  <a:srgbClr val="D8E7E5"/>
                </a:solidFill>
                <a:latin typeface="Aptos"/>
              </a:rPr>
              <a:t> la </a:t>
            </a:r>
            <a:r>
              <a:rPr sz="1700" b="0" dirty="0" err="1">
                <a:solidFill>
                  <a:srgbClr val="D8E7E5"/>
                </a:solidFill>
                <a:latin typeface="Aptos"/>
              </a:rPr>
              <a:t>logique</a:t>
            </a:r>
            <a:r>
              <a:rPr sz="1700" b="0" dirty="0">
                <a:solidFill>
                  <a:srgbClr val="D8E7E5"/>
                </a:solidFill>
                <a:latin typeface="Aptos"/>
              </a:rPr>
              <a:t> </a:t>
            </a:r>
            <a:r>
              <a:rPr lang="fr-FR" sz="1700" b="0" dirty="0">
                <a:solidFill>
                  <a:srgbClr val="D8E7E5"/>
                </a:solidFill>
                <a:latin typeface="Aptos"/>
              </a:rPr>
              <a:t>localement</a:t>
            </a:r>
            <a:r>
              <a:rPr sz="1700" b="0" dirty="0">
                <a:solidFill>
                  <a:srgbClr val="D8E7E5"/>
                </a:solidFill>
                <a:latin typeface="Aptos"/>
              </a:rPr>
              <a:t>, </a:t>
            </a:r>
            <a:r>
              <a:rPr lang="fr-FR" sz="1700" b="0" dirty="0">
                <a:solidFill>
                  <a:srgbClr val="D8E7E5"/>
                </a:solidFill>
                <a:latin typeface="Aptos"/>
              </a:rPr>
              <a:t>déployer </a:t>
            </a:r>
            <a:r>
              <a:rPr sz="1700" b="0" dirty="0">
                <a:solidFill>
                  <a:srgbClr val="D8E7E5"/>
                </a:solidFill>
                <a:latin typeface="Aptos"/>
              </a:rPr>
              <a:t>dans le Cloud.</a:t>
            </a:r>
          </a:p>
        </p:txBody>
      </p:sp>
      <p:sp>
        <p:nvSpPr>
          <p:cNvPr id="7" name="axis-map"/>
          <p:cNvSpPr txBox="1"/>
          <p:nvPr/>
        </p:nvSpPr>
        <p:spPr>
          <a:xfrm>
            <a:off x="3829050" y="5105400"/>
            <a:ext cx="2857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>
                <a:solidFill>
                  <a:srgbClr val="E87938"/>
                </a:solidFill>
                <a:latin typeface="Aptos"/>
              </a:rPr>
              <a:t>01  —  02  —  03</a:t>
            </a:r>
          </a:p>
        </p:txBody>
      </p:sp>
      <p:sp>
        <p:nvSpPr>
          <p:cNvPr id="8" name="page-number"/>
          <p:cNvSpPr txBox="1"/>
          <p:nvPr/>
        </p:nvSpPr>
        <p:spPr>
          <a:xfrm>
            <a:off x="11096625" y="6496050"/>
            <a:ext cx="4095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819" b="1">
                <a:solidFill>
                  <a:srgbClr val="E87938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85800" y="419100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E87938"/>
                </a:solidFill>
                <a:latin typeface="Aptos"/>
              </a:rPr>
              <a:t>AXE 3 · EXÉCUTION</a:t>
            </a:r>
          </a:p>
        </p:txBody>
      </p:sp>
      <p:sp>
        <p:nvSpPr>
          <p:cNvPr id="3" name="headline"/>
          <p:cNvSpPr txBox="1"/>
          <p:nvPr/>
        </p:nvSpPr>
        <p:spPr>
          <a:xfrm>
            <a:off x="685800" y="781050"/>
            <a:ext cx="10820400" cy="876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2700" b="1" dirty="0">
                <a:solidFill>
                  <a:srgbClr val="0C4A52"/>
                </a:solidFill>
                <a:latin typeface="Aptos Display"/>
              </a:rPr>
              <a:t>Local vs Cloud</a:t>
            </a:r>
            <a:endParaRPr sz="2700" b="1" dirty="0">
              <a:solidFill>
                <a:srgbClr val="0C4A52"/>
              </a:solidFill>
              <a:latin typeface="Aptos Display"/>
            </a:endParaRPr>
          </a:p>
        </p:txBody>
      </p:sp>
      <p:sp>
        <p:nvSpPr>
          <p:cNvPr id="4" name="headline-rule"/>
          <p:cNvSpPr/>
          <p:nvPr/>
        </p:nvSpPr>
        <p:spPr>
          <a:xfrm>
            <a:off x="685800" y="1714500"/>
            <a:ext cx="838200" cy="38100"/>
          </a:xfrm>
          <a:prstGeom prst="rect">
            <a:avLst/>
          </a:prstGeom>
          <a:solidFill>
            <a:srgbClr val="E879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ooter-rule"/>
          <p:cNvSpPr/>
          <p:nvPr/>
        </p:nvSpPr>
        <p:spPr>
          <a:xfrm>
            <a:off x="685800" y="6429375"/>
            <a:ext cx="10820400" cy="9525"/>
          </a:xfrm>
          <a:prstGeom prst="rect">
            <a:avLst/>
          </a:prstGeom>
          <a:solidFill>
            <a:srgbClr val="E9D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ooter-source"/>
          <p:cNvSpPr txBox="1"/>
          <p:nvPr/>
        </p:nvSpPr>
        <p:spPr>
          <a:xfrm>
            <a:off x="685800" y="6515100"/>
            <a:ext cx="9334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>
                <a:solidFill>
                  <a:srgbClr val="607174"/>
                </a:solidFill>
                <a:latin typeface="Aptos"/>
              </a:rPr>
              <a:t>Architecture de référence du projet OpenClassrooms · sources p. 15</a:t>
            </a:r>
          </a:p>
        </p:txBody>
      </p:sp>
      <p:sp>
        <p:nvSpPr>
          <p:cNvPr id="7" name="page-number"/>
          <p:cNvSpPr txBox="1"/>
          <p:nvPr/>
        </p:nvSpPr>
        <p:spPr>
          <a:xfrm>
            <a:off x="11096625" y="6496050"/>
            <a:ext cx="4095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819" b="1">
                <a:solidFill>
                  <a:srgbClr val="E87938"/>
                </a:solidFill>
                <a:latin typeface="Aptos"/>
              </a:rPr>
              <a:t>10</a:t>
            </a:r>
          </a:p>
        </p:txBody>
      </p:sp>
      <p:sp>
        <p:nvSpPr>
          <p:cNvPr id="8" name="local-kicker"/>
          <p:cNvSpPr txBox="1"/>
          <p:nvPr/>
        </p:nvSpPr>
        <p:spPr>
          <a:xfrm>
            <a:off x="685800" y="2095499"/>
            <a:ext cx="2095499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 dirty="0">
                <a:solidFill>
                  <a:srgbClr val="E87938"/>
                </a:solidFill>
                <a:latin typeface="Aptos"/>
              </a:rPr>
              <a:t>VALIDER</a:t>
            </a:r>
            <a:r>
              <a:rPr lang="fr-FR" sz="1000" b="1" dirty="0">
                <a:solidFill>
                  <a:srgbClr val="E87938"/>
                </a:solidFill>
                <a:latin typeface="Aptos"/>
              </a:rPr>
              <a:t> LA PIPELINE</a:t>
            </a:r>
            <a:endParaRPr sz="1000" b="1" dirty="0">
              <a:solidFill>
                <a:srgbClr val="E87938"/>
              </a:solidFill>
              <a:latin typeface="Aptos"/>
            </a:endParaRPr>
          </a:p>
        </p:txBody>
      </p:sp>
      <p:sp>
        <p:nvSpPr>
          <p:cNvPr id="9" name="local-title"/>
          <p:cNvSpPr txBox="1"/>
          <p:nvPr/>
        </p:nvSpPr>
        <p:spPr>
          <a:xfrm>
            <a:off x="685800" y="2400300"/>
            <a:ext cx="3048000" cy="400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500" b="1">
                <a:solidFill>
                  <a:srgbClr val="0C4A52"/>
                </a:solidFill>
                <a:latin typeface="Aptos Display"/>
              </a:rPr>
              <a:t>LOCAL</a:t>
            </a:r>
          </a:p>
        </p:txBody>
      </p:sp>
      <p:sp>
        <p:nvSpPr>
          <p:cNvPr id="10" name="local-body"/>
          <p:cNvSpPr txBox="1"/>
          <p:nvPr/>
        </p:nvSpPr>
        <p:spPr>
          <a:xfrm>
            <a:off x="685800" y="2847976"/>
            <a:ext cx="3429000" cy="1695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dirty="0">
                <a:solidFill>
                  <a:srgbClr val="17323A"/>
                </a:solidFill>
                <a:latin typeface="Aptos"/>
              </a:rPr>
              <a:t>• </a:t>
            </a:r>
            <a:r>
              <a:rPr lang="fr-FR" sz="1500" b="0" dirty="0">
                <a:solidFill>
                  <a:srgbClr val="17323A"/>
                </a:solidFill>
                <a:latin typeface="Aptos"/>
              </a:rPr>
              <a:t>Données locales</a:t>
            </a:r>
            <a:r>
              <a:rPr sz="1500" b="0" dirty="0">
                <a:solidFill>
                  <a:srgbClr val="17323A"/>
                </a:solidFill>
                <a:latin typeface="Aptos"/>
              </a:rPr>
              <a:t>
• Spark local
• Notebook de mise au point</a:t>
            </a:r>
            <a:r>
              <a:rPr lang="fr-FR" sz="1500" b="0" dirty="0">
                <a:solidFill>
                  <a:srgbClr val="17323A"/>
                </a:solidFill>
                <a:latin typeface="Aptos"/>
              </a:rPr>
              <a:t> du </a:t>
            </a:r>
            <a:r>
              <a:rPr lang="fr-FR" sz="1500" b="0" dirty="0" err="1">
                <a:solidFill>
                  <a:srgbClr val="17323A"/>
                </a:solidFill>
                <a:latin typeface="Aptos"/>
              </a:rPr>
              <a:t>traîtement</a:t>
            </a:r>
            <a:endParaRPr lang="fr-FR" sz="1500" b="0" dirty="0">
              <a:solidFill>
                <a:srgbClr val="17323A"/>
              </a:solidFill>
              <a:latin typeface="Aptos"/>
            </a:endParaRPr>
          </a:p>
          <a:p>
            <a:pPr algn="l"/>
            <a:endParaRPr sz="1500" b="0" dirty="0">
              <a:solidFill>
                <a:srgbClr val="17323A"/>
              </a:solidFill>
              <a:latin typeface="Aptos"/>
            </a:endParaRPr>
          </a:p>
        </p:txBody>
      </p:sp>
      <p:sp>
        <p:nvSpPr>
          <p:cNvPr id="11" name="aws-kicker"/>
          <p:cNvSpPr txBox="1"/>
          <p:nvPr/>
        </p:nvSpPr>
        <p:spPr>
          <a:xfrm>
            <a:off x="8077200" y="2095499"/>
            <a:ext cx="2095499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1000" b="1" dirty="0">
                <a:solidFill>
                  <a:srgbClr val="E87938"/>
                </a:solidFill>
                <a:latin typeface="Aptos"/>
              </a:rPr>
              <a:t>TRAITER DU BIG DATA</a:t>
            </a:r>
            <a:endParaRPr sz="1000" b="1" dirty="0">
              <a:solidFill>
                <a:srgbClr val="E87938"/>
              </a:solidFill>
              <a:latin typeface="Aptos"/>
            </a:endParaRPr>
          </a:p>
        </p:txBody>
      </p:sp>
      <p:sp>
        <p:nvSpPr>
          <p:cNvPr id="12" name="aws-title"/>
          <p:cNvSpPr txBox="1"/>
          <p:nvPr/>
        </p:nvSpPr>
        <p:spPr>
          <a:xfrm>
            <a:off x="8077200" y="2400300"/>
            <a:ext cx="3048000" cy="400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500" b="1">
                <a:solidFill>
                  <a:srgbClr val="0C4A52"/>
                </a:solidFill>
                <a:latin typeface="Aptos Display"/>
              </a:rPr>
              <a:t>AWS</a:t>
            </a:r>
          </a:p>
        </p:txBody>
      </p:sp>
      <p:sp>
        <p:nvSpPr>
          <p:cNvPr id="13" name="aws-body"/>
          <p:cNvSpPr txBox="1"/>
          <p:nvPr/>
        </p:nvSpPr>
        <p:spPr>
          <a:xfrm>
            <a:off x="8077200" y="2876550"/>
            <a:ext cx="3429000" cy="2447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1500" dirty="0">
                <a:solidFill>
                  <a:srgbClr val="17323A"/>
                </a:solidFill>
                <a:latin typeface="Aptos"/>
              </a:rPr>
              <a:t>EMR:</a:t>
            </a:r>
            <a:r>
              <a:rPr sz="1500" b="0" dirty="0">
                <a:solidFill>
                  <a:srgbClr val="17323A"/>
                </a:solidFill>
                <a:latin typeface="Aptos"/>
              </a:rPr>
              <a:t>
• Cluster </a:t>
            </a:r>
            <a:r>
              <a:rPr lang="fr-FR" sz="1500" dirty="0">
                <a:solidFill>
                  <a:srgbClr val="17323A"/>
                </a:solidFill>
                <a:latin typeface="Aptos"/>
              </a:rPr>
              <a:t>de calcul</a:t>
            </a:r>
          </a:p>
          <a:p>
            <a:r>
              <a:rPr lang="fr-FR" sz="1500" dirty="0">
                <a:solidFill>
                  <a:srgbClr val="17323A"/>
                </a:solidFill>
                <a:latin typeface="Aptos"/>
              </a:rPr>
              <a:t>• Stack logiciel </a:t>
            </a:r>
            <a:r>
              <a:rPr lang="fr-FR" sz="1500" dirty="0" err="1">
                <a:solidFill>
                  <a:srgbClr val="17323A"/>
                </a:solidFill>
                <a:latin typeface="Aptos"/>
              </a:rPr>
              <a:t>PySpark</a:t>
            </a:r>
            <a:r>
              <a:rPr lang="fr-FR" sz="1500" dirty="0">
                <a:solidFill>
                  <a:srgbClr val="17323A"/>
                </a:solidFill>
                <a:latin typeface="Aptos"/>
              </a:rPr>
              <a:t>, </a:t>
            </a:r>
            <a:r>
              <a:rPr lang="fr-FR" sz="1500" dirty="0" err="1">
                <a:solidFill>
                  <a:srgbClr val="17323A"/>
                </a:solidFill>
                <a:latin typeface="Aptos"/>
              </a:rPr>
              <a:t>Tensorflow</a:t>
            </a:r>
            <a:r>
              <a:rPr lang="fr-FR" sz="1500" dirty="0">
                <a:solidFill>
                  <a:srgbClr val="17323A"/>
                </a:solidFill>
                <a:latin typeface="Aptos"/>
              </a:rPr>
              <a:t>, </a:t>
            </a:r>
            <a:r>
              <a:rPr lang="fr-FR" sz="1500" dirty="0" err="1">
                <a:solidFill>
                  <a:srgbClr val="17323A"/>
                </a:solidFill>
                <a:latin typeface="Aptos"/>
              </a:rPr>
              <a:t>JupyterHub</a:t>
            </a:r>
            <a:r>
              <a:rPr lang="fr-FR" sz="1500" dirty="0">
                <a:solidFill>
                  <a:srgbClr val="17323A"/>
                </a:solidFill>
                <a:latin typeface="Aptos"/>
              </a:rPr>
              <a:t>…</a:t>
            </a:r>
            <a:r>
              <a:rPr sz="1500" b="0" dirty="0">
                <a:solidFill>
                  <a:srgbClr val="17323A"/>
                </a:solidFill>
                <a:latin typeface="Aptos"/>
              </a:rPr>
              <a:t>
• </a:t>
            </a:r>
            <a:r>
              <a:rPr lang="fr-FR" sz="1500" dirty="0">
                <a:solidFill>
                  <a:srgbClr val="17323A"/>
                </a:solidFill>
                <a:latin typeface="Aptos"/>
              </a:rPr>
              <a:t>Accessible en </a:t>
            </a:r>
            <a:r>
              <a:rPr lang="fr-FR" sz="1500" dirty="0" err="1">
                <a:solidFill>
                  <a:srgbClr val="17323A"/>
                </a:solidFill>
                <a:latin typeface="Aptos"/>
              </a:rPr>
              <a:t>ssh</a:t>
            </a:r>
            <a:r>
              <a:rPr sz="1500" b="0" dirty="0">
                <a:solidFill>
                  <a:srgbClr val="17323A"/>
                </a:solidFill>
                <a:latin typeface="Aptos"/>
              </a:rPr>
              <a:t>
</a:t>
            </a:r>
            <a:endParaRPr lang="fr-FR" sz="1500" b="0" dirty="0">
              <a:solidFill>
                <a:srgbClr val="17323A"/>
              </a:solidFill>
              <a:latin typeface="Aptos"/>
            </a:endParaRPr>
          </a:p>
          <a:p>
            <a:pPr algn="l"/>
            <a:r>
              <a:rPr lang="fr-FR" sz="1500" dirty="0">
                <a:solidFill>
                  <a:srgbClr val="17323A"/>
                </a:solidFill>
                <a:latin typeface="Aptos"/>
              </a:rPr>
              <a:t>S3:</a:t>
            </a:r>
          </a:p>
          <a:p>
            <a:r>
              <a:rPr lang="fr-FR" sz="1500" dirty="0">
                <a:solidFill>
                  <a:srgbClr val="17323A"/>
                </a:solidFill>
                <a:latin typeface="Aptos"/>
              </a:rPr>
              <a:t>• Stockage des données brutes</a:t>
            </a:r>
          </a:p>
          <a:p>
            <a:r>
              <a:rPr lang="fr-FR" sz="1500" dirty="0">
                <a:solidFill>
                  <a:srgbClr val="17323A"/>
                </a:solidFill>
                <a:latin typeface="Aptos"/>
              </a:rPr>
              <a:t>• Stockage des données </a:t>
            </a:r>
            <a:r>
              <a:rPr lang="fr-FR" sz="1500" dirty="0" err="1">
                <a:solidFill>
                  <a:srgbClr val="17323A"/>
                </a:solidFill>
                <a:latin typeface="Aptos"/>
              </a:rPr>
              <a:t>traîtées</a:t>
            </a:r>
            <a:endParaRPr lang="fr-FR" sz="1500" dirty="0">
              <a:solidFill>
                <a:srgbClr val="17323A"/>
              </a:solidFill>
              <a:latin typeface="Aptos"/>
            </a:endParaRPr>
          </a:p>
          <a:p>
            <a:pPr algn="l"/>
            <a:r>
              <a:rPr sz="1500" b="0" dirty="0">
                <a:solidFill>
                  <a:srgbClr val="17323A"/>
                </a:solidFill>
                <a:latin typeface="Aptos"/>
              </a:rPr>
              <a:t>• Logs</a:t>
            </a:r>
          </a:p>
        </p:txBody>
      </p:sp>
      <p:sp>
        <p:nvSpPr>
          <p:cNvPr id="14" name="transition-arrow"/>
          <p:cNvSpPr txBox="1"/>
          <p:nvPr/>
        </p:nvSpPr>
        <p:spPr>
          <a:xfrm>
            <a:off x="4586909" y="2743200"/>
            <a:ext cx="19050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4600" b="1" dirty="0">
                <a:solidFill>
                  <a:srgbClr val="E87938"/>
                </a:solidFill>
                <a:latin typeface="Aptos Display"/>
              </a:rPr>
              <a:t>→</a:t>
            </a:r>
          </a:p>
        </p:txBody>
      </p:sp>
      <p:sp>
        <p:nvSpPr>
          <p:cNvPr id="15" name="transition-body"/>
          <p:cNvSpPr txBox="1"/>
          <p:nvPr/>
        </p:nvSpPr>
        <p:spPr>
          <a:xfrm>
            <a:off x="4244009" y="3543300"/>
            <a:ext cx="3185491" cy="1009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fr-FR" sz="1400" b="1" dirty="0">
                <a:solidFill>
                  <a:srgbClr val="0C4A52"/>
                </a:solidFill>
                <a:latin typeface="Aptos"/>
              </a:rPr>
              <a:t>Adaptation à l’environnement cloud</a:t>
            </a:r>
            <a:endParaRPr sz="1400" b="1" dirty="0">
              <a:solidFill>
                <a:srgbClr val="0C4A52"/>
              </a:solidFill>
              <a:latin typeface="Aptos"/>
            </a:endParaRPr>
          </a:p>
        </p:txBody>
      </p:sp>
      <p:sp>
        <p:nvSpPr>
          <p:cNvPr id="16" name="common-rule"/>
          <p:cNvSpPr/>
          <p:nvPr/>
        </p:nvSpPr>
        <p:spPr>
          <a:xfrm>
            <a:off x="685800" y="5276850"/>
            <a:ext cx="10820400" cy="9525"/>
          </a:xfrm>
          <a:prstGeom prst="rect">
            <a:avLst/>
          </a:prstGeom>
          <a:solidFill>
            <a:srgbClr val="E9D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common-label"/>
          <p:cNvSpPr txBox="1"/>
          <p:nvPr/>
        </p:nvSpPr>
        <p:spPr>
          <a:xfrm>
            <a:off x="685800" y="5486400"/>
            <a:ext cx="17145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1">
                <a:solidFill>
                  <a:srgbClr val="E87938"/>
                </a:solidFill>
                <a:latin typeface="Aptos"/>
              </a:rPr>
              <a:t>LOGIQUE COMMUNE</a:t>
            </a:r>
          </a:p>
        </p:txBody>
      </p:sp>
      <p:sp>
        <p:nvSpPr>
          <p:cNvPr id="18" name="common-chain"/>
          <p:cNvSpPr txBox="1"/>
          <p:nvPr/>
        </p:nvSpPr>
        <p:spPr>
          <a:xfrm>
            <a:off x="1416327" y="5419725"/>
            <a:ext cx="9105900" cy="323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fr-FR" sz="1600" b="1" dirty="0">
                <a:solidFill>
                  <a:srgbClr val="0C4A52"/>
                </a:solidFill>
                <a:latin typeface="Aptos"/>
              </a:rPr>
              <a:t>Chargement</a:t>
            </a:r>
            <a:r>
              <a:rPr sz="1600" b="1" dirty="0">
                <a:solidFill>
                  <a:srgbClr val="0C4A52"/>
                </a:solidFill>
                <a:latin typeface="Aptos"/>
              </a:rPr>
              <a:t>  →   </a:t>
            </a:r>
            <a:r>
              <a:rPr lang="fr-FR" sz="1600" b="1" dirty="0" err="1">
                <a:solidFill>
                  <a:srgbClr val="0C4A52"/>
                </a:solidFill>
                <a:latin typeface="Aptos"/>
              </a:rPr>
              <a:t>Features</a:t>
            </a:r>
            <a:r>
              <a:rPr lang="fr-FR" sz="1600" b="1" dirty="0">
                <a:solidFill>
                  <a:srgbClr val="0C4A52"/>
                </a:solidFill>
                <a:latin typeface="Aptos"/>
              </a:rPr>
              <a:t> extraction </a:t>
            </a:r>
            <a:r>
              <a:rPr sz="1600" b="1" dirty="0">
                <a:solidFill>
                  <a:srgbClr val="0C4A52"/>
                </a:solidFill>
                <a:latin typeface="Aptos"/>
              </a:rPr>
              <a:t>→  PCA  →  </a:t>
            </a:r>
            <a:r>
              <a:rPr lang="fr-FR" sz="1600" b="1" dirty="0">
                <a:solidFill>
                  <a:srgbClr val="0C4A52"/>
                </a:solidFill>
                <a:latin typeface="Aptos"/>
              </a:rPr>
              <a:t>Sauvegarde des résultats</a:t>
            </a:r>
            <a:endParaRPr sz="1600" b="1" dirty="0">
              <a:solidFill>
                <a:srgbClr val="0C4A52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kicker">
            <a:extLst>
              <a:ext uri="{FF2B5EF4-FFF2-40B4-BE49-F238E27FC236}">
                <a16:creationId xmlns:a16="http://schemas.microsoft.com/office/drawing/2014/main" id="{EC16900B-2488-47B7-8EE9-6103D448EBA0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E87938"/>
                </a:solidFill>
                <a:latin typeface="Aptos"/>
                <a:ea typeface="Aptos"/>
                <a:cs typeface="Aptos"/>
              </a:defRPr>
            </a:pPr>
            <a:r>
              <a:rPr lang="fr-FR" sz="1050" b="1">
                <a:solidFill>
                  <a:srgbClr val="E87938"/>
                </a:solidFill>
                <a:latin typeface="Aptos"/>
                <a:ea typeface="Aptos"/>
                <a:cs typeface="Aptos"/>
              </a:rPr>
              <a:t>AXE 3</a:t>
            </a:r>
            <a:r>
              <a:rPr sz="1050" b="1">
                <a:solidFill>
                  <a:srgbClr val="E87938"/>
                </a:solidFill>
                <a:latin typeface="Aptos"/>
                <a:ea typeface="Aptos"/>
                <a:cs typeface="Aptos"/>
              </a:rPr>
              <a:t> · PIPELINE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870CAFA0-46A4-4A30-8EF7-5DF97266FAD5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2700" b="1">
                <a:solidFill>
                  <a:srgbClr val="0C4A52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dirty="0">
                <a:solidFill>
                  <a:srgbClr val="0C4A52"/>
                </a:solidFill>
                <a:latin typeface="Aptos Display"/>
                <a:ea typeface="Aptos Display"/>
                <a:cs typeface="Aptos Display"/>
              </a:rPr>
              <a:t>Une </a:t>
            </a:r>
            <a:r>
              <a:rPr lang="fr-FR" sz="2700" b="1" dirty="0">
                <a:solidFill>
                  <a:srgbClr val="0C4A52"/>
                </a:solidFill>
                <a:latin typeface="Aptos Display"/>
                <a:ea typeface="Aptos Display"/>
                <a:cs typeface="Aptos Display"/>
              </a:rPr>
              <a:t>Pipeline en 5 étapes</a:t>
            </a:r>
            <a:endParaRPr sz="2700" b="1" dirty="0">
              <a:solidFill>
                <a:srgbClr val="0C4A52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" name="headline-rule">
            <a:extLst>
              <a:ext uri="{FF2B5EF4-FFF2-40B4-BE49-F238E27FC236}">
                <a16:creationId xmlns:a16="http://schemas.microsoft.com/office/drawing/2014/main" id="{BC71BA7F-C74E-4503-AAA0-4078DC2DE6B8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838200" cy="38100"/>
          </a:xfrm>
          <a:prstGeom prst="rect">
            <a:avLst/>
          </a:prstGeom>
          <a:solidFill>
            <a:srgbClr val="E87938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tep-1">
            <a:extLst>
              <a:ext uri="{FF2B5EF4-FFF2-40B4-BE49-F238E27FC236}">
                <a16:creationId xmlns:a16="http://schemas.microsoft.com/office/drawing/2014/main" id="{A923A52B-1E92-4100-A40C-E1881CADDC9F}"/>
              </a:ext>
            </a:extLst>
          </p:cNvPr>
          <p:cNvSpPr>
            <a:spLocks noGrp="1"/>
          </p:cNvSpPr>
          <p:nvPr/>
        </p:nvSpPr>
        <p:spPr>
          <a:xfrm>
            <a:off x="790956" y="2322576"/>
            <a:ext cx="1069848" cy="1069848"/>
          </a:xfrm>
          <a:prstGeom prst="ellipse">
            <a:avLst/>
          </a:prstGeom>
          <a:solidFill>
            <a:srgbClr val="FFFDF8"/>
          </a:solidFill>
          <a:ln w="19050">
            <a:solidFill>
              <a:srgbClr val="2B7A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tep-num-1">
            <a:extLst>
              <a:ext uri="{FF2B5EF4-FFF2-40B4-BE49-F238E27FC236}">
                <a16:creationId xmlns:a16="http://schemas.microsoft.com/office/drawing/2014/main" id="{F4876695-54A8-44B4-A5B4-A797CEDEBD79}"/>
              </a:ext>
            </a:extLst>
          </p:cNvPr>
          <p:cNvSpPr>
            <a:spLocks noGrp="1"/>
          </p:cNvSpPr>
          <p:nvPr/>
        </p:nvSpPr>
        <p:spPr>
          <a:xfrm>
            <a:off x="1019556" y="2578608"/>
            <a:ext cx="612648" cy="2651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E8793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8793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step-title-1">
            <a:extLst>
              <a:ext uri="{FF2B5EF4-FFF2-40B4-BE49-F238E27FC236}">
                <a16:creationId xmlns:a16="http://schemas.microsoft.com/office/drawing/2014/main" id="{72505228-2BB8-4141-8605-4C0CCA7ECF41}"/>
              </a:ext>
            </a:extLst>
          </p:cNvPr>
          <p:cNvSpPr>
            <a:spLocks noGrp="1"/>
          </p:cNvSpPr>
          <p:nvPr/>
        </p:nvSpPr>
        <p:spPr>
          <a:xfrm>
            <a:off x="640080" y="3602736"/>
            <a:ext cx="1371600" cy="246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ctr">
              <a:defRPr sz="1350" b="1">
                <a:solidFill>
                  <a:srgbClr val="0C4A52"/>
                </a:solidFill>
                <a:latin typeface="Aptos"/>
                <a:ea typeface="Aptos"/>
                <a:cs typeface="Aptos"/>
              </a:defRPr>
            </a:pPr>
            <a:r>
              <a:rPr lang="fr-FR" sz="1350" b="1" dirty="0">
                <a:solidFill>
                  <a:srgbClr val="0C4A52"/>
                </a:solidFill>
                <a:latin typeface="Aptos"/>
                <a:ea typeface="Aptos"/>
                <a:cs typeface="Aptos"/>
              </a:rPr>
              <a:t>Chargement des données</a:t>
            </a:r>
            <a:endParaRPr sz="1350" b="1" dirty="0">
              <a:solidFill>
                <a:srgbClr val="0C4A5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step-2">
            <a:extLst>
              <a:ext uri="{FF2B5EF4-FFF2-40B4-BE49-F238E27FC236}">
                <a16:creationId xmlns:a16="http://schemas.microsoft.com/office/drawing/2014/main" id="{29A82F96-F91F-4540-8109-B3EFA210B3C9}"/>
              </a:ext>
            </a:extLst>
          </p:cNvPr>
          <p:cNvSpPr>
            <a:spLocks noGrp="1"/>
          </p:cNvSpPr>
          <p:nvPr/>
        </p:nvSpPr>
        <p:spPr>
          <a:xfrm>
            <a:off x="3076956" y="2322576"/>
            <a:ext cx="1069848" cy="1069848"/>
          </a:xfrm>
          <a:prstGeom prst="ellipse">
            <a:avLst/>
          </a:prstGeom>
          <a:solidFill>
            <a:srgbClr val="FFFDF8"/>
          </a:solidFill>
          <a:ln w="19050">
            <a:solidFill>
              <a:srgbClr val="2B7A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tep-num-2">
            <a:extLst>
              <a:ext uri="{FF2B5EF4-FFF2-40B4-BE49-F238E27FC236}">
                <a16:creationId xmlns:a16="http://schemas.microsoft.com/office/drawing/2014/main" id="{4B1915A5-78EE-4D9B-AD3E-26E7A8DAFB0B}"/>
              </a:ext>
            </a:extLst>
          </p:cNvPr>
          <p:cNvSpPr>
            <a:spLocks noGrp="1"/>
          </p:cNvSpPr>
          <p:nvPr/>
        </p:nvSpPr>
        <p:spPr>
          <a:xfrm>
            <a:off x="3305556" y="2578608"/>
            <a:ext cx="612648" cy="2651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E8793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8793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step-title-2">
            <a:extLst>
              <a:ext uri="{FF2B5EF4-FFF2-40B4-BE49-F238E27FC236}">
                <a16:creationId xmlns:a16="http://schemas.microsoft.com/office/drawing/2014/main" id="{C0C14F81-513E-406B-8F8A-FAF2E6099650}"/>
              </a:ext>
            </a:extLst>
          </p:cNvPr>
          <p:cNvSpPr>
            <a:spLocks noGrp="1"/>
          </p:cNvSpPr>
          <p:nvPr/>
        </p:nvSpPr>
        <p:spPr>
          <a:xfrm>
            <a:off x="2468880" y="3602736"/>
            <a:ext cx="2064031" cy="246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ctr">
              <a:defRPr sz="1350" b="1">
                <a:solidFill>
                  <a:srgbClr val="0C4A52"/>
                </a:solidFill>
                <a:latin typeface="Aptos"/>
                <a:ea typeface="Aptos"/>
                <a:cs typeface="Aptos"/>
              </a:defRPr>
            </a:pPr>
            <a:r>
              <a:rPr lang="fr-FR" sz="1350" b="1" dirty="0">
                <a:solidFill>
                  <a:srgbClr val="0C4A52"/>
                </a:solidFill>
                <a:latin typeface="Aptos"/>
                <a:ea typeface="Aptos"/>
                <a:cs typeface="Aptos"/>
              </a:rPr>
              <a:t>Chargement du modèle pour le </a:t>
            </a:r>
            <a:r>
              <a:rPr lang="fr-FR" sz="1350" b="1" dirty="0" err="1">
                <a:solidFill>
                  <a:srgbClr val="0C4A52"/>
                </a:solidFill>
                <a:latin typeface="Aptos"/>
                <a:ea typeface="Aptos"/>
                <a:cs typeface="Aptos"/>
              </a:rPr>
              <a:t>transfer</a:t>
            </a:r>
            <a:r>
              <a:rPr lang="fr-FR" sz="1350" b="1" dirty="0">
                <a:solidFill>
                  <a:srgbClr val="0C4A52"/>
                </a:solidFill>
                <a:latin typeface="Aptos"/>
                <a:ea typeface="Aptos"/>
                <a:cs typeface="Aptos"/>
              </a:rPr>
              <a:t> </a:t>
            </a:r>
            <a:r>
              <a:rPr lang="fr-FR" sz="1350" b="1" dirty="0" err="1">
                <a:solidFill>
                  <a:srgbClr val="0C4A52"/>
                </a:solidFill>
                <a:latin typeface="Aptos"/>
                <a:ea typeface="Aptos"/>
                <a:cs typeface="Aptos"/>
              </a:rPr>
              <a:t>learning</a:t>
            </a:r>
            <a:endParaRPr sz="1350" b="1" dirty="0">
              <a:solidFill>
                <a:srgbClr val="0C4A5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step-3">
            <a:extLst>
              <a:ext uri="{FF2B5EF4-FFF2-40B4-BE49-F238E27FC236}">
                <a16:creationId xmlns:a16="http://schemas.microsoft.com/office/drawing/2014/main" id="{1C3DE929-28F2-4C0E-810E-4B49F3A0220C}"/>
              </a:ext>
            </a:extLst>
          </p:cNvPr>
          <p:cNvSpPr>
            <a:spLocks noGrp="1"/>
          </p:cNvSpPr>
          <p:nvPr/>
        </p:nvSpPr>
        <p:spPr>
          <a:xfrm>
            <a:off x="5362956" y="2322576"/>
            <a:ext cx="1069848" cy="1069848"/>
          </a:xfrm>
          <a:prstGeom prst="ellipse">
            <a:avLst/>
          </a:prstGeom>
          <a:solidFill>
            <a:srgbClr val="0C4A52"/>
          </a:solidFill>
          <a:ln w="19050">
            <a:solidFill>
              <a:srgbClr val="0C4A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tep-num-3">
            <a:extLst>
              <a:ext uri="{FF2B5EF4-FFF2-40B4-BE49-F238E27FC236}">
                <a16:creationId xmlns:a16="http://schemas.microsoft.com/office/drawing/2014/main" id="{2E98C73A-545D-46D1-9E57-226B93C62765}"/>
              </a:ext>
            </a:extLst>
          </p:cNvPr>
          <p:cNvSpPr>
            <a:spLocks noGrp="1"/>
          </p:cNvSpPr>
          <p:nvPr/>
        </p:nvSpPr>
        <p:spPr>
          <a:xfrm>
            <a:off x="5591556" y="2578608"/>
            <a:ext cx="612648" cy="2651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step-title-3">
            <a:extLst>
              <a:ext uri="{FF2B5EF4-FFF2-40B4-BE49-F238E27FC236}">
                <a16:creationId xmlns:a16="http://schemas.microsoft.com/office/drawing/2014/main" id="{C0816FB0-BB20-4B12-BA49-77190D2B6D8F}"/>
              </a:ext>
            </a:extLst>
          </p:cNvPr>
          <p:cNvSpPr>
            <a:spLocks noGrp="1"/>
          </p:cNvSpPr>
          <p:nvPr/>
        </p:nvSpPr>
        <p:spPr>
          <a:xfrm>
            <a:off x="5212080" y="3602736"/>
            <a:ext cx="1371600" cy="246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ctr">
              <a:defRPr sz="1350" b="1">
                <a:solidFill>
                  <a:srgbClr val="0C4A52"/>
                </a:solidFill>
                <a:latin typeface="Aptos"/>
                <a:ea typeface="Aptos"/>
                <a:cs typeface="Aptos"/>
              </a:defRPr>
            </a:pPr>
            <a:r>
              <a:rPr lang="fr-FR" sz="1350" b="1" dirty="0">
                <a:solidFill>
                  <a:srgbClr val="0C4A52"/>
                </a:solidFill>
                <a:latin typeface="Aptos"/>
                <a:ea typeface="Aptos"/>
                <a:cs typeface="Aptos"/>
              </a:rPr>
              <a:t>Extraction des </a:t>
            </a:r>
            <a:r>
              <a:rPr lang="fr-FR" sz="1350" b="1" dirty="0" err="1">
                <a:solidFill>
                  <a:srgbClr val="0C4A52"/>
                </a:solidFill>
                <a:latin typeface="Aptos"/>
                <a:ea typeface="Aptos"/>
                <a:cs typeface="Aptos"/>
              </a:rPr>
              <a:t>features</a:t>
            </a:r>
            <a:endParaRPr sz="1350" b="1" dirty="0">
              <a:solidFill>
                <a:srgbClr val="0C4A5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step-4">
            <a:extLst>
              <a:ext uri="{FF2B5EF4-FFF2-40B4-BE49-F238E27FC236}">
                <a16:creationId xmlns:a16="http://schemas.microsoft.com/office/drawing/2014/main" id="{CE2AE0B4-C5B6-4198-923C-93E0DA278F79}"/>
              </a:ext>
            </a:extLst>
          </p:cNvPr>
          <p:cNvSpPr>
            <a:spLocks noGrp="1"/>
          </p:cNvSpPr>
          <p:nvPr/>
        </p:nvSpPr>
        <p:spPr>
          <a:xfrm>
            <a:off x="7648956" y="2322576"/>
            <a:ext cx="1069848" cy="1069848"/>
          </a:xfrm>
          <a:prstGeom prst="ellipse">
            <a:avLst/>
          </a:prstGeom>
          <a:solidFill>
            <a:srgbClr val="FFFDF8"/>
          </a:solidFill>
          <a:ln w="19050">
            <a:solidFill>
              <a:srgbClr val="2B7A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tep-num-4">
            <a:extLst>
              <a:ext uri="{FF2B5EF4-FFF2-40B4-BE49-F238E27FC236}">
                <a16:creationId xmlns:a16="http://schemas.microsoft.com/office/drawing/2014/main" id="{17BAB8A6-508C-4D8C-A91F-1F2A16EF7636}"/>
              </a:ext>
            </a:extLst>
          </p:cNvPr>
          <p:cNvSpPr>
            <a:spLocks noGrp="1"/>
          </p:cNvSpPr>
          <p:nvPr/>
        </p:nvSpPr>
        <p:spPr>
          <a:xfrm>
            <a:off x="7877556" y="2578608"/>
            <a:ext cx="612648" cy="2651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E8793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8793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8" name="step-title-4">
            <a:extLst>
              <a:ext uri="{FF2B5EF4-FFF2-40B4-BE49-F238E27FC236}">
                <a16:creationId xmlns:a16="http://schemas.microsoft.com/office/drawing/2014/main" id="{1AC0B4F0-2673-44C7-891D-717B0AA4881D}"/>
              </a:ext>
            </a:extLst>
          </p:cNvPr>
          <p:cNvSpPr>
            <a:spLocks noGrp="1"/>
          </p:cNvSpPr>
          <p:nvPr/>
        </p:nvSpPr>
        <p:spPr>
          <a:xfrm>
            <a:off x="7498080" y="3602736"/>
            <a:ext cx="1371600" cy="246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ctr">
              <a:defRPr sz="1350" b="1">
                <a:solidFill>
                  <a:srgbClr val="0C4A52"/>
                </a:solidFill>
                <a:latin typeface="Aptos"/>
                <a:ea typeface="Aptos"/>
                <a:cs typeface="Aptos"/>
              </a:defRPr>
            </a:pPr>
            <a:r>
              <a:rPr lang="fr-FR" sz="1350" b="1">
                <a:solidFill>
                  <a:srgbClr val="0C4A52"/>
                </a:solidFill>
                <a:latin typeface="Aptos"/>
                <a:ea typeface="Aptos"/>
                <a:cs typeface="Aptos"/>
              </a:rPr>
              <a:t>PCA</a:t>
            </a:r>
            <a:endParaRPr sz="1350" b="1">
              <a:solidFill>
                <a:srgbClr val="0C4A5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step-5">
            <a:extLst>
              <a:ext uri="{FF2B5EF4-FFF2-40B4-BE49-F238E27FC236}">
                <a16:creationId xmlns:a16="http://schemas.microsoft.com/office/drawing/2014/main" id="{BE042ED4-BEBA-4D49-B07D-3D35A50CA5B3}"/>
              </a:ext>
            </a:extLst>
          </p:cNvPr>
          <p:cNvSpPr>
            <a:spLocks noGrp="1"/>
          </p:cNvSpPr>
          <p:nvPr/>
        </p:nvSpPr>
        <p:spPr>
          <a:xfrm>
            <a:off x="9934956" y="2322576"/>
            <a:ext cx="1069848" cy="1069848"/>
          </a:xfrm>
          <a:prstGeom prst="ellipse">
            <a:avLst/>
          </a:prstGeom>
          <a:solidFill>
            <a:srgbClr val="FFFDF8"/>
          </a:solidFill>
          <a:ln w="19050">
            <a:solidFill>
              <a:srgbClr val="2B7A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tep-num-5">
            <a:extLst>
              <a:ext uri="{FF2B5EF4-FFF2-40B4-BE49-F238E27FC236}">
                <a16:creationId xmlns:a16="http://schemas.microsoft.com/office/drawing/2014/main" id="{09DFC19D-7AFF-4582-8E1D-C2DAFAE58321}"/>
              </a:ext>
            </a:extLst>
          </p:cNvPr>
          <p:cNvSpPr>
            <a:spLocks noGrp="1"/>
          </p:cNvSpPr>
          <p:nvPr/>
        </p:nvSpPr>
        <p:spPr>
          <a:xfrm>
            <a:off x="10163556" y="2578608"/>
            <a:ext cx="612648" cy="2651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E8793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8793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2" name="step-title-5">
            <a:extLst>
              <a:ext uri="{FF2B5EF4-FFF2-40B4-BE49-F238E27FC236}">
                <a16:creationId xmlns:a16="http://schemas.microsoft.com/office/drawing/2014/main" id="{78AD88DC-EECC-4E26-A7A4-92FFA12432C0}"/>
              </a:ext>
            </a:extLst>
          </p:cNvPr>
          <p:cNvSpPr>
            <a:spLocks noGrp="1"/>
          </p:cNvSpPr>
          <p:nvPr/>
        </p:nvSpPr>
        <p:spPr>
          <a:xfrm>
            <a:off x="9784080" y="3602736"/>
            <a:ext cx="1371600" cy="246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ctr">
              <a:defRPr sz="1350" b="1">
                <a:solidFill>
                  <a:srgbClr val="0C4A52"/>
                </a:solidFill>
                <a:latin typeface="Aptos"/>
                <a:ea typeface="Aptos"/>
                <a:cs typeface="Aptos"/>
              </a:defRPr>
            </a:pPr>
            <a:r>
              <a:rPr lang="fr-FR" sz="1350" b="1">
                <a:solidFill>
                  <a:srgbClr val="0C4A52"/>
                </a:solidFill>
                <a:latin typeface="Aptos"/>
                <a:ea typeface="Aptos"/>
                <a:cs typeface="Aptos"/>
              </a:rPr>
              <a:t>Sauvegarde</a:t>
            </a:r>
            <a:endParaRPr sz="1350" b="1">
              <a:solidFill>
                <a:srgbClr val="0C4A52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28" name="Connecteur droit avec flèche 27"/>
          <p:cNvCxnSpPr>
            <a:stCxn id="4" idx="6"/>
            <a:endCxn id="8" idx="2"/>
          </p:cNvCxnSpPr>
          <p:nvPr/>
        </p:nvCxnSpPr>
        <p:spPr>
          <a:xfrm>
            <a:off x="1860804" y="2852928"/>
            <a:ext cx="1216152" cy="0"/>
          </a:xfrm>
          <a:prstGeom prst="straightConnector1">
            <a:avLst/>
          </a:prstGeom>
          <a:ln w="28575">
            <a:solidFill>
              <a:srgbClr val="E87938"/>
            </a:solidFill>
            <a:prstDash val="solid"/>
            <a:tailEnd type="arrow" w="sm" len="sm"/>
          </a:ln>
        </p:spPr>
      </p:cxnSp>
      <p:cxnSp>
        <p:nvCxnSpPr>
          <p:cNvPr id="29" name="Connecteur droit avec flèche 28"/>
          <p:cNvCxnSpPr>
            <a:stCxn id="8" idx="6"/>
            <a:endCxn id="12" idx="2"/>
          </p:cNvCxnSpPr>
          <p:nvPr/>
        </p:nvCxnSpPr>
        <p:spPr>
          <a:xfrm>
            <a:off x="4146804" y="2852928"/>
            <a:ext cx="1216152" cy="0"/>
          </a:xfrm>
          <a:prstGeom prst="straightConnector1">
            <a:avLst/>
          </a:prstGeom>
          <a:ln w="28575">
            <a:solidFill>
              <a:srgbClr val="E87938"/>
            </a:solidFill>
            <a:prstDash val="solid"/>
            <a:tailEnd type="arrow" w="sm" len="sm"/>
          </a:ln>
        </p:spPr>
      </p:cxnSp>
      <p:cxnSp>
        <p:nvCxnSpPr>
          <p:cNvPr id="30" name="Connecteur droit avec flèche 29"/>
          <p:cNvCxnSpPr>
            <a:stCxn id="12" idx="6"/>
            <a:endCxn id="16" idx="2"/>
          </p:cNvCxnSpPr>
          <p:nvPr/>
        </p:nvCxnSpPr>
        <p:spPr>
          <a:xfrm>
            <a:off x="6432804" y="2852928"/>
            <a:ext cx="1216152" cy="0"/>
          </a:xfrm>
          <a:prstGeom prst="straightConnector1">
            <a:avLst/>
          </a:prstGeom>
          <a:ln w="28575">
            <a:solidFill>
              <a:srgbClr val="E87938"/>
            </a:solidFill>
            <a:prstDash val="solid"/>
            <a:tailEnd type="arrow" w="sm" len="sm"/>
          </a:ln>
        </p:spPr>
      </p:cxnSp>
      <p:cxnSp>
        <p:nvCxnSpPr>
          <p:cNvPr id="31" name="Connecteur droit avec flèche 30"/>
          <p:cNvCxnSpPr>
            <a:stCxn id="16" idx="6"/>
            <a:endCxn id="20" idx="2"/>
          </p:cNvCxnSpPr>
          <p:nvPr/>
        </p:nvCxnSpPr>
        <p:spPr>
          <a:xfrm>
            <a:off x="8718804" y="2852928"/>
            <a:ext cx="1216152" cy="0"/>
          </a:xfrm>
          <a:prstGeom prst="straightConnector1">
            <a:avLst/>
          </a:prstGeom>
          <a:ln w="28575">
            <a:solidFill>
              <a:srgbClr val="E87938"/>
            </a:solidFill>
            <a:prstDash val="solid"/>
            <a:tailEnd type="arrow" w="sm" len="sm"/>
          </a:ln>
        </p:spPr>
      </p:cxnSp>
      <p:sp>
        <p:nvSpPr>
          <p:cNvPr id="33" name="pipeline-band">
            <a:extLst>
              <a:ext uri="{FF2B5EF4-FFF2-40B4-BE49-F238E27FC236}">
                <a16:creationId xmlns:a16="http://schemas.microsoft.com/office/drawing/2014/main" id="{73FEB8E2-4AF9-4A14-B607-824193E6A6CD}"/>
              </a:ext>
            </a:extLst>
          </p:cNvPr>
          <p:cNvSpPr>
            <a:spLocks noGrp="1"/>
          </p:cNvSpPr>
          <p:nvPr/>
        </p:nvSpPr>
        <p:spPr>
          <a:xfrm>
            <a:off x="685800" y="4876800"/>
            <a:ext cx="10820400" cy="685800"/>
          </a:xfrm>
          <a:prstGeom prst="rect">
            <a:avLst/>
          </a:prstGeom>
          <a:solidFill>
            <a:srgbClr val="D8E7E5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pipeline-band-text">
            <a:extLst>
              <a:ext uri="{FF2B5EF4-FFF2-40B4-BE49-F238E27FC236}">
                <a16:creationId xmlns:a16="http://schemas.microsoft.com/office/drawing/2014/main" id="{FE85696C-DA07-41F5-9062-223E905B0DB8}"/>
              </a:ext>
            </a:extLst>
          </p:cNvPr>
          <p:cNvSpPr>
            <a:spLocks noGrp="1"/>
          </p:cNvSpPr>
          <p:nvPr/>
        </p:nvSpPr>
        <p:spPr>
          <a:xfrm>
            <a:off x="933450" y="5067300"/>
            <a:ext cx="10325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C4A5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C4A52"/>
                </a:solidFill>
                <a:latin typeface="Aptos"/>
                <a:ea typeface="Aptos"/>
                <a:cs typeface="Aptos"/>
              </a:rPr>
              <a:t>Même logique, de local au Cloud : distribution, chemins et ressources changent.</a:t>
            </a:r>
          </a:p>
        </p:txBody>
      </p:sp>
      <p:sp>
        <p:nvSpPr>
          <p:cNvPr id="35" name="footer-rule">
            <a:extLst>
              <a:ext uri="{FF2B5EF4-FFF2-40B4-BE49-F238E27FC236}">
                <a16:creationId xmlns:a16="http://schemas.microsoft.com/office/drawing/2014/main" id="{2AB869A5-88E5-4B5C-881B-E2D388B54112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10820400" cy="9525"/>
          </a:xfrm>
          <a:prstGeom prst="rect">
            <a:avLst/>
          </a:prstGeom>
          <a:solidFill>
            <a:srgbClr val="E9DED0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footer-source">
            <a:extLst>
              <a:ext uri="{FF2B5EF4-FFF2-40B4-BE49-F238E27FC236}">
                <a16:creationId xmlns:a16="http://schemas.microsoft.com/office/drawing/2014/main" id="{AA0BA8D6-7C5D-4AA6-8CE0-3E43E3FA9577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933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071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174"/>
                </a:solidFill>
                <a:latin typeface="Aptos"/>
                <a:ea typeface="Aptos"/>
                <a:cs typeface="Aptos"/>
              </a:rPr>
              <a:t>Architecture de référence du projet OpenClassrooms · sources p. </a:t>
            </a:r>
            <a:r>
              <a:rPr lang="fr-FR" sz="750" b="0">
                <a:solidFill>
                  <a:srgbClr val="607174"/>
                </a:solidFill>
                <a:latin typeface="Aptos"/>
                <a:ea typeface="Aptos"/>
                <a:cs typeface="Aptos"/>
              </a:rPr>
              <a:t>15</a:t>
            </a:r>
            <a:endParaRPr sz="750" b="0">
              <a:solidFill>
                <a:srgbClr val="60717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7" name="page-number">
            <a:extLst>
              <a:ext uri="{FF2B5EF4-FFF2-40B4-BE49-F238E27FC236}">
                <a16:creationId xmlns:a16="http://schemas.microsoft.com/office/drawing/2014/main" id="{3623F894-DED0-4EBD-9092-3359BE531E21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095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E87938"/>
                </a:solidFill>
                <a:latin typeface="Aptos"/>
                <a:ea typeface="Aptos"/>
                <a:cs typeface="Aptos"/>
              </a:defRPr>
            </a:pPr>
            <a:r>
              <a:rPr lang="fr-FR" sz="825" b="1">
                <a:solidFill>
                  <a:srgbClr val="E87938"/>
                </a:solidFill>
                <a:latin typeface="Aptos"/>
                <a:ea typeface="Aptos"/>
                <a:cs typeface="Aptos"/>
              </a:rPr>
              <a:t>11</a:t>
            </a:r>
            <a:endParaRPr sz="825" b="1">
              <a:solidFill>
                <a:srgbClr val="E87938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227720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kicker">
            <a:extLst>
              <a:ext uri="{FF2B5EF4-FFF2-40B4-BE49-F238E27FC236}">
                <a16:creationId xmlns:a16="http://schemas.microsoft.com/office/drawing/2014/main" id="{177E0DD0-AC6C-477B-9416-ED6AD258ABB2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E87938"/>
                </a:solidFill>
                <a:latin typeface="Aptos"/>
                <a:ea typeface="Aptos"/>
                <a:cs typeface="Aptos"/>
              </a:defRPr>
            </a:pPr>
            <a:r>
              <a:rPr lang="fr-FR" sz="1050" b="1">
                <a:solidFill>
                  <a:srgbClr val="E87938"/>
                </a:solidFill>
                <a:latin typeface="Aptos"/>
                <a:ea typeface="Aptos"/>
                <a:cs typeface="Aptos"/>
              </a:rPr>
              <a:t>AXE 3 · SPARK &amp; RÉDUCTION</a:t>
            </a:r>
            <a:endParaRPr sz="1050" b="1">
              <a:solidFill>
                <a:srgbClr val="E8793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87FDA56A-B8D2-4008-8105-6B94D2646E74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C4A52"/>
                </a:solidFill>
                <a:latin typeface="Aptos Display"/>
                <a:ea typeface="Aptos Display"/>
                <a:cs typeface="Aptos Display"/>
              </a:defRPr>
            </a:pPr>
            <a:r>
              <a:rPr lang="fr-FR" sz="2700" b="1">
                <a:solidFill>
                  <a:srgbClr val="0C4A52"/>
                </a:solidFill>
                <a:latin typeface="Aptos Display"/>
                <a:ea typeface="Aptos Display"/>
                <a:cs typeface="Aptos Display"/>
              </a:rPr>
              <a:t>Spark orchestre, pandas UDF vectorise</a:t>
            </a:r>
            <a:r>
              <a:rPr sz="2700" b="1">
                <a:solidFill>
                  <a:srgbClr val="0C4A52"/>
                </a:solidFill>
                <a:latin typeface="Aptos Display"/>
                <a:ea typeface="Aptos Display"/>
                <a:cs typeface="Aptos Display"/>
              </a:rPr>
              <a:t>, </a:t>
            </a:r>
            <a:r>
              <a:rPr lang="fr-FR" sz="2700" b="1">
                <a:solidFill>
                  <a:srgbClr val="0C4A52"/>
                </a:solidFill>
                <a:latin typeface="Aptos Display"/>
                <a:ea typeface="Aptos Display"/>
                <a:cs typeface="Aptos Display"/>
              </a:rPr>
              <a:t>PCA réduit</a:t>
            </a:r>
            <a:endParaRPr sz="2700" b="1">
              <a:solidFill>
                <a:srgbClr val="0C4A52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" name="headline-rule">
            <a:extLst>
              <a:ext uri="{FF2B5EF4-FFF2-40B4-BE49-F238E27FC236}">
                <a16:creationId xmlns:a16="http://schemas.microsoft.com/office/drawing/2014/main" id="{1F964D0E-CB38-4DD4-BA35-CE10B94EF2AF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838200" cy="38100"/>
          </a:xfrm>
          <a:prstGeom prst="rect">
            <a:avLst/>
          </a:prstGeom>
          <a:solidFill>
            <a:srgbClr val="E87938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footer-rule">
            <a:extLst>
              <a:ext uri="{FF2B5EF4-FFF2-40B4-BE49-F238E27FC236}">
                <a16:creationId xmlns:a16="http://schemas.microsoft.com/office/drawing/2014/main" id="{E7C1FB37-F42A-4128-A74A-68E8450C4275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10820400" cy="9525"/>
          </a:xfrm>
          <a:prstGeom prst="rect">
            <a:avLst/>
          </a:prstGeom>
          <a:solidFill>
            <a:srgbClr val="E9DED0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footer-source">
            <a:extLst>
              <a:ext uri="{FF2B5EF4-FFF2-40B4-BE49-F238E27FC236}">
                <a16:creationId xmlns:a16="http://schemas.microsoft.com/office/drawing/2014/main" id="{A2BB86A7-EF01-4E9E-AA17-4318BEFA5914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933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07174"/>
                </a:solidFill>
                <a:latin typeface="Aptos"/>
                <a:ea typeface="Aptos"/>
                <a:cs typeface="Aptos"/>
              </a:defRPr>
            </a:pPr>
            <a:r>
              <a:rPr lang="fr-FR" sz="750" b="0">
                <a:solidFill>
                  <a:srgbClr val="607174"/>
                </a:solidFill>
                <a:latin typeface="Aptos"/>
                <a:ea typeface="Aptos"/>
                <a:cs typeface="Aptos"/>
              </a:rPr>
              <a:t>Sources : documentation Apache Spark </a:t>
            </a:r>
            <a:r>
              <a:rPr sz="750" b="0">
                <a:solidFill>
                  <a:srgbClr val="607174"/>
                </a:solidFill>
                <a:latin typeface="Aptos"/>
                <a:ea typeface="Aptos"/>
                <a:cs typeface="Aptos"/>
              </a:rPr>
              <a:t>· </a:t>
            </a:r>
            <a:r>
              <a:rPr lang="da-DK" sz="750" b="0">
                <a:solidFill>
                  <a:srgbClr val="607174"/>
                </a:solidFill>
                <a:latin typeface="Aptos"/>
                <a:ea typeface="Aptos"/>
                <a:cs typeface="Aptos"/>
              </a:rPr>
              <a:t>pandas UDF, Arrow et PCA</a:t>
            </a:r>
            <a:endParaRPr sz="750" b="0">
              <a:solidFill>
                <a:srgbClr val="60717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page-number">
            <a:extLst>
              <a:ext uri="{FF2B5EF4-FFF2-40B4-BE49-F238E27FC236}">
                <a16:creationId xmlns:a16="http://schemas.microsoft.com/office/drawing/2014/main" id="{9604E5B9-105F-439B-ABDA-D31A8584B2C8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095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E87938"/>
                </a:solidFill>
                <a:latin typeface="Aptos"/>
                <a:ea typeface="Aptos"/>
                <a:cs typeface="Aptos"/>
              </a:defRPr>
            </a:pPr>
            <a:r>
              <a:rPr lang="fr-FR" sz="825" b="1">
                <a:solidFill>
                  <a:srgbClr val="E87938"/>
                </a:solidFill>
                <a:latin typeface="Aptos"/>
                <a:ea typeface="Aptos"/>
                <a:cs typeface="Aptos"/>
              </a:rPr>
              <a:t>12</a:t>
            </a:r>
            <a:endParaRPr sz="825" b="1">
              <a:solidFill>
                <a:srgbClr val="E8793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stage-num-1"/>
          <p:cNvSpPr txBox="1"/>
          <p:nvPr/>
        </p:nvSpPr>
        <p:spPr>
          <a:xfrm>
            <a:off x="685800" y="2011680"/>
            <a:ext cx="658368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E87938"/>
                </a:solidFill>
                <a:latin typeface="Aptos Display"/>
              </a:rPr>
              <a:t>01</a:t>
            </a:r>
          </a:p>
        </p:txBody>
      </p:sp>
      <p:sp>
        <p:nvSpPr>
          <p:cNvPr id="29" name="stage-label-1"/>
          <p:cNvSpPr txBox="1"/>
          <p:nvPr/>
        </p:nvSpPr>
        <p:spPr>
          <a:xfrm>
            <a:off x="1463040" y="2029968"/>
            <a:ext cx="21488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C4A52"/>
                </a:solidFill>
                <a:latin typeface="Aptos"/>
              </a:rPr>
              <a:t>SPARK</a:t>
            </a:r>
          </a:p>
        </p:txBody>
      </p:sp>
      <p:sp>
        <p:nvSpPr>
          <p:cNvPr id="30" name="stage-sub-1"/>
          <p:cNvSpPr txBox="1"/>
          <p:nvPr/>
        </p:nvSpPr>
        <p:spPr>
          <a:xfrm>
            <a:off x="685800" y="2633472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C4A52"/>
                </a:solidFill>
                <a:latin typeface="Aptos Display"/>
              </a:rPr>
              <a:t>Distribuer le calcul</a:t>
            </a:r>
          </a:p>
        </p:txBody>
      </p:sp>
      <p:sp>
        <p:nvSpPr>
          <p:cNvPr id="31" name="stage-rule-1"/>
          <p:cNvSpPr/>
          <p:nvPr/>
        </p:nvSpPr>
        <p:spPr>
          <a:xfrm>
            <a:off x="685800" y="3154680"/>
            <a:ext cx="713232" cy="36576"/>
          </a:xfrm>
          <a:prstGeom prst="rect">
            <a:avLst/>
          </a:prstGeom>
          <a:solidFill>
            <a:srgbClr val="E879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stage-1-bullet-1"/>
          <p:cNvSpPr txBox="1"/>
          <p:nvPr/>
        </p:nvSpPr>
        <p:spPr>
          <a:xfrm>
            <a:off x="685800" y="3438144"/>
            <a:ext cx="29260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7323A"/>
                </a:solidFill>
                <a:latin typeface="Aptos"/>
              </a:rPr>
              <a:t>—  DataFrame d’images partitionné</a:t>
            </a:r>
          </a:p>
        </p:txBody>
      </p:sp>
      <p:sp>
        <p:nvSpPr>
          <p:cNvPr id="33" name="stage-1-bullet-2"/>
          <p:cNvSpPr txBox="1"/>
          <p:nvPr/>
        </p:nvSpPr>
        <p:spPr>
          <a:xfrm>
            <a:off x="685800" y="4014215"/>
            <a:ext cx="29260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dirty="0">
                <a:solidFill>
                  <a:srgbClr val="17323A"/>
                </a:solidFill>
                <a:latin typeface="Aptos"/>
              </a:rPr>
              <a:t>—  </a:t>
            </a:r>
            <a:r>
              <a:rPr sz="1350" b="0" dirty="0" err="1">
                <a:solidFill>
                  <a:srgbClr val="17323A"/>
                </a:solidFill>
                <a:latin typeface="Aptos"/>
              </a:rPr>
              <a:t>Tâches</a:t>
            </a:r>
            <a:r>
              <a:rPr sz="1350" b="0" dirty="0">
                <a:solidFill>
                  <a:srgbClr val="17323A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17323A"/>
                </a:solidFill>
                <a:latin typeface="Aptos"/>
              </a:rPr>
              <a:t>exécutées</a:t>
            </a:r>
            <a:r>
              <a:rPr sz="1350" b="0" dirty="0">
                <a:solidFill>
                  <a:srgbClr val="17323A"/>
                </a:solidFill>
                <a:latin typeface="Aptos"/>
              </a:rPr>
              <a:t> sur les </a:t>
            </a:r>
            <a:r>
              <a:rPr lang="fr-FR" sz="1350" b="0" dirty="0">
                <a:solidFill>
                  <a:srgbClr val="17323A"/>
                </a:solidFill>
                <a:latin typeface="Aptos"/>
              </a:rPr>
              <a:t>nœuds </a:t>
            </a:r>
            <a:r>
              <a:rPr lang="fr-FR" sz="1350" b="0" dirty="0" err="1">
                <a:solidFill>
                  <a:srgbClr val="17323A"/>
                </a:solidFill>
                <a:latin typeface="Aptos"/>
              </a:rPr>
              <a:t>workers</a:t>
            </a:r>
            <a:endParaRPr sz="1350" b="0" dirty="0">
              <a:solidFill>
                <a:srgbClr val="17323A"/>
              </a:solidFill>
              <a:latin typeface="Aptos"/>
            </a:endParaRPr>
          </a:p>
        </p:txBody>
      </p:sp>
      <p:sp>
        <p:nvSpPr>
          <p:cNvPr id="34" name="stage-1-bullet-3"/>
          <p:cNvSpPr txBox="1"/>
          <p:nvPr/>
        </p:nvSpPr>
        <p:spPr>
          <a:xfrm>
            <a:off x="685800" y="4590288"/>
            <a:ext cx="29260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7323A"/>
                </a:solidFill>
                <a:latin typeface="Aptos"/>
              </a:rPr>
              <a:t>—  Une ligne de sortie par image</a:t>
            </a:r>
          </a:p>
        </p:txBody>
      </p:sp>
      <p:sp>
        <p:nvSpPr>
          <p:cNvPr id="35" name="stage-num-2"/>
          <p:cNvSpPr txBox="1"/>
          <p:nvPr/>
        </p:nvSpPr>
        <p:spPr>
          <a:xfrm>
            <a:off x="4160520" y="2011680"/>
            <a:ext cx="658368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E87938"/>
                </a:solidFill>
                <a:latin typeface="Aptos Display"/>
              </a:rPr>
              <a:t>02</a:t>
            </a:r>
          </a:p>
        </p:txBody>
      </p:sp>
      <p:sp>
        <p:nvSpPr>
          <p:cNvPr id="36" name="stage-label-2"/>
          <p:cNvSpPr txBox="1"/>
          <p:nvPr/>
        </p:nvSpPr>
        <p:spPr>
          <a:xfrm>
            <a:off x="4937759" y="2029968"/>
            <a:ext cx="21488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C4A52"/>
                </a:solidFill>
                <a:latin typeface="Aptos"/>
              </a:rPr>
              <a:t>PANDAS UDF</a:t>
            </a:r>
          </a:p>
        </p:txBody>
      </p:sp>
      <p:sp>
        <p:nvSpPr>
          <p:cNvPr id="37" name="stage-sub-2"/>
          <p:cNvSpPr txBox="1"/>
          <p:nvPr/>
        </p:nvSpPr>
        <p:spPr>
          <a:xfrm>
            <a:off x="4160520" y="2633472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C4A52"/>
                </a:solidFill>
                <a:latin typeface="Aptos Display"/>
              </a:rPr>
              <a:t>Vectoriser l’inférence</a:t>
            </a:r>
          </a:p>
        </p:txBody>
      </p:sp>
      <p:sp>
        <p:nvSpPr>
          <p:cNvPr id="38" name="stage-rule-2"/>
          <p:cNvSpPr/>
          <p:nvPr/>
        </p:nvSpPr>
        <p:spPr>
          <a:xfrm>
            <a:off x="4160520" y="3154680"/>
            <a:ext cx="713232" cy="36576"/>
          </a:xfrm>
          <a:prstGeom prst="rect">
            <a:avLst/>
          </a:prstGeom>
          <a:solidFill>
            <a:srgbClr val="E879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stage-2-bullet-1"/>
          <p:cNvSpPr txBox="1"/>
          <p:nvPr/>
        </p:nvSpPr>
        <p:spPr>
          <a:xfrm>
            <a:off x="4160520" y="3438144"/>
            <a:ext cx="29260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7323A"/>
                </a:solidFill>
                <a:latin typeface="Aptos"/>
              </a:rPr>
              <a:t>—  Lots Arrow entre JVM et Python</a:t>
            </a:r>
          </a:p>
        </p:txBody>
      </p:sp>
      <p:sp>
        <p:nvSpPr>
          <p:cNvPr id="40" name="stage-2-bullet-2"/>
          <p:cNvSpPr txBox="1"/>
          <p:nvPr/>
        </p:nvSpPr>
        <p:spPr>
          <a:xfrm>
            <a:off x="4160520" y="4014215"/>
            <a:ext cx="29260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7323A"/>
                </a:solidFill>
                <a:latin typeface="Aptos"/>
              </a:rPr>
              <a:t>—  MobileNetV2 appliqué bloc par bloc</a:t>
            </a:r>
          </a:p>
        </p:txBody>
      </p:sp>
      <p:sp>
        <p:nvSpPr>
          <p:cNvPr id="41" name="stage-2-bullet-3"/>
          <p:cNvSpPr txBox="1"/>
          <p:nvPr/>
        </p:nvSpPr>
        <p:spPr>
          <a:xfrm>
            <a:off x="4160520" y="4590288"/>
            <a:ext cx="29260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7323A"/>
                </a:solidFill>
                <a:latin typeface="Aptos"/>
              </a:rPr>
              <a:t>—  Retour d’un vecteur « features »</a:t>
            </a:r>
          </a:p>
        </p:txBody>
      </p:sp>
      <p:sp>
        <p:nvSpPr>
          <p:cNvPr id="42" name="stage-num-3"/>
          <p:cNvSpPr txBox="1"/>
          <p:nvPr/>
        </p:nvSpPr>
        <p:spPr>
          <a:xfrm>
            <a:off x="7635240" y="2011680"/>
            <a:ext cx="658368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E87938"/>
                </a:solidFill>
                <a:latin typeface="Aptos Display"/>
              </a:rPr>
              <a:t>03</a:t>
            </a:r>
          </a:p>
        </p:txBody>
      </p:sp>
      <p:sp>
        <p:nvSpPr>
          <p:cNvPr id="43" name="stage-label-3"/>
          <p:cNvSpPr txBox="1"/>
          <p:nvPr/>
        </p:nvSpPr>
        <p:spPr>
          <a:xfrm>
            <a:off x="8412480" y="2029968"/>
            <a:ext cx="21488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C4A52"/>
                </a:solidFill>
                <a:latin typeface="Aptos"/>
              </a:rPr>
              <a:t>PCA SPARK ML</a:t>
            </a:r>
          </a:p>
        </p:txBody>
      </p:sp>
      <p:sp>
        <p:nvSpPr>
          <p:cNvPr id="44" name="stage-sub-3"/>
          <p:cNvSpPr txBox="1"/>
          <p:nvPr/>
        </p:nvSpPr>
        <p:spPr>
          <a:xfrm>
            <a:off x="7635240" y="2633472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C4A52"/>
                </a:solidFill>
                <a:latin typeface="Aptos Display"/>
              </a:rPr>
              <a:t>Réduire les vecteurs</a:t>
            </a:r>
          </a:p>
        </p:txBody>
      </p:sp>
      <p:sp>
        <p:nvSpPr>
          <p:cNvPr id="45" name="stage-rule-3"/>
          <p:cNvSpPr/>
          <p:nvPr/>
        </p:nvSpPr>
        <p:spPr>
          <a:xfrm>
            <a:off x="7635240" y="3154680"/>
            <a:ext cx="713232" cy="36576"/>
          </a:xfrm>
          <a:prstGeom prst="rect">
            <a:avLst/>
          </a:prstGeom>
          <a:solidFill>
            <a:srgbClr val="E879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stage-3-bullet-1"/>
          <p:cNvSpPr txBox="1"/>
          <p:nvPr/>
        </p:nvSpPr>
        <p:spPr>
          <a:xfrm>
            <a:off x="7635240" y="3438144"/>
            <a:ext cx="29260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7323A"/>
                </a:solidFill>
                <a:latin typeface="Aptos"/>
              </a:rPr>
              <a:t>—  PCA(k) ajustée sur « features »</a:t>
            </a:r>
          </a:p>
        </p:txBody>
      </p:sp>
      <p:sp>
        <p:nvSpPr>
          <p:cNvPr id="47" name="stage-3-bullet-2"/>
          <p:cNvSpPr txBox="1"/>
          <p:nvPr/>
        </p:nvSpPr>
        <p:spPr>
          <a:xfrm>
            <a:off x="7635240" y="4014215"/>
            <a:ext cx="29260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dirty="0">
                <a:solidFill>
                  <a:srgbClr val="17323A"/>
                </a:solidFill>
                <a:latin typeface="Aptos"/>
              </a:rPr>
              <a:t>—  transform() </a:t>
            </a:r>
            <a:r>
              <a:rPr sz="1350" b="0" dirty="0" err="1">
                <a:solidFill>
                  <a:srgbClr val="17323A"/>
                </a:solidFill>
                <a:latin typeface="Aptos"/>
              </a:rPr>
              <a:t>produit</a:t>
            </a:r>
            <a:r>
              <a:rPr sz="1350" b="0" dirty="0">
                <a:solidFill>
                  <a:srgbClr val="17323A"/>
                </a:solidFill>
                <a:latin typeface="Aptos"/>
              </a:rPr>
              <a:t> « </a:t>
            </a:r>
            <a:r>
              <a:rPr sz="1350" b="0" dirty="0" err="1">
                <a:solidFill>
                  <a:srgbClr val="17323A"/>
                </a:solidFill>
                <a:latin typeface="Aptos"/>
              </a:rPr>
              <a:t>pca_features</a:t>
            </a:r>
            <a:r>
              <a:rPr sz="1350" b="0" dirty="0">
                <a:solidFill>
                  <a:srgbClr val="17323A"/>
                </a:solidFill>
                <a:latin typeface="Aptos"/>
              </a:rPr>
              <a:t> »</a:t>
            </a:r>
          </a:p>
        </p:txBody>
      </p:sp>
      <p:sp>
        <p:nvSpPr>
          <p:cNvPr id="48" name="stage-3-bullet-3"/>
          <p:cNvSpPr txBox="1"/>
          <p:nvPr/>
        </p:nvSpPr>
        <p:spPr>
          <a:xfrm>
            <a:off x="7635240" y="4590288"/>
            <a:ext cx="29260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7323A"/>
                </a:solidFill>
                <a:latin typeface="Aptos"/>
              </a:rPr>
              <a:t>—  Variance expliquée pour choisir k</a:t>
            </a:r>
          </a:p>
        </p:txBody>
      </p:sp>
      <p:sp>
        <p:nvSpPr>
          <p:cNvPr id="49" name="divider-1"/>
          <p:cNvSpPr/>
          <p:nvPr/>
        </p:nvSpPr>
        <p:spPr>
          <a:xfrm>
            <a:off x="3822191" y="2011680"/>
            <a:ext cx="18288" cy="3566160"/>
          </a:xfrm>
          <a:prstGeom prst="rect">
            <a:avLst/>
          </a:prstGeom>
          <a:solidFill>
            <a:srgbClr val="D8E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divider-2"/>
          <p:cNvSpPr/>
          <p:nvPr/>
        </p:nvSpPr>
        <p:spPr>
          <a:xfrm>
            <a:off x="7296912" y="2011680"/>
            <a:ext cx="18288" cy="3566160"/>
          </a:xfrm>
          <a:prstGeom prst="rect">
            <a:avLst/>
          </a:prstGeom>
          <a:solidFill>
            <a:srgbClr val="D8E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spark-flow-band"/>
          <p:cNvSpPr/>
          <p:nvPr/>
        </p:nvSpPr>
        <p:spPr>
          <a:xfrm>
            <a:off x="685800" y="5413248"/>
            <a:ext cx="10817352" cy="566928"/>
          </a:xfrm>
          <a:prstGeom prst="rect">
            <a:avLst/>
          </a:prstGeom>
          <a:solidFill>
            <a:srgbClr val="D8E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spark-flow-text"/>
          <p:cNvSpPr txBox="1"/>
          <p:nvPr/>
        </p:nvSpPr>
        <p:spPr>
          <a:xfrm>
            <a:off x="914400" y="5577840"/>
            <a:ext cx="10360152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0C4A52"/>
                </a:solidFill>
                <a:latin typeface="Aptos"/>
              </a:rPr>
              <a:t>images  →  DataFrame Spark  →  pandas UDF + MobileNetV2  →  features  →  PCA Spark ML  →  pca_features  →  S3</a:t>
            </a:r>
          </a:p>
        </p:txBody>
      </p:sp>
    </p:spTree>
    <p:extLst>
      <p:ext uri="{BB962C8B-B14F-4D97-AF65-F5344CB8AC3E}">
        <p14:creationId xmlns:p14="http://schemas.microsoft.com/office/powerpoint/2010/main" val="18898881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 24">
            <a:extLst>
              <a:ext uri="{FF2B5EF4-FFF2-40B4-BE49-F238E27FC236}">
                <a16:creationId xmlns:a16="http://schemas.microsoft.com/office/drawing/2014/main" id="{BF088DC5-2CA4-B989-948A-8655A25C49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41"/>
          <a:stretch>
            <a:fillRect/>
          </a:stretch>
        </p:blipFill>
        <p:spPr>
          <a:xfrm>
            <a:off x="7253837" y="2913964"/>
            <a:ext cx="4876026" cy="2986287"/>
          </a:xfrm>
          <a:prstGeom prst="rect">
            <a:avLst/>
          </a:prstGeom>
        </p:spPr>
      </p:pic>
      <p:sp>
        <p:nvSpPr>
          <p:cNvPr id="2" name="kicker"/>
          <p:cNvSpPr txBox="1"/>
          <p:nvPr/>
        </p:nvSpPr>
        <p:spPr>
          <a:xfrm>
            <a:off x="384556" y="420624"/>
            <a:ext cx="4764024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E87938"/>
                </a:solidFill>
                <a:latin typeface="Aptos"/>
              </a:rPr>
              <a:t>AXE 3 · EXÉCUTION LOCALE</a:t>
            </a:r>
          </a:p>
        </p:txBody>
      </p:sp>
      <p:sp>
        <p:nvSpPr>
          <p:cNvPr id="3" name="headline"/>
          <p:cNvSpPr txBox="1"/>
          <p:nvPr/>
        </p:nvSpPr>
        <p:spPr>
          <a:xfrm>
            <a:off x="384556" y="777240"/>
            <a:ext cx="10817352" cy="8778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dirty="0">
                <a:solidFill>
                  <a:srgbClr val="0C4A52"/>
                </a:solidFill>
                <a:latin typeface="Aptos Display"/>
              </a:rPr>
              <a:t>La pipeline </a:t>
            </a:r>
            <a:r>
              <a:rPr sz="2700" b="1" dirty="0" err="1">
                <a:solidFill>
                  <a:srgbClr val="0C4A52"/>
                </a:solidFill>
                <a:latin typeface="Aptos Display"/>
              </a:rPr>
              <a:t>en</a:t>
            </a:r>
            <a:r>
              <a:rPr sz="2700" b="1" dirty="0">
                <a:solidFill>
                  <a:srgbClr val="0C4A52"/>
                </a:solidFill>
                <a:latin typeface="Aptos Display"/>
              </a:rPr>
              <a:t> local</a:t>
            </a:r>
          </a:p>
        </p:txBody>
      </p:sp>
      <p:sp>
        <p:nvSpPr>
          <p:cNvPr id="4" name="headline-rule"/>
          <p:cNvSpPr/>
          <p:nvPr/>
        </p:nvSpPr>
        <p:spPr>
          <a:xfrm>
            <a:off x="384556" y="1719072"/>
            <a:ext cx="841248" cy="36576"/>
          </a:xfrm>
          <a:prstGeom prst="rect">
            <a:avLst/>
          </a:prstGeom>
          <a:solidFill>
            <a:srgbClr val="E879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roof-label"/>
          <p:cNvSpPr txBox="1"/>
          <p:nvPr/>
        </p:nvSpPr>
        <p:spPr>
          <a:xfrm>
            <a:off x="384556" y="1993392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E87938"/>
                </a:solidFill>
                <a:latin typeface="Aptos"/>
              </a:rPr>
              <a:t>CE QUI EST VALIDÉ</a:t>
            </a:r>
          </a:p>
        </p:txBody>
      </p:sp>
      <p:sp>
        <p:nvSpPr>
          <p:cNvPr id="6" name="proof-lead"/>
          <p:cNvSpPr txBox="1"/>
          <p:nvPr/>
        </p:nvSpPr>
        <p:spPr>
          <a:xfrm>
            <a:off x="384556" y="2350008"/>
            <a:ext cx="3429000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0C4A52"/>
                </a:solidFill>
                <a:latin typeface="Aptos Display"/>
              </a:rPr>
              <a:t>L’exécution locale confirme que toute la chaîne s’enchaîne sans erreur, du chargement des images à la production des résultats.</a:t>
            </a:r>
          </a:p>
        </p:txBody>
      </p:sp>
      <p:sp>
        <p:nvSpPr>
          <p:cNvPr id="7" name="proof-num-0"/>
          <p:cNvSpPr txBox="1"/>
          <p:nvPr/>
        </p:nvSpPr>
        <p:spPr>
          <a:xfrm>
            <a:off x="384556" y="3575304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87938"/>
                </a:solidFill>
                <a:latin typeface="Aptos"/>
              </a:rPr>
              <a:t>01</a:t>
            </a:r>
          </a:p>
        </p:txBody>
      </p:sp>
      <p:sp>
        <p:nvSpPr>
          <p:cNvPr id="8" name="proof-text-0"/>
          <p:cNvSpPr txBox="1"/>
          <p:nvPr/>
        </p:nvSpPr>
        <p:spPr>
          <a:xfrm>
            <a:off x="905764" y="3557016"/>
            <a:ext cx="2907792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7323A"/>
                </a:solidFill>
                <a:latin typeface="Aptos"/>
              </a:rPr>
              <a:t>Spark local initialise la session et traite l’échantillon.</a:t>
            </a:r>
          </a:p>
        </p:txBody>
      </p:sp>
      <p:sp>
        <p:nvSpPr>
          <p:cNvPr id="9" name="proof-num-1"/>
          <p:cNvSpPr txBox="1"/>
          <p:nvPr/>
        </p:nvSpPr>
        <p:spPr>
          <a:xfrm>
            <a:off x="384556" y="4233672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87938"/>
                </a:solidFill>
                <a:latin typeface="Aptos"/>
              </a:rPr>
              <a:t>02</a:t>
            </a:r>
          </a:p>
        </p:txBody>
      </p:sp>
      <p:sp>
        <p:nvSpPr>
          <p:cNvPr id="10" name="proof-text-1"/>
          <p:cNvSpPr txBox="1"/>
          <p:nvPr/>
        </p:nvSpPr>
        <p:spPr>
          <a:xfrm>
            <a:off x="905764" y="4215384"/>
            <a:ext cx="2907792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dirty="0">
                <a:solidFill>
                  <a:srgbClr val="17323A"/>
                </a:solidFill>
                <a:latin typeface="Aptos"/>
              </a:rPr>
              <a:t>MobileNetV2 et la pandas UDF </a:t>
            </a:r>
            <a:r>
              <a:rPr sz="1350" b="0" dirty="0" err="1">
                <a:solidFill>
                  <a:srgbClr val="17323A"/>
                </a:solidFill>
                <a:latin typeface="Aptos"/>
              </a:rPr>
              <a:t>produisent</a:t>
            </a:r>
            <a:r>
              <a:rPr sz="1350" b="0" dirty="0">
                <a:solidFill>
                  <a:srgbClr val="17323A"/>
                </a:solidFill>
                <a:latin typeface="Aptos"/>
              </a:rPr>
              <a:t> un </a:t>
            </a:r>
            <a:r>
              <a:rPr sz="1350" b="0" dirty="0" err="1">
                <a:solidFill>
                  <a:srgbClr val="17323A"/>
                </a:solidFill>
                <a:latin typeface="Aptos"/>
              </a:rPr>
              <a:t>vecteur</a:t>
            </a:r>
            <a:r>
              <a:rPr sz="1350" b="0" dirty="0">
                <a:solidFill>
                  <a:srgbClr val="17323A"/>
                </a:solidFill>
                <a:latin typeface="Aptos"/>
              </a:rPr>
              <a:t> de features par image.</a:t>
            </a:r>
          </a:p>
        </p:txBody>
      </p:sp>
      <p:sp>
        <p:nvSpPr>
          <p:cNvPr id="11" name="proof-num-2"/>
          <p:cNvSpPr txBox="1"/>
          <p:nvPr/>
        </p:nvSpPr>
        <p:spPr>
          <a:xfrm>
            <a:off x="384556" y="4892040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87938"/>
                </a:solidFill>
                <a:latin typeface="Aptos"/>
              </a:rPr>
              <a:t>03</a:t>
            </a:r>
          </a:p>
        </p:txBody>
      </p:sp>
      <p:sp>
        <p:nvSpPr>
          <p:cNvPr id="12" name="proof-text-2"/>
          <p:cNvSpPr txBox="1"/>
          <p:nvPr/>
        </p:nvSpPr>
        <p:spPr>
          <a:xfrm>
            <a:off x="905764" y="4873752"/>
            <a:ext cx="2907792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dirty="0">
                <a:solidFill>
                  <a:srgbClr val="17323A"/>
                </a:solidFill>
                <a:latin typeface="Aptos"/>
              </a:rPr>
              <a:t>La PCA </a:t>
            </a:r>
            <a:r>
              <a:rPr sz="1350" b="0" dirty="0" err="1">
                <a:solidFill>
                  <a:srgbClr val="17323A"/>
                </a:solidFill>
                <a:latin typeface="Aptos"/>
              </a:rPr>
              <a:t>génère</a:t>
            </a:r>
            <a:r>
              <a:rPr sz="1350" b="0" dirty="0">
                <a:solidFill>
                  <a:srgbClr val="17323A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17323A"/>
                </a:solidFill>
                <a:latin typeface="Aptos"/>
              </a:rPr>
              <a:t>pca_features</a:t>
            </a:r>
            <a:r>
              <a:rPr sz="1350" b="0" dirty="0">
                <a:solidFill>
                  <a:srgbClr val="17323A"/>
                </a:solidFill>
                <a:latin typeface="Aptos"/>
              </a:rPr>
              <a:t> et la sortie est </a:t>
            </a:r>
            <a:r>
              <a:rPr sz="1350" b="0" dirty="0" err="1">
                <a:solidFill>
                  <a:srgbClr val="17323A"/>
                </a:solidFill>
                <a:latin typeface="Aptos"/>
              </a:rPr>
              <a:t>sauvegardée</a:t>
            </a:r>
            <a:r>
              <a:rPr sz="1350" b="0" dirty="0">
                <a:solidFill>
                  <a:srgbClr val="17323A"/>
                </a:solidFill>
                <a:latin typeface="Aptos"/>
              </a:rPr>
              <a:t>.</a:t>
            </a:r>
          </a:p>
        </p:txBody>
      </p:sp>
      <p:grpSp>
        <p:nvGrpSpPr>
          <p:cNvPr id="28" name="Groupe 27">
            <a:extLst>
              <a:ext uri="{FF2B5EF4-FFF2-40B4-BE49-F238E27FC236}">
                <a16:creationId xmlns:a16="http://schemas.microsoft.com/office/drawing/2014/main" id="{5223E84F-9AD1-1FD9-1DAA-0595ED65E1A2}"/>
              </a:ext>
            </a:extLst>
          </p:cNvPr>
          <p:cNvGrpSpPr/>
          <p:nvPr/>
        </p:nvGrpSpPr>
        <p:grpSpPr>
          <a:xfrm>
            <a:off x="685800" y="5861304"/>
            <a:ext cx="10817352" cy="493776"/>
            <a:chOff x="685800" y="5596128"/>
            <a:chExt cx="10817352" cy="493776"/>
          </a:xfrm>
        </p:grpSpPr>
        <p:sp>
          <p:nvSpPr>
            <p:cNvPr id="17" name="success-band"/>
            <p:cNvSpPr/>
            <p:nvPr/>
          </p:nvSpPr>
          <p:spPr>
            <a:xfrm>
              <a:off x="685800" y="5596128"/>
              <a:ext cx="10817352" cy="493776"/>
            </a:xfrm>
            <a:prstGeom prst="rect">
              <a:avLst/>
            </a:prstGeom>
            <a:solidFill>
              <a:srgbClr val="D8E7E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success-text"/>
            <p:cNvSpPr txBox="1"/>
            <p:nvPr/>
          </p:nvSpPr>
          <p:spPr>
            <a:xfrm>
              <a:off x="914400" y="5742432"/>
              <a:ext cx="10360152" cy="21945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50" b="1">
                  <a:solidFill>
                    <a:srgbClr val="0C4A52"/>
                  </a:solidFill>
                  <a:latin typeface="Aptos"/>
                </a:rPr>
                <a:t>RÉSULTAT OBTENU — le schéma est conforme et les données produites sont exploitables.</a:t>
              </a:r>
            </a:p>
          </p:txBody>
        </p:sp>
      </p:grpSp>
      <p:sp>
        <p:nvSpPr>
          <p:cNvPr id="19" name="footer-rule"/>
          <p:cNvSpPr/>
          <p:nvPr/>
        </p:nvSpPr>
        <p:spPr>
          <a:xfrm>
            <a:off x="685800" y="6428232"/>
            <a:ext cx="10817352" cy="9144"/>
          </a:xfrm>
          <a:prstGeom prst="rect">
            <a:avLst/>
          </a:prstGeom>
          <a:solidFill>
            <a:srgbClr val="D8E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footer-source"/>
          <p:cNvSpPr txBox="1"/>
          <p:nvPr/>
        </p:nvSpPr>
        <p:spPr>
          <a:xfrm>
            <a:off x="685800" y="6510528"/>
            <a:ext cx="9336024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607174"/>
                </a:solidFill>
                <a:latin typeface="Aptos"/>
              </a:rPr>
              <a:t>Pipeline du projet · exécution locale et résultats</a:t>
            </a:r>
          </a:p>
        </p:txBody>
      </p:sp>
      <p:sp>
        <p:nvSpPr>
          <p:cNvPr id="21" name="page-number"/>
          <p:cNvSpPr txBox="1"/>
          <p:nvPr/>
        </p:nvSpPr>
        <p:spPr>
          <a:xfrm>
            <a:off x="11100816" y="6492240"/>
            <a:ext cx="411480" cy="1920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25" b="1">
                <a:solidFill>
                  <a:srgbClr val="E87938"/>
                </a:solidFill>
                <a:latin typeface="Aptos"/>
              </a:rPr>
              <a:t>13</a:t>
            </a:r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D40A2FF8-7145-02F5-C32E-58641248C7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0497" y="91230"/>
            <a:ext cx="8222425" cy="2835472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CF25D9A5-D085-70DC-934B-C62D683EF1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4303" y="2926137"/>
            <a:ext cx="3405728" cy="2305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6045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B8B09D-096D-A088-AF3A-BD2FF21B7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>
            <a:extLst>
              <a:ext uri="{FF2B5EF4-FFF2-40B4-BE49-F238E27FC236}">
                <a16:creationId xmlns:a16="http://schemas.microsoft.com/office/drawing/2014/main" id="{477D7E7C-AED6-528D-598E-E664EC68BE2F}"/>
              </a:ext>
            </a:extLst>
          </p:cNvPr>
          <p:cNvSpPr txBox="1"/>
          <p:nvPr/>
        </p:nvSpPr>
        <p:spPr>
          <a:xfrm>
            <a:off x="685800" y="420624"/>
            <a:ext cx="4764024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E87938"/>
                </a:solidFill>
                <a:latin typeface="Aptos"/>
              </a:rPr>
              <a:t>AXE 3 · EXÉCUTION CLOUD</a:t>
            </a:r>
          </a:p>
        </p:txBody>
      </p:sp>
      <p:sp>
        <p:nvSpPr>
          <p:cNvPr id="3" name="headline">
            <a:extLst>
              <a:ext uri="{FF2B5EF4-FFF2-40B4-BE49-F238E27FC236}">
                <a16:creationId xmlns:a16="http://schemas.microsoft.com/office/drawing/2014/main" id="{B234F694-B8C2-31E2-C23E-B6C517ED52DC}"/>
              </a:ext>
            </a:extLst>
          </p:cNvPr>
          <p:cNvSpPr txBox="1"/>
          <p:nvPr/>
        </p:nvSpPr>
        <p:spPr>
          <a:xfrm>
            <a:off x="685800" y="777240"/>
            <a:ext cx="10817352" cy="8778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dirty="0">
                <a:solidFill>
                  <a:srgbClr val="0C4A52"/>
                </a:solidFill>
                <a:latin typeface="Aptos Display"/>
              </a:rPr>
              <a:t>La pipeline sur le cloud</a:t>
            </a:r>
          </a:p>
        </p:txBody>
      </p:sp>
      <p:sp>
        <p:nvSpPr>
          <p:cNvPr id="4" name="headline-rule">
            <a:extLst>
              <a:ext uri="{FF2B5EF4-FFF2-40B4-BE49-F238E27FC236}">
                <a16:creationId xmlns:a16="http://schemas.microsoft.com/office/drawing/2014/main" id="{181BFBBA-1A1D-43C6-3B5F-2007339B2AC8}"/>
              </a:ext>
            </a:extLst>
          </p:cNvPr>
          <p:cNvSpPr/>
          <p:nvPr/>
        </p:nvSpPr>
        <p:spPr>
          <a:xfrm>
            <a:off x="685800" y="1719072"/>
            <a:ext cx="841248" cy="36576"/>
          </a:xfrm>
          <a:prstGeom prst="rect">
            <a:avLst/>
          </a:prstGeom>
          <a:solidFill>
            <a:srgbClr val="E879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roof-lead">
            <a:extLst>
              <a:ext uri="{FF2B5EF4-FFF2-40B4-BE49-F238E27FC236}">
                <a16:creationId xmlns:a16="http://schemas.microsoft.com/office/drawing/2014/main" id="{9EA8A816-EC9B-758D-51BB-8AF5B8D3A770}"/>
              </a:ext>
            </a:extLst>
          </p:cNvPr>
          <p:cNvSpPr txBox="1"/>
          <p:nvPr/>
        </p:nvSpPr>
        <p:spPr>
          <a:xfrm>
            <a:off x="685800" y="2350008"/>
            <a:ext cx="3429000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dirty="0" err="1">
                <a:solidFill>
                  <a:srgbClr val="0C4A52"/>
                </a:solidFill>
                <a:latin typeface="Aptos Display"/>
              </a:rPr>
              <a:t>Déployée</a:t>
            </a:r>
            <a:r>
              <a:rPr sz="1600" b="1" dirty="0">
                <a:solidFill>
                  <a:srgbClr val="0C4A52"/>
                </a:solidFill>
                <a:latin typeface="Aptos Display"/>
              </a:rPr>
              <a:t> sur AWS EMR, la </a:t>
            </a:r>
            <a:r>
              <a:rPr sz="1600" b="1" dirty="0" err="1">
                <a:solidFill>
                  <a:srgbClr val="0C4A52"/>
                </a:solidFill>
                <a:latin typeface="Aptos Display"/>
              </a:rPr>
              <a:t>même</a:t>
            </a:r>
            <a:r>
              <a:rPr sz="1600" b="1" dirty="0">
                <a:solidFill>
                  <a:srgbClr val="0C4A52"/>
                </a:solidFill>
                <a:latin typeface="Aptos Display"/>
              </a:rPr>
              <a:t> </a:t>
            </a:r>
            <a:r>
              <a:rPr lang="fr-FR" sz="1600" b="1" dirty="0">
                <a:solidFill>
                  <a:srgbClr val="0C4A52"/>
                </a:solidFill>
                <a:latin typeface="Aptos Display"/>
              </a:rPr>
              <a:t>pipeline</a:t>
            </a:r>
            <a:r>
              <a:rPr sz="1600" b="1" dirty="0">
                <a:solidFill>
                  <a:srgbClr val="0C4A52"/>
                </a:solidFill>
                <a:latin typeface="Aptos Display"/>
              </a:rPr>
              <a:t> </a:t>
            </a:r>
            <a:r>
              <a:rPr sz="1600" b="1" dirty="0" err="1">
                <a:solidFill>
                  <a:srgbClr val="0C4A52"/>
                </a:solidFill>
                <a:latin typeface="Aptos Display"/>
              </a:rPr>
              <a:t>s’exécute</a:t>
            </a:r>
            <a:r>
              <a:rPr sz="1600" b="1" dirty="0">
                <a:solidFill>
                  <a:srgbClr val="0C4A52"/>
                </a:solidFill>
                <a:latin typeface="Aptos Display"/>
              </a:rPr>
              <a:t> de manière </a:t>
            </a:r>
            <a:r>
              <a:rPr sz="1600" b="1" dirty="0" err="1">
                <a:solidFill>
                  <a:srgbClr val="0C4A52"/>
                </a:solidFill>
                <a:latin typeface="Aptos Display"/>
              </a:rPr>
              <a:t>distribuée</a:t>
            </a:r>
            <a:r>
              <a:rPr sz="1600" b="1" dirty="0">
                <a:solidFill>
                  <a:srgbClr val="0C4A52"/>
                </a:solidFill>
                <a:latin typeface="Aptos Display"/>
              </a:rPr>
              <a:t> avec lecture et </a:t>
            </a:r>
            <a:r>
              <a:rPr sz="1600" b="1" dirty="0" err="1">
                <a:solidFill>
                  <a:srgbClr val="0C4A52"/>
                </a:solidFill>
                <a:latin typeface="Aptos Display"/>
              </a:rPr>
              <a:t>écriture</a:t>
            </a:r>
            <a:r>
              <a:rPr sz="1600" b="1" dirty="0">
                <a:solidFill>
                  <a:srgbClr val="0C4A52"/>
                </a:solidFill>
                <a:latin typeface="Aptos Display"/>
              </a:rPr>
              <a:t> </a:t>
            </a:r>
            <a:r>
              <a:rPr lang="fr-FR" sz="1600" b="1" dirty="0">
                <a:solidFill>
                  <a:srgbClr val="0C4A52"/>
                </a:solidFill>
                <a:latin typeface="Aptos Display"/>
              </a:rPr>
              <a:t>des données </a:t>
            </a:r>
            <a:r>
              <a:rPr sz="1600" b="1" dirty="0">
                <a:solidFill>
                  <a:srgbClr val="0C4A52"/>
                </a:solidFill>
                <a:latin typeface="Aptos Display"/>
              </a:rPr>
              <a:t>dans S3.</a:t>
            </a:r>
          </a:p>
        </p:txBody>
      </p:sp>
      <p:sp>
        <p:nvSpPr>
          <p:cNvPr id="7" name="proof-num-0">
            <a:extLst>
              <a:ext uri="{FF2B5EF4-FFF2-40B4-BE49-F238E27FC236}">
                <a16:creationId xmlns:a16="http://schemas.microsoft.com/office/drawing/2014/main" id="{525AF294-2AB3-7E68-0694-A6C80D4C0A79}"/>
              </a:ext>
            </a:extLst>
          </p:cNvPr>
          <p:cNvSpPr txBox="1"/>
          <p:nvPr/>
        </p:nvSpPr>
        <p:spPr>
          <a:xfrm>
            <a:off x="685800" y="3575304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87938"/>
                </a:solidFill>
                <a:latin typeface="Aptos"/>
              </a:rPr>
              <a:t>01</a:t>
            </a:r>
          </a:p>
        </p:txBody>
      </p:sp>
      <p:sp>
        <p:nvSpPr>
          <p:cNvPr id="8" name="proof-text-0">
            <a:extLst>
              <a:ext uri="{FF2B5EF4-FFF2-40B4-BE49-F238E27FC236}">
                <a16:creationId xmlns:a16="http://schemas.microsoft.com/office/drawing/2014/main" id="{78470CA8-17D5-C288-ED85-E7F131BF10F9}"/>
              </a:ext>
            </a:extLst>
          </p:cNvPr>
          <p:cNvSpPr txBox="1"/>
          <p:nvPr/>
        </p:nvSpPr>
        <p:spPr>
          <a:xfrm>
            <a:off x="1207008" y="3557016"/>
            <a:ext cx="2907792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7323A"/>
                </a:solidFill>
                <a:latin typeface="Aptos"/>
              </a:rPr>
              <a:t>S3 alimente le DataFrame Spark réparti entre les executors.</a:t>
            </a:r>
          </a:p>
        </p:txBody>
      </p:sp>
      <p:sp>
        <p:nvSpPr>
          <p:cNvPr id="9" name="proof-num-1">
            <a:extLst>
              <a:ext uri="{FF2B5EF4-FFF2-40B4-BE49-F238E27FC236}">
                <a16:creationId xmlns:a16="http://schemas.microsoft.com/office/drawing/2014/main" id="{C0A81347-6E85-3CD9-3838-225B92B9DD94}"/>
              </a:ext>
            </a:extLst>
          </p:cNvPr>
          <p:cNvSpPr txBox="1"/>
          <p:nvPr/>
        </p:nvSpPr>
        <p:spPr>
          <a:xfrm>
            <a:off x="685800" y="4233672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87938"/>
                </a:solidFill>
                <a:latin typeface="Aptos"/>
              </a:rPr>
              <a:t>02</a:t>
            </a:r>
          </a:p>
        </p:txBody>
      </p:sp>
      <p:sp>
        <p:nvSpPr>
          <p:cNvPr id="10" name="proof-text-1">
            <a:extLst>
              <a:ext uri="{FF2B5EF4-FFF2-40B4-BE49-F238E27FC236}">
                <a16:creationId xmlns:a16="http://schemas.microsoft.com/office/drawing/2014/main" id="{4553EF78-C6C4-3735-5F63-D3E0B529F93F}"/>
              </a:ext>
            </a:extLst>
          </p:cNvPr>
          <p:cNvSpPr txBox="1"/>
          <p:nvPr/>
        </p:nvSpPr>
        <p:spPr>
          <a:xfrm>
            <a:off x="1207008" y="4215384"/>
            <a:ext cx="2907792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fr-FR" sz="1350" b="0" dirty="0">
                <a:solidFill>
                  <a:srgbClr val="17323A"/>
                </a:solidFill>
                <a:latin typeface="Aptos"/>
              </a:rPr>
              <a:t>Spark découpe et distribue les données aux nœuds de calcul</a:t>
            </a:r>
            <a:r>
              <a:rPr sz="1350" b="0" dirty="0">
                <a:solidFill>
                  <a:srgbClr val="17323A"/>
                </a:solidFill>
                <a:latin typeface="Aptos"/>
              </a:rPr>
              <a:t>.</a:t>
            </a:r>
          </a:p>
        </p:txBody>
      </p:sp>
      <p:sp>
        <p:nvSpPr>
          <p:cNvPr id="11" name="proof-num-2">
            <a:extLst>
              <a:ext uri="{FF2B5EF4-FFF2-40B4-BE49-F238E27FC236}">
                <a16:creationId xmlns:a16="http://schemas.microsoft.com/office/drawing/2014/main" id="{74EDCD2A-F196-2381-88DE-0A3C00E11F38}"/>
              </a:ext>
            </a:extLst>
          </p:cNvPr>
          <p:cNvSpPr txBox="1"/>
          <p:nvPr/>
        </p:nvSpPr>
        <p:spPr>
          <a:xfrm>
            <a:off x="685800" y="4892040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87938"/>
                </a:solidFill>
                <a:latin typeface="Aptos"/>
              </a:rPr>
              <a:t>03</a:t>
            </a:r>
          </a:p>
        </p:txBody>
      </p:sp>
      <p:sp>
        <p:nvSpPr>
          <p:cNvPr id="12" name="proof-text-2">
            <a:extLst>
              <a:ext uri="{FF2B5EF4-FFF2-40B4-BE49-F238E27FC236}">
                <a16:creationId xmlns:a16="http://schemas.microsoft.com/office/drawing/2014/main" id="{800D23EA-93C7-8B99-388E-E4D5B6B0907C}"/>
              </a:ext>
            </a:extLst>
          </p:cNvPr>
          <p:cNvSpPr txBox="1"/>
          <p:nvPr/>
        </p:nvSpPr>
        <p:spPr>
          <a:xfrm>
            <a:off x="1207008" y="4873752"/>
            <a:ext cx="2907792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dirty="0">
                <a:solidFill>
                  <a:srgbClr val="17323A"/>
                </a:solidFill>
                <a:latin typeface="Aptos"/>
              </a:rPr>
              <a:t>PCA Spark ML </a:t>
            </a:r>
            <a:r>
              <a:rPr lang="fr-FR" sz="1350" b="0" dirty="0">
                <a:solidFill>
                  <a:srgbClr val="17323A"/>
                </a:solidFill>
                <a:latin typeface="Aptos"/>
              </a:rPr>
              <a:t>pour réduire</a:t>
            </a:r>
            <a:r>
              <a:rPr sz="1350" b="0" dirty="0">
                <a:solidFill>
                  <a:srgbClr val="17323A"/>
                </a:solidFill>
                <a:latin typeface="Aptos"/>
              </a:rPr>
              <a:t> le</a:t>
            </a:r>
            <a:r>
              <a:rPr lang="fr-FR" sz="1350" b="0" dirty="0">
                <a:solidFill>
                  <a:srgbClr val="17323A"/>
                </a:solidFill>
                <a:latin typeface="Aptos"/>
              </a:rPr>
              <a:t> nombre de</a:t>
            </a:r>
            <a:r>
              <a:rPr sz="1350" b="0" dirty="0">
                <a:solidFill>
                  <a:srgbClr val="17323A"/>
                </a:solidFill>
                <a:latin typeface="Aptos"/>
              </a:rPr>
              <a:t> features</a:t>
            </a:r>
            <a:r>
              <a:rPr lang="fr-FR" sz="1350" b="0" dirty="0">
                <a:solidFill>
                  <a:srgbClr val="17323A"/>
                </a:solidFill>
                <a:latin typeface="Aptos"/>
              </a:rPr>
              <a:t>. </a:t>
            </a:r>
            <a:endParaRPr sz="1350" b="0" dirty="0">
              <a:solidFill>
                <a:srgbClr val="17323A"/>
              </a:solidFill>
              <a:latin typeface="Aptos"/>
            </a:endParaRPr>
          </a:p>
        </p:txBody>
      </p:sp>
      <p:sp>
        <p:nvSpPr>
          <p:cNvPr id="19" name="footer-rule">
            <a:extLst>
              <a:ext uri="{FF2B5EF4-FFF2-40B4-BE49-F238E27FC236}">
                <a16:creationId xmlns:a16="http://schemas.microsoft.com/office/drawing/2014/main" id="{F7B8718B-5C80-5597-8689-54D29FDF5F0B}"/>
              </a:ext>
            </a:extLst>
          </p:cNvPr>
          <p:cNvSpPr/>
          <p:nvPr/>
        </p:nvSpPr>
        <p:spPr>
          <a:xfrm>
            <a:off x="685800" y="6428232"/>
            <a:ext cx="10817352" cy="9144"/>
          </a:xfrm>
          <a:prstGeom prst="rect">
            <a:avLst/>
          </a:prstGeom>
          <a:solidFill>
            <a:srgbClr val="D8E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footer-source">
            <a:extLst>
              <a:ext uri="{FF2B5EF4-FFF2-40B4-BE49-F238E27FC236}">
                <a16:creationId xmlns:a16="http://schemas.microsoft.com/office/drawing/2014/main" id="{62E3345E-3692-B732-522B-98890E88C59E}"/>
              </a:ext>
            </a:extLst>
          </p:cNvPr>
          <p:cNvSpPr txBox="1"/>
          <p:nvPr/>
        </p:nvSpPr>
        <p:spPr>
          <a:xfrm>
            <a:off x="685800" y="6510528"/>
            <a:ext cx="9336024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607174"/>
                </a:solidFill>
                <a:latin typeface="Aptos"/>
              </a:rPr>
              <a:t>Pipeline du projet · exécution AWS EMR et résultats S3</a:t>
            </a:r>
          </a:p>
        </p:txBody>
      </p:sp>
      <p:sp>
        <p:nvSpPr>
          <p:cNvPr id="21" name="page-number">
            <a:extLst>
              <a:ext uri="{FF2B5EF4-FFF2-40B4-BE49-F238E27FC236}">
                <a16:creationId xmlns:a16="http://schemas.microsoft.com/office/drawing/2014/main" id="{877F75C1-4498-0423-9E50-3CCEDBB84749}"/>
              </a:ext>
            </a:extLst>
          </p:cNvPr>
          <p:cNvSpPr txBox="1"/>
          <p:nvPr/>
        </p:nvSpPr>
        <p:spPr>
          <a:xfrm>
            <a:off x="11100816" y="6492240"/>
            <a:ext cx="411480" cy="1920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25" b="1">
                <a:solidFill>
                  <a:srgbClr val="E87938"/>
                </a:solidFill>
                <a:latin typeface="Aptos"/>
              </a:rPr>
              <a:t>14</a:t>
            </a: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9505DEB5-B9A8-FF1C-1CB3-9AE8068BE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8304" y="3920772"/>
            <a:ext cx="4327428" cy="2368296"/>
          </a:xfrm>
          <a:prstGeom prst="rect">
            <a:avLst/>
          </a:prstGeom>
        </p:spPr>
      </p:pic>
      <p:pic>
        <p:nvPicPr>
          <p:cNvPr id="28" name="Image 27">
            <a:extLst>
              <a:ext uri="{FF2B5EF4-FFF2-40B4-BE49-F238E27FC236}">
                <a16:creationId xmlns:a16="http://schemas.microsoft.com/office/drawing/2014/main" id="{CB56B5EA-B126-8D0F-DC33-757C74E5A3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8647" y="4087368"/>
            <a:ext cx="3419657" cy="1758766"/>
          </a:xfrm>
          <a:prstGeom prst="rect">
            <a:avLst/>
          </a:prstGeom>
        </p:spPr>
      </p:pic>
      <p:pic>
        <p:nvPicPr>
          <p:cNvPr id="30" name="Image 29">
            <a:extLst>
              <a:ext uri="{FF2B5EF4-FFF2-40B4-BE49-F238E27FC236}">
                <a16:creationId xmlns:a16="http://schemas.microsoft.com/office/drawing/2014/main" id="{8FADF8FF-0C9B-D526-632E-68C8513D5B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2665" y="69126"/>
            <a:ext cx="7603067" cy="3778494"/>
          </a:xfrm>
          <a:prstGeom prst="rect">
            <a:avLst/>
          </a:prstGeom>
        </p:spPr>
      </p:pic>
      <p:sp>
        <p:nvSpPr>
          <p:cNvPr id="13" name="proof-num-2">
            <a:extLst>
              <a:ext uri="{FF2B5EF4-FFF2-40B4-BE49-F238E27FC236}">
                <a16:creationId xmlns:a16="http://schemas.microsoft.com/office/drawing/2014/main" id="{864E2F81-DC9A-D27A-C89B-1B43F32F1391}"/>
              </a:ext>
            </a:extLst>
          </p:cNvPr>
          <p:cNvSpPr txBox="1"/>
          <p:nvPr/>
        </p:nvSpPr>
        <p:spPr>
          <a:xfrm>
            <a:off x="685800" y="5568696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dirty="0">
                <a:solidFill>
                  <a:srgbClr val="E87938"/>
                </a:solidFill>
                <a:latin typeface="Aptos"/>
              </a:rPr>
              <a:t>0</a:t>
            </a:r>
            <a:r>
              <a:rPr lang="fr-FR" sz="1200" b="1" dirty="0">
                <a:solidFill>
                  <a:srgbClr val="E87938"/>
                </a:solidFill>
                <a:latin typeface="Aptos"/>
              </a:rPr>
              <a:t>4</a:t>
            </a:r>
            <a:endParaRPr sz="1200" b="1" dirty="0">
              <a:solidFill>
                <a:srgbClr val="E87938"/>
              </a:solidFill>
              <a:latin typeface="Aptos"/>
            </a:endParaRPr>
          </a:p>
        </p:txBody>
      </p:sp>
      <p:sp>
        <p:nvSpPr>
          <p:cNvPr id="15" name="proof-text-2">
            <a:extLst>
              <a:ext uri="{FF2B5EF4-FFF2-40B4-BE49-F238E27FC236}">
                <a16:creationId xmlns:a16="http://schemas.microsoft.com/office/drawing/2014/main" id="{FF1B8151-D7C9-3B1A-5634-084DDC54D7EC}"/>
              </a:ext>
            </a:extLst>
          </p:cNvPr>
          <p:cNvSpPr txBox="1"/>
          <p:nvPr/>
        </p:nvSpPr>
        <p:spPr>
          <a:xfrm>
            <a:off x="1207008" y="5550408"/>
            <a:ext cx="2907792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fr-FR" sz="1350" dirty="0">
                <a:solidFill>
                  <a:srgbClr val="17323A"/>
                </a:solidFill>
                <a:latin typeface="Aptos"/>
              </a:rPr>
              <a:t>Les données sont sauvegardées sur S3.</a:t>
            </a:r>
            <a:endParaRPr sz="1350" b="0" dirty="0">
              <a:solidFill>
                <a:srgbClr val="17323A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724263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85800" y="420624"/>
            <a:ext cx="4764024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E87938"/>
                </a:solidFill>
                <a:latin typeface="Aptos"/>
              </a:rPr>
              <a:t>AXE 3 · EXÉCUTION CLOUD</a:t>
            </a:r>
          </a:p>
        </p:txBody>
      </p:sp>
      <p:sp>
        <p:nvSpPr>
          <p:cNvPr id="3" name="headline"/>
          <p:cNvSpPr txBox="1"/>
          <p:nvPr/>
        </p:nvSpPr>
        <p:spPr>
          <a:xfrm>
            <a:off x="685800" y="777240"/>
            <a:ext cx="10817352" cy="8778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dirty="0">
                <a:solidFill>
                  <a:srgbClr val="0C4A52"/>
                </a:solidFill>
                <a:latin typeface="Aptos Display"/>
              </a:rPr>
              <a:t>La pipeline sur le cloud</a:t>
            </a:r>
          </a:p>
        </p:txBody>
      </p:sp>
      <p:sp>
        <p:nvSpPr>
          <p:cNvPr id="4" name="headline-rule"/>
          <p:cNvSpPr/>
          <p:nvPr/>
        </p:nvSpPr>
        <p:spPr>
          <a:xfrm>
            <a:off x="685800" y="1719072"/>
            <a:ext cx="841248" cy="36576"/>
          </a:xfrm>
          <a:prstGeom prst="rect">
            <a:avLst/>
          </a:prstGeom>
          <a:solidFill>
            <a:srgbClr val="E879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roof-lead"/>
          <p:cNvSpPr txBox="1"/>
          <p:nvPr/>
        </p:nvSpPr>
        <p:spPr>
          <a:xfrm>
            <a:off x="685800" y="2350008"/>
            <a:ext cx="3429000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0C4A52"/>
                </a:solidFill>
                <a:latin typeface="Aptos Display"/>
              </a:rPr>
              <a:t>Déployée sur AWS EMR, la même logique métier s’exécute de manière distribuée avec lecture et écriture dans S3.</a:t>
            </a:r>
          </a:p>
        </p:txBody>
      </p:sp>
      <p:sp>
        <p:nvSpPr>
          <p:cNvPr id="7" name="proof-num-0"/>
          <p:cNvSpPr txBox="1"/>
          <p:nvPr/>
        </p:nvSpPr>
        <p:spPr>
          <a:xfrm>
            <a:off x="685800" y="3575304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87938"/>
                </a:solidFill>
                <a:latin typeface="Aptos"/>
              </a:rPr>
              <a:t>01</a:t>
            </a:r>
          </a:p>
        </p:txBody>
      </p:sp>
      <p:sp>
        <p:nvSpPr>
          <p:cNvPr id="8" name="proof-text-0"/>
          <p:cNvSpPr txBox="1"/>
          <p:nvPr/>
        </p:nvSpPr>
        <p:spPr>
          <a:xfrm>
            <a:off x="1207008" y="3557016"/>
            <a:ext cx="2907792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7323A"/>
                </a:solidFill>
                <a:latin typeface="Aptos"/>
              </a:rPr>
              <a:t>S3 alimente le DataFrame Spark réparti entre les executors.</a:t>
            </a:r>
          </a:p>
        </p:txBody>
      </p:sp>
      <p:sp>
        <p:nvSpPr>
          <p:cNvPr id="9" name="proof-num-1"/>
          <p:cNvSpPr txBox="1"/>
          <p:nvPr/>
        </p:nvSpPr>
        <p:spPr>
          <a:xfrm>
            <a:off x="685800" y="4233672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87938"/>
                </a:solidFill>
                <a:latin typeface="Aptos"/>
              </a:rPr>
              <a:t>02</a:t>
            </a:r>
          </a:p>
        </p:txBody>
      </p:sp>
      <p:sp>
        <p:nvSpPr>
          <p:cNvPr id="10" name="proof-text-1"/>
          <p:cNvSpPr txBox="1"/>
          <p:nvPr/>
        </p:nvSpPr>
        <p:spPr>
          <a:xfrm>
            <a:off x="1207008" y="4215384"/>
            <a:ext cx="2907792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7323A"/>
                </a:solidFill>
                <a:latin typeface="Aptos"/>
              </a:rPr>
              <a:t>La pandas UDF applique MobileNetV2 par lots sur les workers.</a:t>
            </a:r>
          </a:p>
        </p:txBody>
      </p:sp>
      <p:sp>
        <p:nvSpPr>
          <p:cNvPr id="11" name="proof-num-2"/>
          <p:cNvSpPr txBox="1"/>
          <p:nvPr/>
        </p:nvSpPr>
        <p:spPr>
          <a:xfrm>
            <a:off x="685800" y="4892040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87938"/>
                </a:solidFill>
                <a:latin typeface="Aptos"/>
              </a:rPr>
              <a:t>03</a:t>
            </a:r>
          </a:p>
        </p:txBody>
      </p:sp>
      <p:sp>
        <p:nvSpPr>
          <p:cNvPr id="12" name="proof-text-2"/>
          <p:cNvSpPr txBox="1"/>
          <p:nvPr/>
        </p:nvSpPr>
        <p:spPr>
          <a:xfrm>
            <a:off x="1207008" y="4873752"/>
            <a:ext cx="2907792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7323A"/>
                </a:solidFill>
                <a:latin typeface="Aptos"/>
              </a:rPr>
              <a:t>PCA Spark ML réduit les features ; Parquet est sauvegardé dans S3.</a:t>
            </a:r>
          </a:p>
        </p:txBody>
      </p:sp>
      <p:sp>
        <p:nvSpPr>
          <p:cNvPr id="13" name="capture-label"/>
          <p:cNvSpPr txBox="1"/>
          <p:nvPr/>
        </p:nvSpPr>
        <p:spPr>
          <a:xfrm>
            <a:off x="4617720" y="1993392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E87938"/>
                </a:solidFill>
                <a:latin typeface="Aptos"/>
              </a:rPr>
              <a:t>CAPTURES À AJOUTER</a:t>
            </a:r>
          </a:p>
        </p:txBody>
      </p:sp>
      <p:sp>
        <p:nvSpPr>
          <p:cNvPr id="14" name="capture-frame"/>
          <p:cNvSpPr/>
          <p:nvPr/>
        </p:nvSpPr>
        <p:spPr>
          <a:xfrm>
            <a:off x="4617720" y="2340864"/>
            <a:ext cx="6885432" cy="3017520"/>
          </a:xfrm>
          <a:prstGeom prst="rect">
            <a:avLst/>
          </a:prstGeom>
          <a:noFill/>
          <a:ln w="15875">
            <a:solidFill>
              <a:srgbClr val="D8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apture-placeholder"/>
          <p:cNvSpPr txBox="1"/>
          <p:nvPr/>
        </p:nvSpPr>
        <p:spPr>
          <a:xfrm>
            <a:off x="5120640" y="3401568"/>
            <a:ext cx="587959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607174"/>
                </a:solidFill>
                <a:latin typeface="Aptos"/>
              </a:rPr>
              <a:t>Insérer ici les captures d’exécution</a:t>
            </a:r>
          </a:p>
        </p:txBody>
      </p:sp>
      <p:sp>
        <p:nvSpPr>
          <p:cNvPr id="16" name="capture-caption"/>
          <p:cNvSpPr txBox="1"/>
          <p:nvPr/>
        </p:nvSpPr>
        <p:spPr>
          <a:xfrm>
            <a:off x="4983480" y="4910328"/>
            <a:ext cx="615391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607174"/>
                </a:solidFill>
                <a:latin typeface="Aptos"/>
              </a:rPr>
              <a:t>Cluster EMR actif · job Spark terminé · objets Parquet disponibles dans S3</a:t>
            </a:r>
          </a:p>
        </p:txBody>
      </p:sp>
      <p:sp>
        <p:nvSpPr>
          <p:cNvPr id="17" name="success-band"/>
          <p:cNvSpPr/>
          <p:nvPr/>
        </p:nvSpPr>
        <p:spPr>
          <a:xfrm>
            <a:off x="685800" y="5943600"/>
            <a:ext cx="10817352" cy="493776"/>
          </a:xfrm>
          <a:prstGeom prst="rect">
            <a:avLst/>
          </a:prstGeom>
          <a:solidFill>
            <a:srgbClr val="D8E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success-text"/>
          <p:cNvSpPr txBox="1"/>
          <p:nvPr/>
        </p:nvSpPr>
        <p:spPr>
          <a:xfrm>
            <a:off x="914400" y="6096749"/>
            <a:ext cx="10360152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fr-FR" sz="1350" b="1" dirty="0">
                <a:solidFill>
                  <a:srgbClr val="0C4A52"/>
                </a:solidFill>
                <a:latin typeface="Aptos"/>
              </a:rPr>
              <a:t>MAIS </a:t>
            </a:r>
            <a:r>
              <a:rPr sz="1350" b="1" dirty="0">
                <a:solidFill>
                  <a:srgbClr val="0C4A52"/>
                </a:solidFill>
                <a:latin typeface="Aptos"/>
              </a:rPr>
              <a:t>— </a:t>
            </a:r>
            <a:r>
              <a:rPr lang="fr-FR" sz="1350" b="1" dirty="0">
                <a:solidFill>
                  <a:srgbClr val="0C4A52"/>
                </a:solidFill>
                <a:latin typeface="Aptos"/>
              </a:rPr>
              <a:t>Problèmes d’environnement d’exécution…</a:t>
            </a:r>
            <a:endParaRPr sz="1350" b="1" dirty="0">
              <a:solidFill>
                <a:srgbClr val="0C4A52"/>
              </a:solidFill>
              <a:latin typeface="Aptos"/>
            </a:endParaRPr>
          </a:p>
        </p:txBody>
      </p:sp>
      <p:sp>
        <p:nvSpPr>
          <p:cNvPr id="19" name="footer-rule"/>
          <p:cNvSpPr/>
          <p:nvPr/>
        </p:nvSpPr>
        <p:spPr>
          <a:xfrm>
            <a:off x="685800" y="6428232"/>
            <a:ext cx="10817352" cy="9144"/>
          </a:xfrm>
          <a:prstGeom prst="rect">
            <a:avLst/>
          </a:prstGeom>
          <a:solidFill>
            <a:srgbClr val="D8E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footer-source"/>
          <p:cNvSpPr txBox="1"/>
          <p:nvPr/>
        </p:nvSpPr>
        <p:spPr>
          <a:xfrm>
            <a:off x="685800" y="6510528"/>
            <a:ext cx="9336024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607174"/>
                </a:solidFill>
                <a:latin typeface="Aptos"/>
              </a:rPr>
              <a:t>Pipeline du projet · exécution AWS EMR et résultats S3</a:t>
            </a:r>
          </a:p>
        </p:txBody>
      </p:sp>
      <p:sp>
        <p:nvSpPr>
          <p:cNvPr id="21" name="page-number"/>
          <p:cNvSpPr txBox="1"/>
          <p:nvPr/>
        </p:nvSpPr>
        <p:spPr>
          <a:xfrm>
            <a:off x="11100816" y="6492240"/>
            <a:ext cx="411480" cy="1920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25" b="1">
                <a:solidFill>
                  <a:srgbClr val="E87938"/>
                </a:solidFill>
                <a:latin typeface="Aptos"/>
              </a:rPr>
              <a:t>14</a:t>
            </a:r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727A3168-AFDF-BCE3-0E2B-A3301A3F24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90" t="13747" r="1805" b="10351"/>
          <a:stretch>
            <a:fillRect/>
          </a:stretch>
        </p:blipFill>
        <p:spPr>
          <a:xfrm>
            <a:off x="4592489" y="434340"/>
            <a:ext cx="6935893" cy="1810512"/>
          </a:xfrm>
          <a:prstGeom prst="rect">
            <a:avLst/>
          </a:prstGeom>
        </p:spPr>
      </p:pic>
      <p:grpSp>
        <p:nvGrpSpPr>
          <p:cNvPr id="24" name="Groupe 23">
            <a:extLst>
              <a:ext uri="{FF2B5EF4-FFF2-40B4-BE49-F238E27FC236}">
                <a16:creationId xmlns:a16="http://schemas.microsoft.com/office/drawing/2014/main" id="{545364D8-AA4A-148A-48DE-1A43B4351918}"/>
              </a:ext>
            </a:extLst>
          </p:cNvPr>
          <p:cNvGrpSpPr/>
          <p:nvPr/>
        </p:nvGrpSpPr>
        <p:grpSpPr>
          <a:xfrm>
            <a:off x="4592489" y="2311189"/>
            <a:ext cx="6349450" cy="3498341"/>
            <a:chOff x="66435" y="1403260"/>
            <a:chExt cx="6892777" cy="3851517"/>
          </a:xfrm>
        </p:grpSpPr>
        <p:pic>
          <p:nvPicPr>
            <p:cNvPr id="25" name="Image 24">
              <a:extLst>
                <a:ext uri="{FF2B5EF4-FFF2-40B4-BE49-F238E27FC236}">
                  <a16:creationId xmlns:a16="http://schemas.microsoft.com/office/drawing/2014/main" id="{3B34D058-78C8-84E4-DD40-92F74CFB22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718" y="1403260"/>
              <a:ext cx="6843494" cy="2157319"/>
            </a:xfrm>
            <a:prstGeom prst="rect">
              <a:avLst/>
            </a:prstGeom>
          </p:spPr>
        </p:pic>
        <p:pic>
          <p:nvPicPr>
            <p:cNvPr id="26" name="Image 25">
              <a:extLst>
                <a:ext uri="{FF2B5EF4-FFF2-40B4-BE49-F238E27FC236}">
                  <a16:creationId xmlns:a16="http://schemas.microsoft.com/office/drawing/2014/main" id="{27011B45-0487-EC6F-CEC3-7CE06AF9FD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435" y="3220345"/>
              <a:ext cx="6892777" cy="20344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953665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e 7">
            <a:extLst>
              <a:ext uri="{FF2B5EF4-FFF2-40B4-BE49-F238E27FC236}">
                <a16:creationId xmlns:a16="http://schemas.microsoft.com/office/drawing/2014/main" id="{4174989B-431C-CA9A-F0DE-B2EB37D1CB8A}"/>
              </a:ext>
            </a:extLst>
          </p:cNvPr>
          <p:cNvGrpSpPr/>
          <p:nvPr/>
        </p:nvGrpSpPr>
        <p:grpSpPr>
          <a:xfrm>
            <a:off x="5828852" y="1817281"/>
            <a:ext cx="6349450" cy="3498341"/>
            <a:chOff x="66435" y="1403260"/>
            <a:chExt cx="6892777" cy="3851517"/>
          </a:xfrm>
        </p:grpSpPr>
        <p:pic>
          <p:nvPicPr>
            <p:cNvPr id="7" name="Image 6">
              <a:extLst>
                <a:ext uri="{FF2B5EF4-FFF2-40B4-BE49-F238E27FC236}">
                  <a16:creationId xmlns:a16="http://schemas.microsoft.com/office/drawing/2014/main" id="{318F8C24-5DF9-6172-096F-8B99A3DBBF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718" y="1403260"/>
              <a:ext cx="6843494" cy="2157319"/>
            </a:xfrm>
            <a:prstGeom prst="rect">
              <a:avLst/>
            </a:prstGeom>
          </p:spPr>
        </p:pic>
        <p:pic>
          <p:nvPicPr>
            <p:cNvPr id="5" name="Image 4">
              <a:extLst>
                <a:ext uri="{FF2B5EF4-FFF2-40B4-BE49-F238E27FC236}">
                  <a16:creationId xmlns:a16="http://schemas.microsoft.com/office/drawing/2014/main" id="{8F759CC3-38AF-37D7-5348-95EE2C74AB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435" y="3220345"/>
              <a:ext cx="6892777" cy="2034432"/>
            </a:xfrm>
            <a:prstGeom prst="rect">
              <a:avLst/>
            </a:prstGeom>
          </p:spPr>
        </p:pic>
      </p:grpSp>
      <p:pic>
        <p:nvPicPr>
          <p:cNvPr id="10" name="Image 9">
            <a:extLst>
              <a:ext uri="{FF2B5EF4-FFF2-40B4-BE49-F238E27FC236}">
                <a16:creationId xmlns:a16="http://schemas.microsoft.com/office/drawing/2014/main" id="{375E2A0B-986F-6ADD-F187-52E624C48B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32" t="9328" r="33836"/>
          <a:stretch>
            <a:fillRect/>
          </a:stretch>
        </p:blipFill>
        <p:spPr>
          <a:xfrm>
            <a:off x="0" y="0"/>
            <a:ext cx="3161027" cy="3419080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A361A525-C32B-87FD-DC6F-A75F907192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66" t="9068" r="34237" b="-1301"/>
          <a:stretch>
            <a:fillRect/>
          </a:stretch>
        </p:blipFill>
        <p:spPr>
          <a:xfrm>
            <a:off x="0" y="3404717"/>
            <a:ext cx="3161027" cy="3498341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7BAF44FA-E681-C747-38E2-362C85DEBA2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5" t="7530" r="51732" b="61053"/>
          <a:stretch>
            <a:fillRect/>
          </a:stretch>
        </p:blipFill>
        <p:spPr>
          <a:xfrm>
            <a:off x="3161027" y="4668247"/>
            <a:ext cx="2655147" cy="129085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0D1C7191-57BD-D51D-493A-6F97662395C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6" r="5948"/>
          <a:stretch>
            <a:fillRect/>
          </a:stretch>
        </p:blipFill>
        <p:spPr>
          <a:xfrm>
            <a:off x="3161028" y="1544325"/>
            <a:ext cx="2568040" cy="1159269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6BFD1CCE-8E3B-498A-92E1-9F3124FAD6E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28" t="26460" b="27721"/>
          <a:stretch>
            <a:fillRect/>
          </a:stretch>
        </p:blipFill>
        <p:spPr>
          <a:xfrm>
            <a:off x="3075093" y="278437"/>
            <a:ext cx="4055533" cy="84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5827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D7007D6-8484-ECCC-72B9-B2FF1E426F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66" t="9068" r="34237" b="-1301"/>
          <a:stretch>
            <a:fillRect/>
          </a:stretch>
        </p:blipFill>
        <p:spPr>
          <a:xfrm>
            <a:off x="0" y="2058559"/>
            <a:ext cx="3161027" cy="3498341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B5E69063-7B17-A934-7629-35E1654A64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60" t="15463"/>
          <a:stretch>
            <a:fillRect/>
          </a:stretch>
        </p:blipFill>
        <p:spPr>
          <a:xfrm>
            <a:off x="4076409" y="2148840"/>
            <a:ext cx="8115591" cy="2320901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72EF180A-9A74-E3D5-3434-B12C77BF20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7393" y="1157676"/>
            <a:ext cx="9401175" cy="75282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EA64ECFD-6E72-2247-D355-B6BE4EF513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7393" y="203723"/>
            <a:ext cx="9401175" cy="752828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B51E608A-F093-62AF-A704-A0579CB2FA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884"/>
          <a:stretch>
            <a:fillRect/>
          </a:stretch>
        </p:blipFill>
        <p:spPr>
          <a:xfrm>
            <a:off x="4716500" y="4332294"/>
            <a:ext cx="5967904" cy="244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7998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85800" y="420624"/>
            <a:ext cx="4764024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E87938"/>
                </a:solidFill>
                <a:latin typeface="Aptos"/>
              </a:rPr>
              <a:t>AXE 3 · </a:t>
            </a:r>
            <a:r>
              <a:rPr lang="fr-FR" sz="1050" b="1">
                <a:solidFill>
                  <a:srgbClr val="E87938"/>
                </a:solidFill>
                <a:latin typeface="Aptos"/>
              </a:rPr>
              <a:t>CHOIX D’INFRASTRUCTURE</a:t>
            </a:r>
            <a:endParaRPr sz="1050" b="1">
              <a:solidFill>
                <a:srgbClr val="E87938"/>
              </a:solidFill>
              <a:latin typeface="Aptos"/>
            </a:endParaRPr>
          </a:p>
        </p:txBody>
      </p:sp>
      <p:sp>
        <p:nvSpPr>
          <p:cNvPr id="3" name="headline"/>
          <p:cNvSpPr txBox="1"/>
          <p:nvPr/>
        </p:nvSpPr>
        <p:spPr>
          <a:xfrm>
            <a:off x="685800" y="777240"/>
            <a:ext cx="10817352" cy="8778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fr-FR" sz="2700" b="1">
                <a:solidFill>
                  <a:srgbClr val="0C4A52"/>
                </a:solidFill>
                <a:latin typeface="Aptos Display"/>
              </a:rPr>
              <a:t>Trois choix simples pour maîtriser les coûts</a:t>
            </a:r>
            <a:endParaRPr sz="2700" b="1">
              <a:solidFill>
                <a:srgbClr val="0C4A52"/>
              </a:solidFill>
              <a:latin typeface="Aptos Display"/>
            </a:endParaRPr>
          </a:p>
        </p:txBody>
      </p:sp>
      <p:sp>
        <p:nvSpPr>
          <p:cNvPr id="4" name="headline-rule"/>
          <p:cNvSpPr/>
          <p:nvPr/>
        </p:nvSpPr>
        <p:spPr>
          <a:xfrm>
            <a:off x="685800" y="1719072"/>
            <a:ext cx="841248" cy="36576"/>
          </a:xfrm>
          <a:prstGeom prst="rect">
            <a:avLst/>
          </a:prstGeom>
          <a:solidFill>
            <a:srgbClr val="E879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num-1"/>
          <p:cNvSpPr txBox="1"/>
          <p:nvPr/>
        </p:nvSpPr>
        <p:spPr>
          <a:xfrm>
            <a:off x="685800" y="2148840"/>
            <a:ext cx="6858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fr-FR" sz="3000" b="1">
                <a:solidFill>
                  <a:srgbClr val="E87938"/>
                </a:solidFill>
                <a:latin typeface="Aptos Display"/>
              </a:rPr>
              <a:t>01</a:t>
            </a:r>
          </a:p>
        </p:txBody>
      </p:sp>
      <p:sp>
        <p:nvSpPr>
          <p:cNvPr id="6" name="label-1"/>
          <p:cNvSpPr txBox="1"/>
          <p:nvPr/>
        </p:nvSpPr>
        <p:spPr>
          <a:xfrm>
            <a:off x="1490472" y="2194560"/>
            <a:ext cx="20574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fr-FR" sz="1100" b="1">
                <a:solidFill>
                  <a:srgbClr val="0C4A52"/>
                </a:solidFill>
                <a:latin typeface="Aptos"/>
              </a:rPr>
              <a:t>LOCALISATION</a:t>
            </a:r>
          </a:p>
        </p:txBody>
      </p:sp>
      <p:sp>
        <p:nvSpPr>
          <p:cNvPr id="7" name="title-1"/>
          <p:cNvSpPr txBox="1"/>
          <p:nvPr/>
        </p:nvSpPr>
        <p:spPr>
          <a:xfrm>
            <a:off x="685800" y="2907792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fr-FR" sz="2000" b="1" dirty="0">
                <a:solidFill>
                  <a:srgbClr val="0C4A52"/>
                </a:solidFill>
                <a:latin typeface="Aptos Display"/>
              </a:rPr>
              <a:t>Région européenne</a:t>
            </a:r>
          </a:p>
        </p:txBody>
      </p:sp>
      <p:sp>
        <p:nvSpPr>
          <p:cNvPr id="8" name="rule-1"/>
          <p:cNvSpPr>
            <a:spLocks/>
          </p:cNvSpPr>
          <p:nvPr/>
        </p:nvSpPr>
        <p:spPr>
          <a:xfrm>
            <a:off x="685800" y="3529584"/>
            <a:ext cx="685800" cy="36576"/>
          </a:xfrm>
          <a:prstGeom prst="rect">
            <a:avLst/>
          </a:prstGeom>
          <a:solidFill>
            <a:srgbClr val="E879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body-1"/>
          <p:cNvSpPr txBox="1">
            <a:spLocks/>
          </p:cNvSpPr>
          <p:nvPr/>
        </p:nvSpPr>
        <p:spPr>
          <a:xfrm>
            <a:off x="685800" y="3840480"/>
            <a:ext cx="288036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fr-FR" sz="1450" b="0" dirty="0">
                <a:solidFill>
                  <a:srgbClr val="17323A"/>
                </a:solidFill>
                <a:latin typeface="Aptos"/>
              </a:rPr>
              <a:t>Prix varie selon l’emplacement des machines.</a:t>
            </a:r>
          </a:p>
        </p:txBody>
      </p:sp>
      <p:sp>
        <p:nvSpPr>
          <p:cNvPr id="11" name="num-2"/>
          <p:cNvSpPr txBox="1"/>
          <p:nvPr/>
        </p:nvSpPr>
        <p:spPr>
          <a:xfrm>
            <a:off x="4160520" y="2148840"/>
            <a:ext cx="6858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fr-FR" sz="3000" b="1">
                <a:solidFill>
                  <a:srgbClr val="E87938"/>
                </a:solidFill>
                <a:latin typeface="Aptos Display"/>
              </a:rPr>
              <a:t>02</a:t>
            </a:r>
          </a:p>
        </p:txBody>
      </p:sp>
      <p:sp>
        <p:nvSpPr>
          <p:cNvPr id="12" name="label-2"/>
          <p:cNvSpPr txBox="1"/>
          <p:nvPr/>
        </p:nvSpPr>
        <p:spPr>
          <a:xfrm>
            <a:off x="4965192" y="2194560"/>
            <a:ext cx="20574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fr-FR" sz="1100" b="1">
                <a:solidFill>
                  <a:srgbClr val="0C4A52"/>
                </a:solidFill>
                <a:latin typeface="Aptos"/>
              </a:rPr>
              <a:t>STOCKAGE</a:t>
            </a:r>
          </a:p>
        </p:txBody>
      </p:sp>
      <p:sp>
        <p:nvSpPr>
          <p:cNvPr id="13" name="title-2"/>
          <p:cNvSpPr txBox="1"/>
          <p:nvPr/>
        </p:nvSpPr>
        <p:spPr>
          <a:xfrm>
            <a:off x="4160520" y="2907792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fr-FR" sz="2000" b="1">
                <a:solidFill>
                  <a:srgbClr val="0C4A52"/>
                </a:solidFill>
                <a:latin typeface="Aptos Display"/>
              </a:rPr>
              <a:t>S3 ou S3 Glacier</a:t>
            </a:r>
          </a:p>
        </p:txBody>
      </p:sp>
      <p:sp>
        <p:nvSpPr>
          <p:cNvPr id="14" name="rule-2"/>
          <p:cNvSpPr>
            <a:spLocks/>
          </p:cNvSpPr>
          <p:nvPr/>
        </p:nvSpPr>
        <p:spPr>
          <a:xfrm>
            <a:off x="4160520" y="3529584"/>
            <a:ext cx="685800" cy="36576"/>
          </a:xfrm>
          <a:prstGeom prst="rect">
            <a:avLst/>
          </a:prstGeom>
          <a:solidFill>
            <a:srgbClr val="E879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body-2"/>
          <p:cNvSpPr txBox="1"/>
          <p:nvPr/>
        </p:nvSpPr>
        <p:spPr>
          <a:xfrm>
            <a:off x="4160520" y="3840480"/>
            <a:ext cx="288036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fr-FR" sz="1450" b="0">
                <a:solidFill>
                  <a:srgbClr val="17323A"/>
                </a:solidFill>
                <a:latin typeface="Aptos"/>
              </a:rPr>
              <a:t>S3 pour les données actives et les résultats. Glacier pour l’archivage rarement consulté.</a:t>
            </a:r>
          </a:p>
        </p:txBody>
      </p:sp>
      <p:sp>
        <p:nvSpPr>
          <p:cNvPr id="17" name="num-3"/>
          <p:cNvSpPr txBox="1"/>
          <p:nvPr/>
        </p:nvSpPr>
        <p:spPr>
          <a:xfrm>
            <a:off x="7635240" y="2148840"/>
            <a:ext cx="6858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fr-FR" sz="3000" b="1">
                <a:solidFill>
                  <a:srgbClr val="E87938"/>
                </a:solidFill>
                <a:latin typeface="Aptos Display"/>
              </a:rPr>
              <a:t>03</a:t>
            </a:r>
          </a:p>
        </p:txBody>
      </p:sp>
      <p:sp>
        <p:nvSpPr>
          <p:cNvPr id="18" name="label-3"/>
          <p:cNvSpPr txBox="1"/>
          <p:nvPr/>
        </p:nvSpPr>
        <p:spPr>
          <a:xfrm>
            <a:off x="8439912" y="2194560"/>
            <a:ext cx="20574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fr-FR" sz="1100" b="1">
                <a:solidFill>
                  <a:srgbClr val="0C4A52"/>
                </a:solidFill>
                <a:latin typeface="Aptos"/>
              </a:rPr>
              <a:t>MACHINES</a:t>
            </a:r>
          </a:p>
        </p:txBody>
      </p:sp>
      <p:sp>
        <p:nvSpPr>
          <p:cNvPr id="19" name="title-3"/>
          <p:cNvSpPr txBox="1"/>
          <p:nvPr/>
        </p:nvSpPr>
        <p:spPr>
          <a:xfrm>
            <a:off x="7635240" y="2907792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fr-FR" sz="2000" b="1">
                <a:solidFill>
                  <a:srgbClr val="0C4A52"/>
                </a:solidFill>
                <a:latin typeface="Aptos Display"/>
              </a:rPr>
              <a:t>Adapter les instances</a:t>
            </a:r>
          </a:p>
        </p:txBody>
      </p:sp>
      <p:sp>
        <p:nvSpPr>
          <p:cNvPr id="20" name="rule-3"/>
          <p:cNvSpPr>
            <a:spLocks/>
          </p:cNvSpPr>
          <p:nvPr/>
        </p:nvSpPr>
        <p:spPr>
          <a:xfrm>
            <a:off x="7635240" y="3529584"/>
            <a:ext cx="685800" cy="36576"/>
          </a:xfrm>
          <a:prstGeom prst="rect">
            <a:avLst/>
          </a:prstGeom>
          <a:solidFill>
            <a:srgbClr val="E879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body-3"/>
          <p:cNvSpPr txBox="1"/>
          <p:nvPr/>
        </p:nvSpPr>
        <p:spPr>
          <a:xfrm>
            <a:off x="7635239" y="3840480"/>
            <a:ext cx="3296617" cy="1003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fr-FR" sz="1450" b="0" dirty="0">
                <a:solidFill>
                  <a:srgbClr val="17323A"/>
                </a:solidFill>
                <a:latin typeface="Aptos"/>
              </a:rPr>
              <a:t>Commencer avec des machines polyvalentes, puis augmenter/diminuer les ressources mémoire et/ou calcul selon les métriques Spark.</a:t>
            </a:r>
          </a:p>
        </p:txBody>
      </p:sp>
      <p:sp>
        <p:nvSpPr>
          <p:cNvPr id="23" name="divider-1"/>
          <p:cNvSpPr>
            <a:spLocks/>
          </p:cNvSpPr>
          <p:nvPr/>
        </p:nvSpPr>
        <p:spPr>
          <a:xfrm>
            <a:off x="3822191" y="2121408"/>
            <a:ext cx="18288" cy="3337560"/>
          </a:xfrm>
          <a:prstGeom prst="rect">
            <a:avLst/>
          </a:prstGeom>
          <a:solidFill>
            <a:srgbClr val="D8E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divider-2"/>
          <p:cNvSpPr>
            <a:spLocks/>
          </p:cNvSpPr>
          <p:nvPr/>
        </p:nvSpPr>
        <p:spPr>
          <a:xfrm>
            <a:off x="7296912" y="2121408"/>
            <a:ext cx="18288" cy="3337560"/>
          </a:xfrm>
          <a:prstGeom prst="rect">
            <a:avLst/>
          </a:prstGeom>
          <a:solidFill>
            <a:srgbClr val="D8E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7" name="footer-rule"/>
          <p:cNvSpPr>
            <a:spLocks/>
          </p:cNvSpPr>
          <p:nvPr/>
        </p:nvSpPr>
        <p:spPr>
          <a:xfrm>
            <a:off x="685800" y="6428232"/>
            <a:ext cx="10817352" cy="9144"/>
          </a:xfrm>
          <a:prstGeom prst="rect">
            <a:avLst/>
          </a:prstGeom>
          <a:solidFill>
            <a:srgbClr val="D8E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footer-source"/>
          <p:cNvSpPr txBox="1">
            <a:spLocks/>
          </p:cNvSpPr>
          <p:nvPr/>
        </p:nvSpPr>
        <p:spPr>
          <a:xfrm>
            <a:off x="685800" y="6510528"/>
            <a:ext cx="9336024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fr-FR" sz="750" b="0">
                <a:solidFill>
                  <a:srgbClr val="607174"/>
                </a:solidFill>
                <a:latin typeface="Aptos"/>
              </a:rPr>
              <a:t>Sources : AWS · Régions, classes de stockage S3 et instances EMR</a:t>
            </a:r>
          </a:p>
        </p:txBody>
      </p:sp>
      <p:sp>
        <p:nvSpPr>
          <p:cNvPr id="29" name="page-number"/>
          <p:cNvSpPr txBox="1"/>
          <p:nvPr/>
        </p:nvSpPr>
        <p:spPr>
          <a:xfrm>
            <a:off x="11100816" y="6492240"/>
            <a:ext cx="411480" cy="1920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lang="fr-FR" sz="825" b="1">
                <a:solidFill>
                  <a:srgbClr val="E87938"/>
                </a:solidFill>
                <a:latin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569314514"/>
      </p:ext>
    </p:extLst>
  </p:cSld>
  <p:clrMapOvr>
    <a:masterClrMapping/>
  </p:clrMapOvr>
</p:sld>
</file>

<file path=ppt/theme/theme1.xml><?xml version="1.0" encoding="utf-8"?>
<a:theme xmlns:a="http://schemas.openxmlformats.org/drawingml/2006/main" name="Editorial Cloud">
  <a:themeElements>
    <a:clrScheme name="Editorial Cloud">
      <a:dk1>
        <a:srgbClr val="000000"/>
      </a:dk1>
      <a:lt1>
        <a:srgbClr val="FFFFFF"/>
      </a:lt1>
      <a:dk2>
        <a:srgbClr val="17323A"/>
      </a:dk2>
      <a:lt2>
        <a:srgbClr val="D8E7E5"/>
      </a:lt2>
      <a:accent1>
        <a:srgbClr val="0C4A52"/>
      </a:accent1>
      <a:accent2>
        <a:srgbClr val="E87938"/>
      </a:accent2>
      <a:accent3>
        <a:srgbClr val="2B7A78"/>
      </a:accent3>
      <a:accent4>
        <a:srgbClr val="A85D3A"/>
      </a:accent4>
      <a:accent5>
        <a:srgbClr val="567C82"/>
      </a:accent5>
      <a:accent6>
        <a:srgbClr val="B28A68"/>
      </a:accent6>
      <a:hlink>
        <a:srgbClr val="0C4A52"/>
      </a:hlink>
      <a:folHlink>
        <a:srgbClr val="2B7A7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Editorial Cloud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1136</Words>
  <Application>Microsoft Office PowerPoint</Application>
  <PresentationFormat>Grand écran</PresentationFormat>
  <Paragraphs>221</Paragraphs>
  <Slides>18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1" baseType="lpstr">
      <vt:lpstr>Aptos</vt:lpstr>
      <vt:lpstr>Aptos Display</vt:lpstr>
      <vt:lpstr>Editorial Cloud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BRIGHT Rémy</dc:creator>
  <cp:lastModifiedBy>BRIGHT Rémy</cp:lastModifiedBy>
  <cp:revision>4</cp:revision>
  <dcterms:created xsi:type="dcterms:W3CDTF">2026-09-07T12:21:01Z</dcterms:created>
  <dcterms:modified xsi:type="dcterms:W3CDTF">2026-09-10T14:58:07Z</dcterms:modified>
</cp:coreProperties>
</file>